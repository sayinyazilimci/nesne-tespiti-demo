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sn) Merhaba, ben İbrahim Enes. Bugün bir yapay zekâ modelinin bir fotoğrafta nesneleri nasıl bulduğunu anlatacağım: önce bilgisayarın bir görüntüyü nasıl gördüğünü, sonra nesne tespitinin nasıl geliştiğini ve YOLO'yu. En sonda TEKNOFEST'te yaptıklarımızdan bahsedip canlı bir demo yapacağız; aklınızda bir nesne tutun.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sn) Salona sor ve gerçekten on saniye bekle. Cevapları topla: çoğu dört, beş ya da altı der. Cevabı söyleme, bir sonraki slayta geç. Kendin için: 6 insan var. Biri orta yuvarlakta (sarı yelek), biri onun solunda, biri sağda ceza sahası çizgisinde (siyah), üçü en solda alt alta. Sağ alttaki sarı lekeler yerdeki yelekler, kalenin yanındaki kırmızı yığın da insan değil; etikette sayılmıyorlar.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sn) Önce iki kavramı ayıralım. Görüntü işleme görüntüyü değiştirir: parlaklığı açmak, bulanıklaştırmak, keskinleştirmek ya da ortadaki gibi kenarları bulmak. Girdi de çıktı da yine bir görüntü. Bilgisayarlı görü ise görüntüden anlam çıkarır: içinde ne var, nerede, kaç tane. Girdi görüntü, çıktı bilgi. Telefonunuzdaki filtreler görüntü işleme; yüz kilidi, plaka okuma ve sürücüsüz araçlar bilgisayarlı görü. Bugünkü konumuz bilgisayarlı görünün en çok kullanılan görevi: nesne tespiti.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sn) Cevap 6. Kaçırdıysanız normal: 4K bir karede her insan 80 ile 120 piksel arası, yani görüntünün binde birinden bile az. Bizim için bu bir fotoğraf; bilgisayar için ise dev bir sayı tablosu. Soldaki kareler orta yuvarlaktaki oyuncunun başı ve omzu; her kutudaki sayı o pikselin parlaklığı. Koyu saç 40 civarı, sarı yelek 240'a yakın. Bu karede 8,3 milyon piksel var; her piksel üç sayı olduğu için 25 milyon sayı. Drone saniyede 7,5 kare gönderdiğine göre model saniyede 187 milyon sayıyla uğraşıyor. Bugünün sorusu şu: bir model bu sayılara bakıp "burada insan var" demeyi nasıl öğreniyor?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sn) Renkli bir görüntüde her piksel aslında üç sayı: kırmızı, yeşil ve mavi ışığın miktarı. Soldaki üç kare aynı görüntünün üç kanalı; mavi kanalda basketbol sahası en parlak, çünkü saha mavi. Bizim turuncumuz mesela (255, 176, 32). Peki model bu sayılara nasıl bakıyor? Katman katman. Sağdakiler, demoda kullanacağım modelin içinden aldığım gerçek görüntüler: ilk katmanlar parlaklık ve kenar gibi basit şeylere tepki veriyor, sonrakiler doku ve çizgilere. Daha derin katmanlar bunları birleştirip "burada insan var" diyebilecek hale geliyor. Bunu YOLO kısmında göreceğiz.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dk) Görüntüyle ilgili üç temel görev var, hepsini aynı biçerdöverle göstereyim. Sınıflandırma sadece "resimde ne var" sorusunu cevaplar. Tespit "nerede" sorusunu da cevaplar: bir kutu çizer. Segmentasyon bir adım daha ileri gider ve hangi piksellerin nesneye ait olduğunu söyler. Sağdaki maske bizim yarışmada, Görev 3'te SAM modeliyle çıkardığımız gerçek bir maske. Bugün ortadakine, nesne tespitine odaklanıyoruz.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dk 10 sn) Nesne tespiti yeni bir şey değil. 2001'de Viola ve Jones yüz tespitini o kadar hızlandırdı ki fotoğraf makinelerine girdi; ama neye bakılacağını insanlar elle tasarlıyordu. 2005'te HOG ile yaya tespiti geldi, yine elle tasarlanmış. 2012'de AlexNet ile derin öğrenme ImageNet yarışmasını kazandı ve her şey değişti: artık özellikleri model kendisi öğreniyordu. 2014'te R-CNN derin öğrenmeyi tespite taşıdı ama yaklaşık 2.000 aday bölgeyi tek tek incelediği için yavaştı. Faster R-CNN aday bölgeleri de ağa ürettirdi, saniyede 5 kareye çıktı. Sonra YOLO geldi: bölgeleri tek tek değil, bütün görüntüyü bir kerede inceledi ve saniyede 45 kare işledi. 2020'de dil modellerindeki transformer mimarisi tespite girdi. Son birkaç yılda ise modele ne arayacağını yazıyla söyleyebiliyoruz: buna açık sözlüklü tespit deniyor.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 sn) Bugün bu alana girmek için büyük bir bütçe gerekmiyor. Hazır modeller için Ultralytics ve Hugging Face var. Görüntü işleme için neredeyse her projede OpenCV kullanılıyor. Kutuları çizmek için CVAT ya da Roboflow, hazır veri için COCO, drone görüntüleri için VisDrone, termal için HIT-UAV. Bilgisayarınız yetmezse Colab ya da Kaggle'ın ücretsiz GPU'su. Küçük nesneler için de SAHI; birazdan anlatacağım. Bunların çoğunu VEGA'da biz de kullandık. Vakit darsa bu slaytı hızlı geç.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dk) YOLO, "You Only Look Once", yani "sadece bir kez bak". Görüntüyü ızgaralara bölüyor. Bugünkü YOLO'larda 640 piksellik girişte üç ızgara var: küçük nesneler için ince, büyükler için kaba. Her hücre şunu soruyor: "merkezi bende olan bir nesne var mı? Varsa kutusu ne, sınıfı ne, ne kadar eminim?" Soldaki görselde turuncu hücre o insandan sorumlu hücre. Toplam 8.400 hücre var ve hepsi aynı anda, ağdan tek geçişte cevap veriyor. Sağdaki ısı haritası modelin gerçek çıktısı: her hücrenin "burada insan var" puanı. İnsanın olduğu yer sarı yanıyor, beyaz bir nesne pembe yani zayıf aday, gerisi karanlık. En sonda NMS tekrar eden kutuları temizliyor.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sn) YOLO neden bu kadar yaygın? Birincisi tek bakış: eski yöntemler aday bölgeleri tek tek incelerken YOLO bütün görüntüye bir kez bakıyor. İkincisi hız: ilk YOLO saniyede 45 kare işledi; birazdan göreceğiniz demo da bu dizüstünün ekran kartında gerçek zamanlı çalışıyor. Üçüncüsü kolaylık: Ultralytics kütüphanesiyle üç satır kod yetiyor, kendi verinizle eğitmek de tek komut. Dördüncüsü boy seçenekleri: n en küçük ve en hızlı, x en büyük ve en doğru; telefona da sunucuya da uygun bir boy var.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sn) Model aynı araç için 10 aday kutu üretti; çoğu neredeyse üst üste. Hepsini gösterirsek bir araç on araç gibi sayılır. NMS'in yaptığı basit: en emin kutuyu tut, onunla çok örtüşen diğerlerini sil. Bizim sistemde dilimlerden gelen kutuları birleştirirken de aynı yöntemi kullandık. Demoda NMS'i kapatıp açacağım, kutuların nasıl çoğaldığını canlı göreceksiniz.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dk) Bir modelin ne kadar iyi olduğunu nasıl söyleriz? En çok kullanılan puan AP50. Örnek: karede 4 gerçek insan var, model 6 tahmin yapmış. Önce tahminleri güvene göre sıralıyoruz. Bir tahmin, gerçek bir insanla yüzde 50'den fazla örtüşüyorsa doğru sayılıyor; AP50'deki 50 buradan geliyor. Örtüşmeyi IoU ile ölçüyoruz: iki kutunun kesişimi bölü birleşimi. Her adımda iki şey hesaplıyoruz: kesinlik, yani tahminlerimin ne kadarı doğru; duyarlılık, yani gerçek insanların ne kadarını buldum. Bu noktaları çizince sağdaki eğri çıkıyor. Eğrinin altındaki alan AP: bu örnekte yaklaşık 0,85, yani yüzde 85. Sınıfların ortalamasına da mAP50 diyoruz. Birazdan VEGA'da bu sayıyı nasıl artırdığımızı anlatacağım. (Hesap, kendin için: 0,5 × 1 + 0,25 × 0,75 + 0,25 × 0,67 ≈ 0,85.)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sn) Model nasıl öğreniyor? Ona etiketli örnek veriyoruz: görüntü ve insanların elle çizdiği kutular. Model tahmin ediyor, tahminle etiket arasındaki fark ölçülüyor, ağırlıklar hatayı azaltacak yönde biraz değişiyor. Bu binlerce kez tekrarlanıyor. Sıfırdan eğitmek çok veri ister; o yüzden genelde hazır bir modelden başlıyoruz. COCO gibi büyük bir veri setinde eğitilmiş bir model zaten kenarı, şekli, insanı tanıyor (Grounding DINO ve YOLO-World gibi açık sözlüklü modeller bundan da büyük, karışık veriyle eğitildi); biz ona kendi işimizi birkaç bin görüntüyle öğretiyoruz. Buna ince ayar diyoruz. Bisiklet süren biri motosiklete daha çabuk alışır.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sn) Az önce anlattığım ince ayarın gerçek bir örneği, bu sefer yerden bakan bir kamerayla. SKY LAB AirLab ekibimizin projesi DefBoss: güvenlik kamerasında silahı, bıçağı ve kavgayı gerçek zamanlı yakalıyor. Hazır bir YOLOv8'den başlayıp Kaggle ve Roboflow'daki etiketli verilerle ince ayar yaptılar; 100 epoch, yaklaşık 4 saat sürdü. Birinci epoch'un sonunda mAP50 0,49'du, eğitimin sonunda 0,88. (Dikkat: 0,49 hazır modelin değil, eğitimin ilk turunun sonucu.) Bence en akıllıca fikir tuzak sınıflar: telefon uzaktan silaha, kumanda bıçağa benziyor. Modele bunları da ayrı sınıf olarak öğretmişler; görünce alarm vermiyor. Bu, AP50 slaytındaki kesinliği artırıyor, yani yanlış alarm azalıyor. Soldaki tabloda beş sınıf var: üçü tehdit, ikisi tuzak; her birinden 5 ile 10 bin arası etiketli veri. Bir tehdit bulunduğunda güven yaklaşık 0,6'yı geçerse ekranın üstünde kırmızı uyarı paneli çıkıyor ve 2 saniye kalıyor. Model Kaggle'da herkese açık. Şimdi tekrar gökyüzüne, kendi yarışmamıza dönelim.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dk) Şimdi gökyüzüne dönelim. Ben bu alanda TEKNOFEST'te VEGA takımıyla yarıştım; Havacılıkta Yapay Zekâ yarışmasıydı. Görev: drone görüntüsünde insanları, araçları ve iniş alanlarını bulmak, hem renkli hem termal kamerayla. Termal kamera en zor kısımdı. Bakın: soldaki termal karede elle işaretlenmiş 13 insan var. Birazdan demoda kullanacağım hazır model aynı karede tek bir insan bile bulamıyor, çünkü hazır modeller çoğunlukla renkli fotoğraflarla eğitiliyor; termalde renk yok, insan sadece sıcak bir leke. Biz Grounding DINO modelini HIT-UAV ve TEKNOFEST verisinden 9 bin termal görüntüyle ince ayardan geçirdik. Termalde AP50 yüzde 15'ten 50'ye çıktı. Renkli kamerada ise modeli hiç eğitmedik: aynı modelle kareyi nasıl böldüğümüzü ve kutuları nasıl birleştirdiğimizi iyileştirdik, AP50 75,3'ten 79,9'a çıktı. Yani bazen modele dokunmadan da kazanç var. (Termaldeki %50, insan ve aracın ortalaması.)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dk) İlk sorudaki oyuncular 4K karede bile küçüktü; model için durum daha da zor. Her görüntüyü 640 piksele küçültüyor; 4K karede 60 piksellik bir insan 10 piksele iniyor. Çözüm SAHI: kareyi üst üste binen küçük dilimlere bölüp her birine tam çözünürlükte bakmak, sonra kutuları NMS ile birleştirmek. Bu yöntemi 2022'de Türk araştırmacılar yayımladı. Sağdaki görüntü demonun kendi ekranı: basketbol sahasında tam kare taraması 3 insan buluyor, SAHI 21. Ama süre kat kat artıyor. Bizim yarışma sisteminde 4K karede 32 dilim kullandık: AP50 yüzde 67,4'ten 72,3'e çıktı, aynı ekran kartında kare başına süre 0,54 saniyeden 6,89 saniyeye çıktı. Sonra sayıları daha az hassas tutup kareleri dörderli paketleyerek 4,16 saniyeye indirdik. Demoda bunu canlı göstereceğim.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sn) Klasik bir dedektör eğitildiği sınıf listesiyle sınırlı: COCO ile eğitilmiş bir YOLO 80 sınıf tanır, biçerdöveri tanımaz. Açık sözlüklü modeller ise metni de okuyor; ne arayacağını yazıyla söylüyorsun. Biz Grounding DINO'ya "person . vehicle ." yazdık. Canlı demoda aynı fikri YOLO-World ile göreceğiz, çünkü Grounding DINO dizüstü bilgisayarda canlı görüntü için fazla yavaş.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dk) Demo programı önceden açık olsun, Alt+Tab ile geç. 1) Kamera: varsayılan arama "insan, telefon, şişe, bardak". Salondan 3-4 nesne iste, kutuya yaz, Enter. Bulamadığı bir şey çıkarsa iyi: neden bulamadığını konuş. 2) Birinin telefonunu kameraya tutturup F2 ile dondur. Yukarı/aşağı okla güven eşiğini değiştir; F4 ile eşiğin altında kalan adayları göster; F3 ile NMS'i kapat, kutuların ve sağ üstteki sayının şiştiğini göster. F2 ile devam. 3) F5 drone modu, basketbol karesi: Enter ile tam kare (3 insan), Enter ile SAHI dilim dilim (21 insan), Enter ile karşılaştırma. 4) V ile drone videosu: ilk sorudaki halı sahanın üstünden geçen kayıt, "baştaki soruyu hatırlayın" de. SAHI açıkken oyuncuların çoğu bulunuyor; S ile SAHI'yi kapat, sağ üstteki sayının neredeyse yarıya düştüğünü ve kutusuz kalan oyuncuları göster, tekrar S. İlk turda kareler canlı hesaplanıyor (saniyede ~2,5 kare), ikinci turdan sonra akıcı oynuyor. 5) İstersen ← → ile termal kareye geç: hazır model orada 0 insan buluyor; TEKNOFEST slaytındaki ince ayar hikâyesine bağla. Plan B: kamera açılmazsa doğrudan F5 ile drone moduna geç; o kısım kamerasız çalışır.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dk) Yarışmadan üç ders. Birincisi: veri modelden önce gelir. En büyük sıçramayı model değiştirerek değil, doğru veriyle ince ayar yaparak aldık. İkincisi: doğruluğun bir bedeli var. Dilimleme küçük insanları buldu ama her kare kat kat daha uzun sürdü; yarışmada süre sınırı varsa bu ciddi bir karar. Üçüncüsü en önemlisi: doğrulamada iyi görünmek yetmez. Bir modelimiz doğrulama setinde iyileşti, eğitimde hiç görmediği başka bir uçuşta ise geriledi; buna aşırı öğrenme (overfitting) diyoruz. Model gördüğü veriye fazla alışmıştı. Biz de eski modeli tuttuk.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sn) Başlamak için büyük bir sisteme gerek yok. Bu hafta Colab'da hazır bir YOLO'yu kendi fotoğrafında çalıştırabilirsiniz. Sonra Roboflow Universe'ten hazır bir veri setiyle ince ayar yapın. En öğretici adım ise kendi verinizi etiketlemek: küçük bir set bile çok şey öğretir. Demonun kodu GitHub'ımda; sağ alttaki QR'ı telefonla okutabilirsiniz. Teşekkürler. Sonra son slayta (AirLab'e katıl) geç ve soru-cevabı orada yap. OLASI SORULAR - YOLO ile Grounding DINO farkı? YOLO sabit sınıflı ve hızlı. Grounding DINO metinle arama yapar, esnek ama daha yavaş. YOLO-World ikisinin arasında. - GPU şart mı? Eğitim için pratikte evet; Colab ücretsiz GPU veriyor. Hazır modeli çalıştırmak için şart değil: bu demo dizüstünün ekran kartıyla (GTX 1660 Ti) çalışıyor, ekran kartı olmadan da kamera modu saniyede 6-10 kare işler. - Termal görüntü neden zor? Renk yok, insan sadece sıcak bir leke; hazır modeller çoğunlukla renkli fotoğraflarla eğitildi. - Kaç görüntü gerekir? Sıfırdan eğitimde çok fazla; ince ayarda çok daha azıyla başlanabilir. Bizim termal ince ayarda 9.041 görüntü vardı. - Neden yüzde 100 değil? Küçük nesneler, örtülen nesneler, birbirine benzeyen nesneler ve etiket hataları. - Etiketlemeyi nasıl yaptınız? [Kendi deneyimini anlat.] - Takıma nasıl girilir? Son slayttaki QR, AirLab 2026 ekip üye alım formuna gidiyor.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(Soru-cevap boyunca bu slayt ekranda kalsın.) Kapanıştan sonra buraya geç: "Bugün anlattığım her şey takım işiydi. AirLab'in 2026 ekip alımı açık; ilgilenen varsa QR'ı okutup formu doldurabilir." Kendi başlangıç hikâyeni bir cümleyle ekle. Sonra soruları al. Demo kodunun adresi de altta yazıyor.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3F1EC"/>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447040"/>
          </a:xfrm>
          <a:prstGeom prst="rect">
            <a:avLst/>
          </a:prstGeom>
          <a:noFill/>
          <a:ln/>
        </p:spPr>
        <p:txBody>
          <a:bodyPr wrap="square" lIns="0" tIns="0" rIns="0" bIns="0" rtlCol="0" anchor="t"/>
          <a:lstStyle>
            <a:lvl1pPr algn="l" indent="0" marL="0">
              <a:lnSpc>
                <a:spcPct val="115000"/>
              </a:lnSpc>
              <a:buNone/>
              <a:defRPr lang="en-US" sz="3200" dirty="0">
                <a:solidFill>
                  <a:srgbClr val="111823"/>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564640"/>
            <a:ext cx="10566400" cy="4480560"/>
          </a:xfrm>
          <a:prstGeom prst="rect">
            <a:avLst/>
          </a:prstGeom>
          <a:noFill/>
          <a:ln/>
        </p:spPr>
        <p:txBody>
          <a:bodyPr wrap="square" lIns="0" tIns="0" rIns="0" bIns="0" rtlCol="0" anchor="t"/>
          <a:lstStyle>
            <a:lvl1pPr algn="l" indent="0" marL="0">
              <a:lnSpc>
                <a:spcPct val="140000"/>
              </a:lnSpc>
              <a:buNone/>
              <a:defRPr lang="en-US" sz="1600" dirty="0">
                <a:solidFill>
                  <a:srgbClr val="111823"/>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3F1EC"/>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447040"/>
          </a:xfrm>
          <a:prstGeom prst="rect">
            <a:avLst/>
          </a:prstGeom>
          <a:noFill/>
          <a:ln/>
        </p:spPr>
        <p:txBody>
          <a:bodyPr wrap="square" lIns="0" tIns="0" rIns="0" bIns="0" rtlCol="0" anchor="t"/>
          <a:lstStyle>
            <a:lvl1pPr algn="l" indent="0" marL="0">
              <a:lnSpc>
                <a:spcPct val="115000"/>
              </a:lnSpc>
              <a:buNone/>
              <a:defRPr lang="en-US" sz="3200" dirty="0">
                <a:solidFill>
                  <a:srgbClr val="111823"/>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564640"/>
            <a:ext cx="10566400" cy="4480560"/>
          </a:xfrm>
          <a:prstGeom prst="rect">
            <a:avLst/>
          </a:prstGeom>
          <a:noFill/>
          <a:ln/>
        </p:spPr>
        <p:txBody>
          <a:bodyPr wrap="square" lIns="0" tIns="0" rIns="0" bIns="0" rtlCol="0" anchor="t"/>
          <a:lstStyle>
            <a:lvl1pPr algn="l" indent="0" marL="0">
              <a:lnSpc>
                <a:spcPct val="140000"/>
              </a:lnSpc>
              <a:buNone/>
              <a:defRPr lang="en-US" sz="1600" dirty="0">
                <a:solidFill>
                  <a:srgbClr val="111823"/>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image" Target="../media/image-3-2.jpeg"/><Relationship Id="rId3" Type="http://schemas.openxmlformats.org/officeDocument/2006/relationships/image" Target="../media/image-3-3.jpe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image" Target="../media/image-5-2.jpeg"/><Relationship Id="rId3" Type="http://schemas.openxmlformats.org/officeDocument/2006/relationships/image" Target="../media/image-5-3.jpeg"/><Relationship Id="rId4" Type="http://schemas.openxmlformats.org/officeDocument/2006/relationships/image" Target="../media/image-5-4.jpeg"/><Relationship Id="rId5" Type="http://schemas.openxmlformats.org/officeDocument/2006/relationships/image" Target="../media/image-5-5.jpeg"/><Relationship Id="rId6" Type="http://schemas.openxmlformats.org/officeDocument/2006/relationships/image" Target="../media/image-5-6.jpeg"/><Relationship Id="rId7" Type="http://schemas.openxmlformats.org/officeDocument/2006/relationships/slideLayout" Target="../slideLayouts/slideLayout2.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image" Target="../media/image-6-2.jpeg"/><Relationship Id="rId3" Type="http://schemas.openxmlformats.org/officeDocument/2006/relationships/image" Target="../media/image-6-3.jpeg"/><Relationship Id="rId4" Type="http://schemas.openxmlformats.org/officeDocument/2006/relationships/slideLayout" Target="../slideLayouts/slideLayout2.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image" Target="../media/image-9-2.jpe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image" Target="../media/image-11-2.png"/><Relationship Id="rId3" Type="http://schemas.openxmlformats.org/officeDocument/2006/relationships/image" Target="../media/image-11-3.jpeg"/><Relationship Id="rId4" Type="http://schemas.openxmlformats.org/officeDocument/2006/relationships/slideLayout" Target="../slideLayouts/slideLayout2.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e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eg"/><Relationship Id="rId2" Type="http://schemas.openxmlformats.org/officeDocument/2006/relationships/image" Target="../media/image-15-2.jpeg"/><Relationship Id="rId3" Type="http://schemas.openxmlformats.org/officeDocument/2006/relationships/slideLayout" Target="../slideLayouts/slideLayout2.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e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e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118"/>
        </a:solidFill>
      </p:bgPr>
    </p:bg>
    <p:spTree>
      <p:nvGrpSpPr>
        <p:cNvPr id="1" name=""/>
        <p:cNvGrpSpPr/>
        <p:nvPr/>
      </p:nvGrpSpPr>
      <p:grpSpPr>
        <a:xfrm>
          <a:off x="0" y="0"/>
          <a:ext cx="0" cy="0"/>
          <a:chOff x="0" y="0"/>
          <a:chExt cx="0" cy="0"/>
        </a:xfrm>
      </p:grpSpPr>
      <p:pic>
        <p:nvPicPr>
          <p:cNvPr id="2" name="Image 0" descr="Drone ile yukarıdan çekilmiş basketbol sahası; hazır model SAHI dilimlemesiyle sahadaki ve kenardaki insanları turuncu kutularla işaretlemiş">    </p:cNvPr>
          <p:cNvPicPr>
            <a:picLocks noChangeAspect="1"/>
          </p:cNvPicPr>
          <p:nvPr/>
        </p:nvPicPr>
        <p:blipFill>
          <a:blip r:embed="rId1"/>
          <a:srcRect l="23437" r="23437" t="0" b="0"/>
          <a:stretch/>
        </p:blipFill>
        <p:spPr>
          <a:xfrm>
            <a:off x="5715000" y="0"/>
            <a:ext cx="6477000" cy="6858000"/>
          </a:xfrm>
          <a:prstGeom prst="rect">
            <a:avLst/>
          </a:prstGeom>
        </p:spPr>
      </p:pic>
      <p:sp>
        <p:nvSpPr>
          <p:cNvPr id="3" name="Shape 0"/>
          <p:cNvSpPr/>
          <p:nvPr/>
        </p:nvSpPr>
        <p:spPr>
          <a:xfrm>
            <a:off x="5715000" y="0"/>
            <a:ext cx="1524000" cy="6858000"/>
          </a:xfrm>
          <a:prstGeom prst="rect">
            <a:avLst/>
          </a:prstGeom>
          <a:gradFill rotWithShape="1">
            <a:gsLst>
              <a:gs pos="0">
                <a:srgbClr val="0B1118"/>
              </a:gs>
              <a:gs pos="100000">
                <a:srgbClr val="0B1118">
                  <a:alpha val="0"/>
                </a:srgbClr>
              </a:gs>
            </a:gsLst>
            <a:lin ang="0" scaled="0"/>
          </a:gradFill>
          <a:ln/>
        </p:spPr>
      </p:sp>
      <p:sp>
        <p:nvSpPr>
          <p:cNvPr id="4" name="Text 1"/>
          <p:cNvSpPr/>
          <p:nvPr/>
        </p:nvSpPr>
        <p:spPr>
          <a:xfrm>
            <a:off x="812800" y="812800"/>
            <a:ext cx="4970780" cy="22352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A9B4C2"/>
                </a:solidFill>
                <a:latin typeface="IBM Plex Sans" pitchFamily="34" charset="0"/>
                <a:ea typeface="IBM Plex Sans" pitchFamily="34" charset="-122"/>
                <a:cs typeface="IBM Plex Sans" pitchFamily="34" charset="-120"/>
              </a:rPr>
              <a:t>SKY LAB Akademi · Yapay zekâ eğitimi</a:t>
            </a:r>
            <a:endParaRPr lang="en-US" sz="1200" dirty="0"/>
          </a:p>
        </p:txBody>
      </p:sp>
      <p:sp>
        <p:nvSpPr>
          <p:cNvPr id="5" name="Text 2"/>
          <p:cNvSpPr/>
          <p:nvPr>
            <p:ph type="title"/>
          </p:nvPr>
        </p:nvSpPr>
        <p:spPr>
          <a:xfrm>
            <a:off x="812800" y="2217579"/>
            <a:ext cx="4970780" cy="1372553"/>
          </a:xfrm>
          <a:prstGeom prst="rect">
            <a:avLst/>
          </a:prstGeom>
          <a:noFill/>
          <a:ln/>
        </p:spPr>
        <p:txBody>
          <a:bodyPr wrap="square" lIns="0" tIns="0" rIns="0" bIns="0" rtlCol="0" anchor="t">
            <a:normAutofit/>
          </a:bodyPr>
          <a:lstStyle/>
          <a:p>
            <a:pPr algn="l" indent="0" marL="0">
              <a:lnSpc>
                <a:spcPts val="5304"/>
              </a:lnSpc>
              <a:buNone/>
            </a:pPr>
            <a:r>
              <a:rPr lang="en-US" sz="5200" b="1" i="0" spc="-100" kern="0" dirty="0">
                <a:solidFill>
                  <a:srgbClr val="E8EDF2"/>
                </a:solidFill>
                <a:latin typeface="Space Grotesk" pitchFamily="34" charset="0"/>
                <a:ea typeface="Space Grotesk" pitchFamily="34" charset="-122"/>
                <a:cs typeface="Space Grotesk" pitchFamily="34" charset="-120"/>
              </a:rPr>
              <a:t>Gökyüzünden nesne bulmak</a:t>
            </a:r>
            <a:endParaRPr lang="en-US" sz="5200" dirty="0"/>
          </a:p>
        </p:txBody>
      </p:sp>
      <p:sp>
        <p:nvSpPr>
          <p:cNvPr id="6" name="Text 3"/>
          <p:cNvSpPr/>
          <p:nvPr/>
        </p:nvSpPr>
        <p:spPr>
          <a:xfrm>
            <a:off x="812800" y="3767931"/>
            <a:ext cx="4970780" cy="57785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A9B4C2"/>
                </a:solidFill>
                <a:latin typeface="IBM Plex Sans" pitchFamily="34" charset="0"/>
                <a:ea typeface="IBM Plex Sans" pitchFamily="34" charset="-122"/>
                <a:cs typeface="IBM Plex Sans" pitchFamily="34" charset="-120"/>
              </a:rPr>
              <a:t>Nesne tespitine giriş: pikselden YOLO'ya, TEKNOFEST'ten notlarla</a:t>
            </a:r>
            <a:endParaRPr lang="en-US" sz="1500" dirty="0"/>
          </a:p>
        </p:txBody>
      </p:sp>
      <p:sp>
        <p:nvSpPr>
          <p:cNvPr id="7" name="Text 4"/>
          <p:cNvSpPr/>
          <p:nvPr/>
        </p:nvSpPr>
        <p:spPr>
          <a:xfrm>
            <a:off x="812800" y="5527040"/>
            <a:ext cx="497078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E8EDF2"/>
                </a:solidFill>
                <a:latin typeface="IBM Plex Sans" pitchFamily="34" charset="0"/>
                <a:ea typeface="IBM Plex Sans" pitchFamily="34" charset="-122"/>
                <a:cs typeface="IBM Plex Sans" pitchFamily="34" charset="-120"/>
              </a:rPr>
              <a:t>İbrahim Enes Sayın</a:t>
            </a:r>
            <a:endParaRPr lang="en-US" sz="1500" dirty="0"/>
          </a:p>
        </p:txBody>
      </p:sp>
      <p:sp>
        <p:nvSpPr>
          <p:cNvPr id="8" name="Text 5"/>
          <p:cNvSpPr/>
          <p:nvPr/>
        </p:nvSpPr>
        <p:spPr>
          <a:xfrm>
            <a:off x="812800" y="5831840"/>
            <a:ext cx="497078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4C2"/>
                </a:solidFill>
                <a:latin typeface="IBM Plex Sans" pitchFamily="34" charset="0"/>
                <a:ea typeface="IBM Plex Sans" pitchFamily="34" charset="-122"/>
                <a:cs typeface="IBM Plex Sans" pitchFamily="34" charset="-120"/>
              </a:rPr>
              <a:t>VEGA takımı · TEKNOFEST Havacılıkta Yapay Zekâ</a:t>
            </a:r>
            <a:endParaRPr lang="en-US" sz="1200" dirty="0"/>
          </a:p>
        </p:txBody>
      </p:sp>
      <p:sp>
        <p:nvSpPr>
          <p:cNvPr id="9" name="Text 6"/>
          <p:cNvSpPr/>
          <p:nvPr/>
        </p:nvSpPr>
        <p:spPr>
          <a:xfrm>
            <a:off x="7721600" y="6085840"/>
            <a:ext cx="4064000" cy="365760"/>
          </a:xfrm>
          <a:prstGeom prst="roundRect">
            <a:avLst>
              <a:gd name="adj" fmla="val 20833"/>
            </a:avLst>
          </a:prstGeom>
          <a:solidFill>
            <a:srgbClr val="0B1118">
              <a:alpha val="80000"/>
            </a:srgbClr>
          </a:solidFill>
          <a:ln/>
        </p:spPr>
        <p:txBody>
          <a:bodyPr wrap="square" lIns="0" tIns="53882" rIns="104682" bIns="28482" rtlCol="0" anchor="t">
            <a:normAutofit/>
          </a:bodyPr>
          <a:lstStyle/>
          <a:p>
            <a:pPr algn="r" indent="0" marL="0">
              <a:lnSpc>
                <a:spcPts val="1680"/>
              </a:lnSpc>
              <a:buNone/>
            </a:pPr>
            <a:r>
              <a:rPr lang="en-US" sz="1200" dirty="0">
                <a:solidFill>
                  <a:srgbClr val="E8EDF2"/>
                </a:solidFill>
                <a:latin typeface="IBM Plex Sans" pitchFamily="34" charset="0"/>
                <a:ea typeface="IBM Plex Sans" pitchFamily="34" charset="-122"/>
                <a:cs typeface="IBM Plex Sans" pitchFamily="34" charset="-120"/>
              </a:rPr>
              <a:t>Yarışma karesi · hazır model + SAHI: 21 insan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118"/>
        </a:solidFill>
      </p:bgPr>
    </p:bg>
    <p:spTree>
      <p:nvGrpSpPr>
        <p:cNvPr id="1" name=""/>
        <p:cNvGrpSpPr/>
        <p:nvPr/>
      </p:nvGrpSpPr>
      <p:grpSpPr>
        <a:xfrm>
          <a:off x="0" y="0"/>
          <a:ext cx="0" cy="0"/>
          <a:chOff x="0" y="0"/>
          <a:chExt cx="0" cy="0"/>
        </a:xfrm>
      </p:grpSpPr>
      <p:pic>
        <p:nvPicPr>
          <p:cNvPr id="2" name="Image 0" descr="Yukarıdan çekilmiş çizgili halı saha futbol sahası; sahaya dağılmış birkaç küçük oyuncu, sağda kale">    </p:cNvPr>
          <p:cNvPicPr>
            <a:picLocks noChangeAspect="1"/>
          </p:cNvPicPr>
          <p:nvPr/>
        </p:nvPicPr>
        <p:blipFill>
          <a:blip r:embed="rId1"/>
          <a:srcRect l="0" r="0" t="0" b="0"/>
          <a:stretch/>
        </p:blipFill>
        <p:spPr>
          <a:xfrm>
            <a:off x="0" y="0"/>
            <a:ext cx="12192000" cy="6858000"/>
          </a:xfrm>
          <a:prstGeom prst="rect">
            <a:avLst/>
          </a:prstGeom>
        </p:spPr>
      </p:pic>
      <p:sp>
        <p:nvSpPr>
          <p:cNvPr id="3" name="Shape 0"/>
          <p:cNvSpPr/>
          <p:nvPr/>
        </p:nvSpPr>
        <p:spPr>
          <a:xfrm>
            <a:off x="0" y="0"/>
            <a:ext cx="5461000" cy="2044700"/>
          </a:xfrm>
          <a:prstGeom prst="roundRect">
            <a:avLst>
              <a:gd name="adj" fmla="val 6211"/>
            </a:avLst>
          </a:prstGeom>
          <a:solidFill>
            <a:srgbClr val="0B1118">
              <a:alpha val="86000"/>
            </a:srgbClr>
          </a:solidFill>
          <a:ln/>
        </p:spPr>
      </p:sp>
      <p:sp>
        <p:nvSpPr>
          <p:cNvPr id="4" name="Text 1"/>
          <p:cNvSpPr/>
          <p:nvPr>
            <p:ph type="title"/>
          </p:nvPr>
        </p:nvSpPr>
        <p:spPr>
          <a:xfrm>
            <a:off x="304800" y="254000"/>
            <a:ext cx="4996942" cy="919480"/>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E8EDF2"/>
                </a:solidFill>
                <a:latin typeface="Space Grotesk" pitchFamily="34" charset="0"/>
                <a:ea typeface="Space Grotesk" pitchFamily="34" charset="-122"/>
                <a:cs typeface="Space Grotesk" pitchFamily="34" charset="-120"/>
              </a:rPr>
              <a:t>Bu fotoğrafta kaç insan var?</a:t>
            </a:r>
            <a:endParaRPr lang="en-US" sz="3200" dirty="0"/>
          </a:p>
        </p:txBody>
      </p:sp>
      <p:sp>
        <p:nvSpPr>
          <p:cNvPr id="5" name="Text 2"/>
          <p:cNvSpPr/>
          <p:nvPr/>
        </p:nvSpPr>
        <p:spPr>
          <a:xfrm>
            <a:off x="304800" y="1249680"/>
            <a:ext cx="499694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A9B4C2"/>
                </a:solidFill>
                <a:latin typeface="IBM Plex Sans" pitchFamily="34" charset="0"/>
                <a:ea typeface="IBM Plex Sans" pitchFamily="34" charset="-122"/>
                <a:cs typeface="IBM Plex Sans" pitchFamily="34" charset="-120"/>
              </a:rPr>
              <a:t>TEKNOFEST Havacılıkta Yapay Zekâ yarışmasından bir kare. On saniyeniz var.</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1E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111823"/>
                </a:solidFill>
                <a:latin typeface="Space Grotesk" pitchFamily="34" charset="0"/>
                <a:ea typeface="Space Grotesk" pitchFamily="34" charset="-122"/>
                <a:cs typeface="Space Grotesk" pitchFamily="34" charset="-120"/>
              </a:rPr>
              <a:t>Görüntüyü değiştirmek, görüntüyü anlamak</a:t>
            </a:r>
            <a:endParaRPr lang="en-US" sz="3200" dirty="0"/>
          </a:p>
        </p:txBody>
      </p:sp>
      <p:pic>
        <p:nvPicPr>
          <p:cNvPr id="3" name="Image 0" descr="Drone'dan çekilmiş basketbol sahasının bir köşesi; sahada ve kenarda birkaç insan">    </p:cNvPr>
          <p:cNvPicPr>
            <a:picLocks noChangeAspect="1"/>
          </p:cNvPicPr>
          <p:nvPr/>
        </p:nvPicPr>
        <p:blipFill>
          <a:blip r:embed="rId1"/>
          <a:srcRect l="0" r="0" t="4972" b="4972"/>
          <a:stretch/>
        </p:blipFill>
        <p:spPr>
          <a:xfrm>
            <a:off x="812800" y="1564641"/>
            <a:ext cx="3384550" cy="2286000"/>
          </a:xfrm>
          <a:prstGeom prst="roundRect">
            <a:avLst>
              <a:gd name="adj" fmla="val 3333"/>
            </a:avLst>
          </a:prstGeom>
        </p:spPr>
      </p:pic>
      <p:sp>
        <p:nvSpPr>
          <p:cNvPr id="4" name="Text 1"/>
          <p:cNvSpPr/>
          <p:nvPr/>
        </p:nvSpPr>
        <p:spPr>
          <a:xfrm>
            <a:off x="812800" y="3926841"/>
            <a:ext cx="3488212"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11823"/>
                </a:solidFill>
                <a:latin typeface="Space Grotesk" pitchFamily="34" charset="0"/>
                <a:ea typeface="Space Grotesk" pitchFamily="34" charset="-122"/>
                <a:cs typeface="Space Grotesk" pitchFamily="34" charset="-120"/>
              </a:rPr>
              <a:t>1. Görüntü</a:t>
            </a:r>
            <a:endParaRPr lang="en-US" sz="1500" dirty="0"/>
          </a:p>
        </p:txBody>
      </p:sp>
      <p:sp>
        <p:nvSpPr>
          <p:cNvPr id="5" name="Text 2"/>
          <p:cNvSpPr/>
          <p:nvPr/>
        </p:nvSpPr>
        <p:spPr>
          <a:xfrm>
            <a:off x="812800" y="4231641"/>
            <a:ext cx="3589814"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3"/>
                </a:solidFill>
                <a:latin typeface="IBM Plex Sans" pitchFamily="34" charset="0"/>
                <a:ea typeface="IBM Plex Sans" pitchFamily="34" charset="-122"/>
                <a:cs typeface="IBM Plex Sans" pitchFamily="34" charset="-120"/>
              </a:rPr>
              <a:t>Kameranın gördüğü: milyonlarca renkli nokta.</a:t>
            </a:r>
            <a:endParaRPr lang="en-US" sz="1300" dirty="0"/>
          </a:p>
        </p:txBody>
      </p:sp>
      <p:pic>
        <p:nvPicPr>
          <p:cNvPr id="6" name="Image 1" descr="Aynı görüntünün kenar haritası: koyu zemin üzerinde saha çizgileri ve insanların açık renk kenarları">    </p:cNvPr>
          <p:cNvPicPr>
            <a:picLocks noChangeAspect="1"/>
          </p:cNvPicPr>
          <p:nvPr/>
        </p:nvPicPr>
        <p:blipFill>
          <a:blip r:embed="rId2"/>
          <a:srcRect l="0" r="0" t="4972" b="4972"/>
          <a:stretch/>
        </p:blipFill>
        <p:spPr>
          <a:xfrm>
            <a:off x="4402614" y="1564641"/>
            <a:ext cx="3384550" cy="2286000"/>
          </a:xfrm>
          <a:prstGeom prst="roundRect">
            <a:avLst>
              <a:gd name="adj" fmla="val 3333"/>
            </a:avLst>
          </a:prstGeom>
        </p:spPr>
      </p:pic>
      <p:sp>
        <p:nvSpPr>
          <p:cNvPr id="7" name="Text 3"/>
          <p:cNvSpPr/>
          <p:nvPr/>
        </p:nvSpPr>
        <p:spPr>
          <a:xfrm>
            <a:off x="4402614" y="3926841"/>
            <a:ext cx="348829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11823"/>
                </a:solidFill>
                <a:latin typeface="Space Grotesk" pitchFamily="34" charset="0"/>
                <a:ea typeface="Space Grotesk" pitchFamily="34" charset="-122"/>
                <a:cs typeface="Space Grotesk" pitchFamily="34" charset="-120"/>
              </a:rPr>
              <a:t>2. Görüntü işleme</a:t>
            </a:r>
            <a:endParaRPr lang="en-US" sz="1500" dirty="0"/>
          </a:p>
        </p:txBody>
      </p:sp>
      <p:sp>
        <p:nvSpPr>
          <p:cNvPr id="8" name="Text 4"/>
          <p:cNvSpPr/>
          <p:nvPr/>
        </p:nvSpPr>
        <p:spPr>
          <a:xfrm>
            <a:off x="4402614" y="4231641"/>
            <a:ext cx="3488294"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3"/>
                </a:solidFill>
                <a:latin typeface="IBM Plex Sans" pitchFamily="34" charset="0"/>
                <a:ea typeface="IBM Plex Sans" pitchFamily="34" charset="-122"/>
                <a:cs typeface="IBM Plex Sans" pitchFamily="34" charset="-120"/>
              </a:rPr>
              <a:t>Görüntüyü değiştirir. Burada kenarları bulduk: girdi de çıktı da görüntü.</a:t>
            </a:r>
            <a:endParaRPr lang="en-US" sz="1300" dirty="0"/>
          </a:p>
        </p:txBody>
      </p:sp>
      <p:pic>
        <p:nvPicPr>
          <p:cNvPr id="9" name="Image 2" descr="Aynı görüntü; model insanları turuncu kutularla ve güven skorlarıyla işaretlemiş">    </p:cNvPr>
          <p:cNvPicPr>
            <a:picLocks noChangeAspect="1"/>
          </p:cNvPicPr>
          <p:nvPr/>
        </p:nvPicPr>
        <p:blipFill>
          <a:blip r:embed="rId3"/>
          <a:srcRect l="0" r="0" t="4972" b="4972"/>
          <a:stretch/>
        </p:blipFill>
        <p:spPr>
          <a:xfrm>
            <a:off x="7992507" y="1564641"/>
            <a:ext cx="3384550" cy="2286000"/>
          </a:xfrm>
          <a:prstGeom prst="roundRect">
            <a:avLst>
              <a:gd name="adj" fmla="val 3333"/>
            </a:avLst>
          </a:prstGeom>
        </p:spPr>
      </p:pic>
      <p:sp>
        <p:nvSpPr>
          <p:cNvPr id="10" name="Text 5"/>
          <p:cNvSpPr/>
          <p:nvPr/>
        </p:nvSpPr>
        <p:spPr>
          <a:xfrm>
            <a:off x="7992507" y="3926841"/>
            <a:ext cx="3488294"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11823"/>
                </a:solidFill>
                <a:latin typeface="Space Grotesk" pitchFamily="34" charset="0"/>
                <a:ea typeface="Space Grotesk" pitchFamily="34" charset="-122"/>
                <a:cs typeface="Space Grotesk" pitchFamily="34" charset="-120"/>
              </a:rPr>
              <a:t>3. Bilgisayarlı görü</a:t>
            </a:r>
            <a:endParaRPr lang="en-US" sz="1500" dirty="0"/>
          </a:p>
        </p:txBody>
      </p:sp>
      <p:sp>
        <p:nvSpPr>
          <p:cNvPr id="11" name="Text 6"/>
          <p:cNvSpPr/>
          <p:nvPr/>
        </p:nvSpPr>
        <p:spPr>
          <a:xfrm>
            <a:off x="7992507" y="4231641"/>
            <a:ext cx="3488294"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3"/>
                </a:solidFill>
                <a:latin typeface="IBM Plex Sans" pitchFamily="34" charset="0"/>
                <a:ea typeface="IBM Plex Sans" pitchFamily="34" charset="-122"/>
                <a:cs typeface="IBM Plex Sans" pitchFamily="34" charset="-120"/>
              </a:rPr>
              <a:t>Görüntüden anlam çıkarır: “burada insan var”. Girdi görüntü, çıktı bilgi.</a:t>
            </a:r>
            <a:endParaRPr lang="en-US" sz="1300" dirty="0"/>
          </a:p>
        </p:txBody>
      </p:sp>
      <p:sp>
        <p:nvSpPr>
          <p:cNvPr id="12" name="Text 7"/>
          <p:cNvSpPr/>
          <p:nvPr/>
        </p:nvSpPr>
        <p:spPr>
          <a:xfrm>
            <a:off x="812800" y="499872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Telefon filtreleri görüntü işlemedir. Yüz kilidi, plaka okuma ve sürücüsüz araçlar bilgisayarlı görüdür.</a:t>
            </a:r>
            <a:endParaRPr lang="en-US" sz="1200" dirty="0"/>
          </a:p>
        </p:txBody>
      </p:sp>
      <p:sp>
        <p:nvSpPr>
          <p:cNvPr id="13" name="Text 8"/>
          <p:cNvSpPr/>
          <p:nvPr/>
        </p:nvSpPr>
        <p:spPr>
          <a:xfrm>
            <a:off x="812800" y="6238241"/>
            <a:ext cx="71945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IBM Plex Sans" pitchFamily="34" charset="0"/>
                <a:ea typeface="IBM Plex Sans" pitchFamily="34" charset="-122"/>
                <a:cs typeface="IBM Plex Sans" pitchFamily="34" charset="-120"/>
              </a:rPr>
              <a:t>Gökyüzünden nesne bulmak · SKY LAB Akademi</a:t>
            </a:r>
            <a:endParaRPr lang="en-US" sz="1200" dirty="0"/>
          </a:p>
        </p:txBody>
      </p:sp>
      <p:sp>
        <p:nvSpPr>
          <p:cNvPr id="14" name="Text 9"/>
          <p:cNvSpPr/>
          <p:nvPr/>
        </p:nvSpPr>
        <p:spPr>
          <a:xfrm>
            <a:off x="10058400" y="6238241"/>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2"/>
                </a:solidFill>
                <a:latin typeface="IBM Plex Mono" pitchFamily="49" charset="0"/>
                <a:ea typeface="IBM Plex Mono" pitchFamily="49" charset="-122"/>
                <a:cs typeface="IBM Plex Mono" pitchFamily="49"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1E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919480"/>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111823"/>
                </a:solidFill>
                <a:latin typeface="Space Grotesk" pitchFamily="34" charset="0"/>
                <a:ea typeface="Space Grotesk" pitchFamily="34" charset="-122"/>
                <a:cs typeface="Space Grotesk" pitchFamily="34" charset="-120"/>
              </a:rPr>
              <a:t>Cevap: 6 insan. 4K karede her biri yalnızca 80–120 piksel</a:t>
            </a:r>
            <a:endParaRPr lang="en-US" sz="3200" dirty="0"/>
          </a:p>
        </p:txBody>
      </p:sp>
      <p:pic>
        <p:nvPicPr>
          <p:cNvPr id="3" name="Image 0" descr="Orta yuvarlaktaki oyuncunun başından ve omzundan 18'e 18 pikselin büyütülmüş hali; her karede o pikselin parlaklık değeri yazıyor">    </p:cNvPr>
          <p:cNvPicPr>
            <a:picLocks noChangeAspect="1"/>
          </p:cNvPicPr>
          <p:nvPr/>
        </p:nvPicPr>
        <p:blipFill>
          <a:blip r:embed="rId1"/>
          <a:srcRect l="0" r="0" t="0" b="0"/>
          <a:stretch/>
        </p:blipFill>
        <p:spPr>
          <a:xfrm>
            <a:off x="812800" y="2011680"/>
            <a:ext cx="2794000" cy="2794000"/>
          </a:xfrm>
          <a:prstGeom prst="roundRect">
            <a:avLst>
              <a:gd name="adj" fmla="val 2727"/>
            </a:avLst>
          </a:prstGeom>
        </p:spPr>
      </p:pic>
      <p:sp>
        <p:nvSpPr>
          <p:cNvPr id="4" name="Text 1"/>
          <p:cNvSpPr/>
          <p:nvPr/>
        </p:nvSpPr>
        <p:spPr>
          <a:xfrm>
            <a:off x="812800" y="4907280"/>
            <a:ext cx="2877820"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Orta yuvarlaktaki oyuncunun başı ve omzu, 18 × 18 piksel. Her karedeki sayı o pikselin parlaklığı (0–255).</a:t>
            </a:r>
            <a:endParaRPr lang="en-US" sz="1200" dirty="0"/>
          </a:p>
        </p:txBody>
      </p:sp>
      <p:sp>
        <p:nvSpPr>
          <p:cNvPr id="5" name="Text 2"/>
          <p:cNvSpPr/>
          <p:nvPr/>
        </p:nvSpPr>
        <p:spPr>
          <a:xfrm>
            <a:off x="4114800" y="2011680"/>
            <a:ext cx="7482332"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9A5800"/>
                </a:solidFill>
                <a:latin typeface="Space Grotesk" pitchFamily="34" charset="0"/>
                <a:ea typeface="Space Grotesk" pitchFamily="34" charset="-122"/>
                <a:cs typeface="Space Grotesk" pitchFamily="34" charset="-120"/>
              </a:rPr>
              <a:t>8,3 milyon</a:t>
            </a:r>
            <a:endParaRPr lang="en-US" sz="3200" dirty="0"/>
          </a:p>
        </p:txBody>
      </p:sp>
      <p:sp>
        <p:nvSpPr>
          <p:cNvPr id="6" name="Text 3"/>
          <p:cNvSpPr/>
          <p:nvPr/>
        </p:nvSpPr>
        <p:spPr>
          <a:xfrm>
            <a:off x="4114800" y="2484120"/>
            <a:ext cx="748233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3"/>
                </a:solidFill>
                <a:latin typeface="IBM Plex Sans" pitchFamily="34" charset="0"/>
                <a:ea typeface="IBM Plex Sans" pitchFamily="34" charset="-122"/>
                <a:cs typeface="IBM Plex Sans" pitchFamily="34" charset="-120"/>
              </a:rPr>
              <a:t>piksel var bu 3840 × 2160 karede.</a:t>
            </a:r>
            <a:endParaRPr lang="en-US" sz="1500" dirty="0"/>
          </a:p>
        </p:txBody>
      </p:sp>
      <p:sp>
        <p:nvSpPr>
          <p:cNvPr id="7" name="Text 4"/>
          <p:cNvSpPr/>
          <p:nvPr/>
        </p:nvSpPr>
        <p:spPr>
          <a:xfrm>
            <a:off x="4114800" y="2954020"/>
            <a:ext cx="7482332"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9A5800"/>
                </a:solidFill>
                <a:latin typeface="Space Grotesk" pitchFamily="34" charset="0"/>
                <a:ea typeface="Space Grotesk" pitchFamily="34" charset="-122"/>
                <a:cs typeface="Space Grotesk" pitchFamily="34" charset="-120"/>
              </a:rPr>
              <a:t>24,9 milyon</a:t>
            </a:r>
            <a:endParaRPr lang="en-US" sz="3200" dirty="0"/>
          </a:p>
        </p:txBody>
      </p:sp>
      <p:sp>
        <p:nvSpPr>
          <p:cNvPr id="8" name="Text 5"/>
          <p:cNvSpPr/>
          <p:nvPr/>
        </p:nvSpPr>
        <p:spPr>
          <a:xfrm>
            <a:off x="4114800" y="3426461"/>
            <a:ext cx="748233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3"/>
                </a:solidFill>
                <a:latin typeface="IBM Plex Sans" pitchFamily="34" charset="0"/>
                <a:ea typeface="IBM Plex Sans" pitchFamily="34" charset="-122"/>
                <a:cs typeface="IBM Plex Sans" pitchFamily="34" charset="-120"/>
              </a:rPr>
              <a:t>sayı eder: her piksel kırmızı, yeşil ve mavi için 3 sayı.</a:t>
            </a:r>
            <a:endParaRPr lang="en-US" sz="1500" dirty="0"/>
          </a:p>
        </p:txBody>
      </p:sp>
      <p:sp>
        <p:nvSpPr>
          <p:cNvPr id="9" name="Text 6"/>
          <p:cNvSpPr/>
          <p:nvPr/>
        </p:nvSpPr>
        <p:spPr>
          <a:xfrm>
            <a:off x="4114800" y="3896361"/>
            <a:ext cx="7482332"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9A5800"/>
                </a:solidFill>
                <a:latin typeface="Space Grotesk" pitchFamily="34" charset="0"/>
                <a:ea typeface="Space Grotesk" pitchFamily="34" charset="-122"/>
                <a:cs typeface="Space Grotesk" pitchFamily="34" charset="-120"/>
              </a:rPr>
              <a:t>187 milyon</a:t>
            </a:r>
            <a:endParaRPr lang="en-US" sz="3200" dirty="0"/>
          </a:p>
        </p:txBody>
      </p:sp>
      <p:sp>
        <p:nvSpPr>
          <p:cNvPr id="10" name="Text 7"/>
          <p:cNvSpPr/>
          <p:nvPr/>
        </p:nvSpPr>
        <p:spPr>
          <a:xfrm>
            <a:off x="4114800" y="4368800"/>
            <a:ext cx="748233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3"/>
                </a:solidFill>
                <a:latin typeface="IBM Plex Sans" pitchFamily="34" charset="0"/>
                <a:ea typeface="IBM Plex Sans" pitchFamily="34" charset="-122"/>
                <a:cs typeface="IBM Plex Sans" pitchFamily="34" charset="-120"/>
              </a:rPr>
              <a:t>sayı gelir her saniye: drone saniyede 7,5 kare gönderiyor.</a:t>
            </a:r>
            <a:endParaRPr lang="en-US" sz="1500" dirty="0"/>
          </a:p>
        </p:txBody>
      </p:sp>
      <p:sp>
        <p:nvSpPr>
          <p:cNvPr id="11" name="Text 8"/>
          <p:cNvSpPr/>
          <p:nvPr/>
        </p:nvSpPr>
        <p:spPr>
          <a:xfrm>
            <a:off x="4114800" y="4838700"/>
            <a:ext cx="748233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11823"/>
                </a:solidFill>
                <a:latin typeface="IBM Plex Sans" pitchFamily="34" charset="0"/>
                <a:ea typeface="IBM Plex Sans" pitchFamily="34" charset="-122"/>
                <a:cs typeface="IBM Plex Sans" pitchFamily="34" charset="-120"/>
              </a:rPr>
              <a:t>Model bu sayılardan “burada insan var” sonucunu çıkarmayı öğreniyor.</a:t>
            </a:r>
            <a:endParaRPr lang="en-US" sz="1500" dirty="0"/>
          </a:p>
        </p:txBody>
      </p:sp>
      <p:sp>
        <p:nvSpPr>
          <p:cNvPr id="12" name="Text 9"/>
          <p:cNvSpPr/>
          <p:nvPr/>
        </p:nvSpPr>
        <p:spPr>
          <a:xfrm>
            <a:off x="812800" y="6238239"/>
            <a:ext cx="71945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IBM Plex Sans" pitchFamily="34" charset="0"/>
                <a:ea typeface="IBM Plex Sans" pitchFamily="34" charset="-122"/>
                <a:cs typeface="IBM Plex Sans" pitchFamily="34" charset="-120"/>
              </a:rPr>
              <a:t>Gökyüzünden nesne bulmak · SKY LAB Akademi</a:t>
            </a:r>
            <a:endParaRPr lang="en-US" sz="1200" dirty="0"/>
          </a:p>
        </p:txBody>
      </p:sp>
      <p:sp>
        <p:nvSpPr>
          <p:cNvPr id="13" name="Text 10"/>
          <p:cNvSpPr/>
          <p:nvPr/>
        </p:nvSpPr>
        <p:spPr>
          <a:xfrm>
            <a:off x="10058400" y="62382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2"/>
                </a:solidFill>
                <a:latin typeface="IBM Plex Mono" pitchFamily="49" charset="0"/>
                <a:ea typeface="IBM Plex Mono" pitchFamily="49" charset="-122"/>
                <a:cs typeface="IBM Plex Mono" pitchFamily="49"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1E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111823"/>
                </a:solidFill>
                <a:latin typeface="Space Grotesk" pitchFamily="34" charset="0"/>
                <a:ea typeface="Space Grotesk" pitchFamily="34" charset="-122"/>
                <a:cs typeface="Space Grotesk" pitchFamily="34" charset="-120"/>
              </a:rPr>
              <a:t>Renk üç sayıdır, model katman katman bakar</a:t>
            </a:r>
            <a:endParaRPr lang="en-US" sz="3200" dirty="0"/>
          </a:p>
        </p:txBody>
      </p:sp>
      <p:sp>
        <p:nvSpPr>
          <p:cNvPr id="3" name="Text 1"/>
          <p:cNvSpPr/>
          <p:nvPr/>
        </p:nvSpPr>
        <p:spPr>
          <a:xfrm>
            <a:off x="812800" y="1564639"/>
            <a:ext cx="523240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11823"/>
                </a:solidFill>
                <a:latin typeface="Space Grotesk" pitchFamily="34" charset="0"/>
                <a:ea typeface="Space Grotesk" pitchFamily="34" charset="-122"/>
                <a:cs typeface="Space Grotesk" pitchFamily="34" charset="-120"/>
              </a:rPr>
              <a:t>Her piksel 3 sayı</a:t>
            </a:r>
            <a:endParaRPr lang="en-US" sz="2000" dirty="0"/>
          </a:p>
        </p:txBody>
      </p:sp>
      <p:sp>
        <p:nvSpPr>
          <p:cNvPr id="4" name="Text 2"/>
          <p:cNvSpPr/>
          <p:nvPr/>
        </p:nvSpPr>
        <p:spPr>
          <a:xfrm>
            <a:off x="812800" y="1971039"/>
            <a:ext cx="5232400"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3"/>
                </a:solidFill>
                <a:latin typeface="IBM Plex Sans" pitchFamily="34" charset="0"/>
                <a:ea typeface="IBM Plex Sans" pitchFamily="34" charset="-122"/>
                <a:cs typeface="IBM Plex Sans" pitchFamily="34" charset="-120"/>
              </a:rPr>
              <a:t>Kırmızı, yeşil ve mavi ışığın miktarı, 0 ile 255 arası. Ekrandaki her renk bu üçünün karışımı.</a:t>
            </a:r>
            <a:endParaRPr lang="en-US" sz="1300" dirty="0"/>
          </a:p>
        </p:txBody>
      </p:sp>
      <p:pic>
        <p:nvPicPr>
          <p:cNvPr id="5" name="Image 0" descr="Görüntünün yalnızca kırmızı kanalı">    </p:cNvPr>
          <p:cNvPicPr>
            <a:picLocks noChangeAspect="1"/>
          </p:cNvPicPr>
          <p:nvPr/>
        </p:nvPicPr>
        <p:blipFill>
          <a:blip r:embed="rId1"/>
          <a:srcRect l="0" r="0" t="0" b="0"/>
          <a:stretch/>
        </p:blipFill>
        <p:spPr>
          <a:xfrm>
            <a:off x="812800" y="2534921"/>
            <a:ext cx="1574800" cy="1181100"/>
          </a:xfrm>
          <a:prstGeom prst="roundRect">
            <a:avLst>
              <a:gd name="adj" fmla="val 4301"/>
            </a:avLst>
          </a:prstGeom>
        </p:spPr>
      </p:pic>
      <p:sp>
        <p:nvSpPr>
          <p:cNvPr id="6" name="Text 3"/>
          <p:cNvSpPr/>
          <p:nvPr/>
        </p:nvSpPr>
        <p:spPr>
          <a:xfrm>
            <a:off x="812800" y="3766821"/>
            <a:ext cx="1625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IBM Plex Sans" pitchFamily="34" charset="0"/>
                <a:ea typeface="IBM Plex Sans" pitchFamily="34" charset="-122"/>
                <a:cs typeface="IBM Plex Sans" pitchFamily="34" charset="-120"/>
              </a:rPr>
              <a:t>Kırmızı</a:t>
            </a:r>
            <a:endParaRPr lang="en-US" sz="1200" dirty="0"/>
          </a:p>
        </p:txBody>
      </p:sp>
      <p:pic>
        <p:nvPicPr>
          <p:cNvPr id="7" name="Image 1" descr="Görüntünün yalnızca yeşil kanalı">    </p:cNvPr>
          <p:cNvPicPr>
            <a:picLocks noChangeAspect="1"/>
          </p:cNvPicPr>
          <p:nvPr/>
        </p:nvPicPr>
        <p:blipFill>
          <a:blip r:embed="rId2"/>
          <a:srcRect l="0" r="0" t="0" b="0"/>
          <a:stretch/>
        </p:blipFill>
        <p:spPr>
          <a:xfrm>
            <a:off x="2489200" y="2534921"/>
            <a:ext cx="1574800" cy="1181100"/>
          </a:xfrm>
          <a:prstGeom prst="roundRect">
            <a:avLst>
              <a:gd name="adj" fmla="val 4301"/>
            </a:avLst>
          </a:prstGeom>
        </p:spPr>
      </p:pic>
      <p:sp>
        <p:nvSpPr>
          <p:cNvPr id="8" name="Text 4"/>
          <p:cNvSpPr/>
          <p:nvPr/>
        </p:nvSpPr>
        <p:spPr>
          <a:xfrm>
            <a:off x="2489200" y="3766821"/>
            <a:ext cx="1625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IBM Plex Sans" pitchFamily="34" charset="0"/>
                <a:ea typeface="IBM Plex Sans" pitchFamily="34" charset="-122"/>
                <a:cs typeface="IBM Plex Sans" pitchFamily="34" charset="-120"/>
              </a:rPr>
              <a:t>Yeşil</a:t>
            </a:r>
            <a:endParaRPr lang="en-US" sz="1200" dirty="0"/>
          </a:p>
        </p:txBody>
      </p:sp>
      <p:pic>
        <p:nvPicPr>
          <p:cNvPr id="9" name="Image 2" descr="Görüntünün yalnızca mavi kanalı; basketbol sahası en parlak burada">    </p:cNvPr>
          <p:cNvPicPr>
            <a:picLocks noChangeAspect="1"/>
          </p:cNvPicPr>
          <p:nvPr/>
        </p:nvPicPr>
        <p:blipFill>
          <a:blip r:embed="rId3"/>
          <a:srcRect l="0" r="0" t="0" b="0"/>
          <a:stretch/>
        </p:blipFill>
        <p:spPr>
          <a:xfrm>
            <a:off x="4165600" y="2534921"/>
            <a:ext cx="1574800" cy="1181100"/>
          </a:xfrm>
          <a:prstGeom prst="roundRect">
            <a:avLst>
              <a:gd name="adj" fmla="val 4301"/>
            </a:avLst>
          </a:prstGeom>
        </p:spPr>
      </p:pic>
      <p:sp>
        <p:nvSpPr>
          <p:cNvPr id="10" name="Text 5"/>
          <p:cNvSpPr/>
          <p:nvPr/>
        </p:nvSpPr>
        <p:spPr>
          <a:xfrm>
            <a:off x="4165600" y="3766821"/>
            <a:ext cx="1625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IBM Plex Sans" pitchFamily="34" charset="0"/>
                <a:ea typeface="IBM Plex Sans" pitchFamily="34" charset="-122"/>
                <a:cs typeface="IBM Plex Sans" pitchFamily="34" charset="-120"/>
              </a:rPr>
              <a:t>Mavi</a:t>
            </a:r>
            <a:endParaRPr lang="en-US" sz="1200" dirty="0"/>
          </a:p>
        </p:txBody>
      </p:sp>
      <p:sp>
        <p:nvSpPr>
          <p:cNvPr id="11" name="Shape 6"/>
          <p:cNvSpPr/>
          <p:nvPr/>
        </p:nvSpPr>
        <p:spPr>
          <a:xfrm>
            <a:off x="812800" y="4081782"/>
            <a:ext cx="457200" cy="457200"/>
          </a:xfrm>
          <a:prstGeom prst="roundRect">
            <a:avLst>
              <a:gd name="adj" fmla="val 16667"/>
            </a:avLst>
          </a:prstGeom>
          <a:solidFill>
            <a:srgbClr val="FFB020"/>
          </a:solidFill>
          <a:ln/>
        </p:spPr>
      </p:sp>
      <p:sp>
        <p:nvSpPr>
          <p:cNvPr id="12" name="Text 7"/>
          <p:cNvSpPr/>
          <p:nvPr/>
        </p:nvSpPr>
        <p:spPr>
          <a:xfrm>
            <a:off x="1397000" y="4194811"/>
            <a:ext cx="3209544"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11823"/>
                </a:solidFill>
                <a:latin typeface="IBM Plex Mono" pitchFamily="49" charset="0"/>
                <a:ea typeface="IBM Plex Mono" pitchFamily="49" charset="-122"/>
                <a:cs typeface="IBM Plex Mono" pitchFamily="49" charset="-120"/>
              </a:rPr>
              <a:t>(255, 176, 32) = bu turuncu</a:t>
            </a:r>
            <a:endParaRPr lang="en-US" sz="1300" dirty="0"/>
          </a:p>
        </p:txBody>
      </p:sp>
      <p:sp>
        <p:nvSpPr>
          <p:cNvPr id="13" name="Text 8"/>
          <p:cNvSpPr/>
          <p:nvPr/>
        </p:nvSpPr>
        <p:spPr>
          <a:xfrm>
            <a:off x="6299200" y="1564639"/>
            <a:ext cx="523240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11823"/>
                </a:solidFill>
                <a:latin typeface="Space Grotesk" pitchFamily="34" charset="0"/>
                <a:ea typeface="Space Grotesk" pitchFamily="34" charset="-122"/>
                <a:cs typeface="Space Grotesk" pitchFamily="34" charset="-120"/>
              </a:rPr>
              <a:t>Model katman katman bakar</a:t>
            </a:r>
            <a:endParaRPr lang="en-US" sz="2000" dirty="0"/>
          </a:p>
        </p:txBody>
      </p:sp>
      <p:sp>
        <p:nvSpPr>
          <p:cNvPr id="14" name="Text 9"/>
          <p:cNvSpPr/>
          <p:nvPr/>
        </p:nvSpPr>
        <p:spPr>
          <a:xfrm>
            <a:off x="6299200" y="1971039"/>
            <a:ext cx="5232400"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3"/>
                </a:solidFill>
                <a:latin typeface="IBM Plex Sans" pitchFamily="34" charset="0"/>
                <a:ea typeface="IBM Plex Sans" pitchFamily="34" charset="-122"/>
                <a:cs typeface="IBM Plex Sans" pitchFamily="34" charset="-120"/>
              </a:rPr>
              <a:t>İlk katmanlar parlaklığa ve kenarlara, sonrakiler doku ve şekle tepki verir. Bunlar modelin içinden alınmış gerçek görüntüler.</a:t>
            </a:r>
            <a:endParaRPr lang="en-US" sz="1300" dirty="0"/>
          </a:p>
        </p:txBody>
      </p:sp>
      <p:pic>
        <p:nvPicPr>
          <p:cNvPr id="15" name="Image 3" descr="Modele giren görüntü: basketbol sahasının köşesi ve oturan insanlar">    </p:cNvPr>
          <p:cNvPicPr>
            <a:picLocks noChangeAspect="1"/>
          </p:cNvPicPr>
          <p:nvPr/>
        </p:nvPicPr>
        <p:blipFill>
          <a:blip r:embed="rId4"/>
          <a:srcRect l="0" r="0" t="0" b="0"/>
          <a:stretch/>
        </p:blipFill>
        <p:spPr>
          <a:xfrm>
            <a:off x="6299200" y="2534921"/>
            <a:ext cx="1574800" cy="1574800"/>
          </a:xfrm>
          <a:prstGeom prst="roundRect">
            <a:avLst>
              <a:gd name="adj" fmla="val 3226"/>
            </a:avLst>
          </a:prstGeom>
        </p:spPr>
      </p:pic>
      <p:sp>
        <p:nvSpPr>
          <p:cNvPr id="16" name="Text 10"/>
          <p:cNvSpPr/>
          <p:nvPr/>
        </p:nvSpPr>
        <p:spPr>
          <a:xfrm>
            <a:off x="6299200" y="4160521"/>
            <a:ext cx="159742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IBM Plex Sans" pitchFamily="34" charset="0"/>
                <a:ea typeface="IBM Plex Sans" pitchFamily="34" charset="-122"/>
                <a:cs typeface="IBM Plex Sans" pitchFamily="34" charset="-120"/>
              </a:rPr>
              <a:t>Girdi</a:t>
            </a:r>
            <a:endParaRPr lang="en-US" sz="1200" dirty="0"/>
          </a:p>
        </p:txBody>
      </p:sp>
      <p:pic>
        <p:nvPicPr>
          <p:cNvPr id="17" name="Image 4" descr="Modelin ikinci katmanının çıktısı: saha parlak, saha kenarı ve insanlar belirgin">    </p:cNvPr>
          <p:cNvPicPr>
            <a:picLocks noChangeAspect="1"/>
          </p:cNvPicPr>
          <p:nvPr/>
        </p:nvPicPr>
        <p:blipFill>
          <a:blip r:embed="rId5"/>
          <a:srcRect l="0" r="0" t="0" b="0"/>
          <a:stretch/>
        </p:blipFill>
        <p:spPr>
          <a:xfrm>
            <a:off x="7947422" y="2534921"/>
            <a:ext cx="1574800" cy="1574800"/>
          </a:xfrm>
          <a:prstGeom prst="roundRect">
            <a:avLst>
              <a:gd name="adj" fmla="val 3226"/>
            </a:avLst>
          </a:prstGeom>
        </p:spPr>
      </p:pic>
      <p:sp>
        <p:nvSpPr>
          <p:cNvPr id="18" name="Text 11"/>
          <p:cNvSpPr/>
          <p:nvPr/>
        </p:nvSpPr>
        <p:spPr>
          <a:xfrm>
            <a:off x="7947422" y="4160521"/>
            <a:ext cx="1837145"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IBM Plex Sans" pitchFamily="34" charset="0"/>
                <a:ea typeface="IBM Plex Sans" pitchFamily="34" charset="-122"/>
                <a:cs typeface="IBM Plex Sans" pitchFamily="34" charset="-120"/>
              </a:rPr>
              <a:t>2. katman: parlaklık, kenar</a:t>
            </a:r>
            <a:endParaRPr lang="en-US" sz="1200" dirty="0"/>
          </a:p>
        </p:txBody>
      </p:sp>
      <p:pic>
        <p:nvPicPr>
          <p:cNvPr id="19" name="Image 5" descr="Modelin beşinci katmanının çıktısı: saha çizgileri ve doku noktaları">    </p:cNvPr>
          <p:cNvPicPr>
            <a:picLocks noChangeAspect="1"/>
          </p:cNvPicPr>
          <p:nvPr/>
        </p:nvPicPr>
        <p:blipFill>
          <a:blip r:embed="rId6"/>
          <a:srcRect l="0" r="0" t="0" b="0"/>
          <a:stretch/>
        </p:blipFill>
        <p:spPr>
          <a:xfrm>
            <a:off x="9832658" y="2534921"/>
            <a:ext cx="1574800" cy="1574800"/>
          </a:xfrm>
          <a:prstGeom prst="roundRect">
            <a:avLst>
              <a:gd name="adj" fmla="val 3226"/>
            </a:avLst>
          </a:prstGeom>
        </p:spPr>
      </p:pic>
      <p:sp>
        <p:nvSpPr>
          <p:cNvPr id="20" name="Text 12"/>
          <p:cNvSpPr/>
          <p:nvPr/>
        </p:nvSpPr>
        <p:spPr>
          <a:xfrm>
            <a:off x="9832658" y="4160521"/>
            <a:ext cx="159734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IBM Plex Sans" pitchFamily="34" charset="0"/>
                <a:ea typeface="IBM Plex Sans" pitchFamily="34" charset="-122"/>
                <a:cs typeface="IBM Plex Sans" pitchFamily="34" charset="-120"/>
              </a:rPr>
              <a:t>5. katman: doku, çizgi</a:t>
            </a:r>
            <a:endParaRPr lang="en-US" sz="1200" dirty="0"/>
          </a:p>
        </p:txBody>
      </p:sp>
      <p:sp>
        <p:nvSpPr>
          <p:cNvPr id="21" name="Text 13"/>
          <p:cNvSpPr/>
          <p:nvPr/>
        </p:nvSpPr>
        <p:spPr>
          <a:xfrm>
            <a:off x="812800" y="6238239"/>
            <a:ext cx="71945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IBM Plex Sans" pitchFamily="34" charset="0"/>
                <a:ea typeface="IBM Plex Sans" pitchFamily="34" charset="-122"/>
                <a:cs typeface="IBM Plex Sans" pitchFamily="34" charset="-120"/>
              </a:rPr>
              <a:t>Gökyüzünden nesne bulmak · SKY LAB Akademi</a:t>
            </a:r>
            <a:endParaRPr lang="en-US" sz="1200" dirty="0"/>
          </a:p>
        </p:txBody>
      </p:sp>
      <p:sp>
        <p:nvSpPr>
          <p:cNvPr id="22" name="Text 14"/>
          <p:cNvSpPr/>
          <p:nvPr/>
        </p:nvSpPr>
        <p:spPr>
          <a:xfrm>
            <a:off x="10058400" y="62382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2"/>
                </a:solidFill>
                <a:latin typeface="IBM Plex Mono" pitchFamily="49" charset="0"/>
                <a:ea typeface="IBM Plex Mono" pitchFamily="49" charset="-122"/>
                <a:cs typeface="IBM Plex Mono" pitchFamily="49"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1E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111823"/>
                </a:solidFill>
                <a:latin typeface="Space Grotesk" pitchFamily="34" charset="0"/>
                <a:ea typeface="Space Grotesk" pitchFamily="34" charset="-122"/>
                <a:cs typeface="Space Grotesk" pitchFamily="34" charset="-120"/>
              </a:rPr>
              <a:t>Sınıflandırma, tespit, segmentasyon</a:t>
            </a:r>
            <a:endParaRPr lang="en-US" sz="3200" dirty="0"/>
          </a:p>
        </p:txBody>
      </p:sp>
      <p:sp>
        <p:nvSpPr>
          <p:cNvPr id="3" name="Shape 1"/>
          <p:cNvSpPr/>
          <p:nvPr/>
        </p:nvSpPr>
        <p:spPr>
          <a:xfrm>
            <a:off x="815975" y="1567814"/>
            <a:ext cx="3380264" cy="3793490"/>
          </a:xfrm>
          <a:prstGeom prst="roundRect">
            <a:avLst>
              <a:gd name="adj" fmla="val 2912"/>
            </a:avLst>
          </a:prstGeom>
          <a:solidFill>
            <a:srgbClr val="FBFAF7"/>
          </a:solidFill>
          <a:ln w="6350">
            <a:solidFill>
              <a:srgbClr val="E2DED5"/>
            </a:solidFill>
            <a:prstDash val="solid"/>
          </a:ln>
        </p:spPr>
      </p:sp>
      <p:pic>
        <p:nvPicPr>
          <p:cNvPr id="4" name="Image 0" descr="Çimenlik alanda yukarıdan çekilmiş sarı bir biçerdöver">    </p:cNvPr>
          <p:cNvPicPr>
            <a:picLocks noChangeAspect="1"/>
          </p:cNvPicPr>
          <p:nvPr/>
        </p:nvPicPr>
        <p:blipFill>
          <a:blip r:embed="rId1"/>
          <a:srcRect l="0" r="0" t="9763" b="9763"/>
          <a:stretch/>
        </p:blipFill>
        <p:spPr>
          <a:xfrm>
            <a:off x="970280" y="1722121"/>
            <a:ext cx="3079750" cy="1778000"/>
          </a:xfrm>
          <a:prstGeom prst="roundRect">
            <a:avLst>
              <a:gd name="adj" fmla="val 3571"/>
            </a:avLst>
          </a:prstGeom>
        </p:spPr>
      </p:pic>
      <p:sp>
        <p:nvSpPr>
          <p:cNvPr id="5" name="Text 2"/>
          <p:cNvSpPr/>
          <p:nvPr/>
        </p:nvSpPr>
        <p:spPr>
          <a:xfrm>
            <a:off x="970280" y="3576321"/>
            <a:ext cx="316380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11823"/>
                </a:solidFill>
                <a:latin typeface="Space Grotesk" pitchFamily="34" charset="0"/>
                <a:ea typeface="Space Grotesk" pitchFamily="34" charset="-122"/>
                <a:cs typeface="Space Grotesk" pitchFamily="34" charset="-120"/>
              </a:rPr>
              <a:t>Sınıflandırma</a:t>
            </a:r>
            <a:endParaRPr lang="en-US" sz="2000" dirty="0"/>
          </a:p>
        </p:txBody>
      </p:sp>
      <p:sp>
        <p:nvSpPr>
          <p:cNvPr id="6" name="Text 3"/>
          <p:cNvSpPr/>
          <p:nvPr/>
        </p:nvSpPr>
        <p:spPr>
          <a:xfrm>
            <a:off x="970280" y="3957321"/>
            <a:ext cx="3163803"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11823"/>
                </a:solidFill>
                <a:latin typeface="IBM Plex Sans" pitchFamily="34" charset="0"/>
                <a:ea typeface="IBM Plex Sans" pitchFamily="34" charset="-122"/>
                <a:cs typeface="IBM Plex Sans" pitchFamily="34" charset="-120"/>
              </a:rPr>
              <a:t>“Bu resimde biçerdöver var.”</a:t>
            </a:r>
            <a:endParaRPr lang="en-US" sz="1500" dirty="0"/>
          </a:p>
        </p:txBody>
      </p:sp>
      <p:sp>
        <p:nvSpPr>
          <p:cNvPr id="7" name="Text 4"/>
          <p:cNvSpPr/>
          <p:nvPr/>
        </p:nvSpPr>
        <p:spPr>
          <a:xfrm>
            <a:off x="970280" y="4300221"/>
            <a:ext cx="316380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Çıktı: tek bir etiket</a:t>
            </a:r>
            <a:endParaRPr lang="en-US" sz="1200" dirty="0"/>
          </a:p>
        </p:txBody>
      </p:sp>
      <p:sp>
        <p:nvSpPr>
          <p:cNvPr id="8" name="Shape 5"/>
          <p:cNvSpPr/>
          <p:nvPr/>
        </p:nvSpPr>
        <p:spPr>
          <a:xfrm>
            <a:off x="4412139" y="1574164"/>
            <a:ext cx="3367643" cy="3780790"/>
          </a:xfrm>
          <a:prstGeom prst="roundRect">
            <a:avLst>
              <a:gd name="adj" fmla="val 2734"/>
            </a:avLst>
          </a:prstGeom>
          <a:solidFill>
            <a:srgbClr val="FBFAF7"/>
          </a:solidFill>
          <a:ln w="19050">
            <a:solidFill>
              <a:srgbClr val="FFB020"/>
            </a:solidFill>
            <a:prstDash val="solid"/>
          </a:ln>
        </p:spPr>
      </p:sp>
      <p:pic>
        <p:nvPicPr>
          <p:cNvPr id="9" name="Image 1" descr="Aynı biçerdöver, etrafında turuncu bir kutu ve biçerdöver etiketi">    </p:cNvPr>
          <p:cNvPicPr>
            <a:picLocks noChangeAspect="1"/>
          </p:cNvPicPr>
          <p:nvPr/>
        </p:nvPicPr>
        <p:blipFill>
          <a:blip r:embed="rId2"/>
          <a:srcRect l="0" r="0" t="9763" b="9763"/>
          <a:stretch/>
        </p:blipFill>
        <p:spPr>
          <a:xfrm>
            <a:off x="4557554" y="1719582"/>
            <a:ext cx="3079750" cy="1778000"/>
          </a:xfrm>
          <a:prstGeom prst="roundRect">
            <a:avLst>
              <a:gd name="adj" fmla="val 3571"/>
            </a:avLst>
          </a:prstGeom>
        </p:spPr>
      </p:pic>
      <p:sp>
        <p:nvSpPr>
          <p:cNvPr id="10" name="Text 6"/>
          <p:cNvSpPr/>
          <p:nvPr/>
        </p:nvSpPr>
        <p:spPr>
          <a:xfrm>
            <a:off x="4557554" y="3573782"/>
            <a:ext cx="3169118" cy="22352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5B6472"/>
                </a:solidFill>
                <a:latin typeface="IBM Plex Sans" pitchFamily="34" charset="0"/>
                <a:ea typeface="IBM Plex Sans" pitchFamily="34" charset="-122"/>
                <a:cs typeface="IBM Plex Sans" pitchFamily="34" charset="-120"/>
              </a:rPr>
              <a:t>Bugünün konusu</a:t>
            </a:r>
            <a:endParaRPr lang="en-US" sz="1200" dirty="0"/>
          </a:p>
        </p:txBody>
      </p:sp>
      <p:sp>
        <p:nvSpPr>
          <p:cNvPr id="11" name="Text 7"/>
          <p:cNvSpPr/>
          <p:nvPr/>
        </p:nvSpPr>
        <p:spPr>
          <a:xfrm>
            <a:off x="4557554" y="3848100"/>
            <a:ext cx="316911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11823"/>
                </a:solidFill>
                <a:latin typeface="Space Grotesk" pitchFamily="34" charset="0"/>
                <a:ea typeface="Space Grotesk" pitchFamily="34" charset="-122"/>
                <a:cs typeface="Space Grotesk" pitchFamily="34" charset="-120"/>
              </a:rPr>
              <a:t>Tespit</a:t>
            </a:r>
            <a:endParaRPr lang="en-US" sz="2000" dirty="0"/>
          </a:p>
        </p:txBody>
      </p:sp>
      <p:sp>
        <p:nvSpPr>
          <p:cNvPr id="12" name="Text 8"/>
          <p:cNvSpPr/>
          <p:nvPr/>
        </p:nvSpPr>
        <p:spPr>
          <a:xfrm>
            <a:off x="4557554" y="4229100"/>
            <a:ext cx="3169118"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11823"/>
                </a:solidFill>
                <a:latin typeface="IBM Plex Sans" pitchFamily="34" charset="0"/>
                <a:ea typeface="IBM Plex Sans" pitchFamily="34" charset="-122"/>
                <a:cs typeface="IBM Plex Sans" pitchFamily="34" charset="-120"/>
              </a:rPr>
              <a:t>“Biçerdöver burada.”</a:t>
            </a:r>
            <a:endParaRPr lang="en-US" sz="1500" dirty="0"/>
          </a:p>
        </p:txBody>
      </p:sp>
      <p:sp>
        <p:nvSpPr>
          <p:cNvPr id="13" name="Text 9"/>
          <p:cNvSpPr/>
          <p:nvPr/>
        </p:nvSpPr>
        <p:spPr>
          <a:xfrm>
            <a:off x="4557554" y="4572000"/>
            <a:ext cx="316911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Çıktı: kutu, etiket ve güven skoru</a:t>
            </a:r>
            <a:endParaRPr lang="en-US" sz="1200" dirty="0"/>
          </a:p>
        </p:txBody>
      </p:sp>
      <p:sp>
        <p:nvSpPr>
          <p:cNvPr id="14" name="Shape 10"/>
          <p:cNvSpPr/>
          <p:nvPr/>
        </p:nvSpPr>
        <p:spPr>
          <a:xfrm>
            <a:off x="7995682" y="1567814"/>
            <a:ext cx="3380343" cy="3793490"/>
          </a:xfrm>
          <a:prstGeom prst="roundRect">
            <a:avLst>
              <a:gd name="adj" fmla="val 2912"/>
            </a:avLst>
          </a:prstGeom>
          <a:solidFill>
            <a:srgbClr val="FBFAF7"/>
          </a:solidFill>
          <a:ln w="6350">
            <a:solidFill>
              <a:srgbClr val="E2DED5"/>
            </a:solidFill>
            <a:prstDash val="solid"/>
          </a:ln>
        </p:spPr>
      </p:sp>
      <p:pic>
        <p:nvPicPr>
          <p:cNvPr id="15" name="Image 2" descr="Siyah zemin üzerinde arka planı silinmiş biçerdöver; yalnızca makinenin pikselleri kalmış">    </p:cNvPr>
          <p:cNvPicPr>
            <a:picLocks noChangeAspect="1"/>
          </p:cNvPicPr>
          <p:nvPr/>
        </p:nvPicPr>
        <p:blipFill>
          <a:blip r:embed="rId3"/>
          <a:srcRect l="0" r="0" t="9344" b="9344"/>
          <a:stretch/>
        </p:blipFill>
        <p:spPr>
          <a:xfrm>
            <a:off x="8149987" y="1722121"/>
            <a:ext cx="3079750" cy="1778000"/>
          </a:xfrm>
          <a:prstGeom prst="roundRect">
            <a:avLst>
              <a:gd name="adj" fmla="val 3571"/>
            </a:avLst>
          </a:prstGeom>
        </p:spPr>
      </p:pic>
      <p:sp>
        <p:nvSpPr>
          <p:cNvPr id="16" name="Text 11"/>
          <p:cNvSpPr/>
          <p:nvPr/>
        </p:nvSpPr>
        <p:spPr>
          <a:xfrm>
            <a:off x="8149987" y="3576321"/>
            <a:ext cx="3163885"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11823"/>
                </a:solidFill>
                <a:latin typeface="Space Grotesk" pitchFamily="34" charset="0"/>
                <a:ea typeface="Space Grotesk" pitchFamily="34" charset="-122"/>
                <a:cs typeface="Space Grotesk" pitchFamily="34" charset="-120"/>
              </a:rPr>
              <a:t>Segmentasyon</a:t>
            </a:r>
            <a:endParaRPr lang="en-US" sz="2000" dirty="0"/>
          </a:p>
        </p:txBody>
      </p:sp>
      <p:sp>
        <p:nvSpPr>
          <p:cNvPr id="17" name="Text 12"/>
          <p:cNvSpPr/>
          <p:nvPr/>
        </p:nvSpPr>
        <p:spPr>
          <a:xfrm>
            <a:off x="8149987" y="3957321"/>
            <a:ext cx="3163885"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11823"/>
                </a:solidFill>
                <a:latin typeface="IBM Plex Sans" pitchFamily="34" charset="0"/>
                <a:ea typeface="IBM Plex Sans" pitchFamily="34" charset="-122"/>
                <a:cs typeface="IBM Plex Sans" pitchFamily="34" charset="-120"/>
              </a:rPr>
              <a:t>“Biçerdöver tam olarak bu pikseller.”</a:t>
            </a:r>
            <a:endParaRPr lang="en-US" sz="1500" dirty="0"/>
          </a:p>
        </p:txBody>
      </p:sp>
      <p:sp>
        <p:nvSpPr>
          <p:cNvPr id="18" name="Text 13"/>
          <p:cNvSpPr/>
          <p:nvPr/>
        </p:nvSpPr>
        <p:spPr>
          <a:xfrm>
            <a:off x="8149987" y="4566921"/>
            <a:ext cx="3163885"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Çıktı: piksel maskesi. Bu maske VEGA'nın Görev 3'te SAM ile çıkardığı gerçek bir maske.</a:t>
            </a:r>
            <a:endParaRPr lang="en-US" sz="1200" dirty="0"/>
          </a:p>
        </p:txBody>
      </p:sp>
      <p:sp>
        <p:nvSpPr>
          <p:cNvPr id="19" name="Text 14"/>
          <p:cNvSpPr/>
          <p:nvPr/>
        </p:nvSpPr>
        <p:spPr>
          <a:xfrm>
            <a:off x="812800" y="6238239"/>
            <a:ext cx="71945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IBM Plex Sans" pitchFamily="34" charset="0"/>
                <a:ea typeface="IBM Plex Sans" pitchFamily="34" charset="-122"/>
                <a:cs typeface="IBM Plex Sans" pitchFamily="34" charset="-120"/>
              </a:rPr>
              <a:t>Gökyüzünden nesne bulmak · SKY LAB Akademi</a:t>
            </a:r>
            <a:endParaRPr lang="en-US" sz="1200" dirty="0"/>
          </a:p>
        </p:txBody>
      </p:sp>
      <p:sp>
        <p:nvSpPr>
          <p:cNvPr id="20" name="Text 15"/>
          <p:cNvSpPr/>
          <p:nvPr/>
        </p:nvSpPr>
        <p:spPr>
          <a:xfrm>
            <a:off x="10058400" y="62382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2"/>
                </a:solidFill>
                <a:latin typeface="IBM Plex Mono" pitchFamily="49" charset="0"/>
                <a:ea typeface="IBM Plex Mono" pitchFamily="49" charset="-122"/>
                <a:cs typeface="IBM Plex Mono" pitchFamily="49"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1E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111823"/>
                </a:solidFill>
                <a:latin typeface="Space Grotesk" pitchFamily="34" charset="0"/>
                <a:ea typeface="Space Grotesk" pitchFamily="34" charset="-122"/>
                <a:cs typeface="Space Grotesk" pitchFamily="34" charset="-120"/>
              </a:rPr>
              <a:t>Elle yazılan kurallardan tek bakışta tespite</a:t>
            </a:r>
            <a:endParaRPr lang="en-US" sz="3200" dirty="0"/>
          </a:p>
        </p:txBody>
      </p:sp>
      <p:sp>
        <p:nvSpPr>
          <p:cNvPr id="3" name="Shape 1"/>
          <p:cNvSpPr/>
          <p:nvPr/>
        </p:nvSpPr>
        <p:spPr>
          <a:xfrm>
            <a:off x="815975" y="1567814"/>
            <a:ext cx="2520950" cy="1545590"/>
          </a:xfrm>
          <a:prstGeom prst="roundRect">
            <a:avLst>
              <a:gd name="adj" fmla="val 6368"/>
            </a:avLst>
          </a:prstGeom>
          <a:solidFill>
            <a:srgbClr val="FBFAF7"/>
          </a:solidFill>
          <a:ln w="6350">
            <a:solidFill>
              <a:srgbClr val="E2DED5"/>
            </a:solidFill>
            <a:prstDash val="solid"/>
          </a:ln>
        </p:spPr>
      </p:sp>
      <p:sp>
        <p:nvSpPr>
          <p:cNvPr id="4" name="Text 2"/>
          <p:cNvSpPr/>
          <p:nvPr/>
        </p:nvSpPr>
        <p:spPr>
          <a:xfrm>
            <a:off x="970280" y="1722121"/>
            <a:ext cx="227871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9A5800"/>
                </a:solidFill>
                <a:latin typeface="IBM Plex Mono" pitchFamily="49" charset="0"/>
                <a:ea typeface="IBM Plex Mono" pitchFamily="49" charset="-122"/>
                <a:cs typeface="IBM Plex Mono" pitchFamily="49" charset="-120"/>
              </a:rPr>
              <a:t>2001</a:t>
            </a:r>
            <a:endParaRPr lang="en-US" sz="1500" dirty="0"/>
          </a:p>
        </p:txBody>
      </p:sp>
      <p:sp>
        <p:nvSpPr>
          <p:cNvPr id="5" name="Text 3"/>
          <p:cNvSpPr/>
          <p:nvPr/>
        </p:nvSpPr>
        <p:spPr>
          <a:xfrm>
            <a:off x="970280" y="2039621"/>
            <a:ext cx="227871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11823"/>
                </a:solidFill>
                <a:latin typeface="Space Grotesk" pitchFamily="34" charset="0"/>
                <a:ea typeface="Space Grotesk" pitchFamily="34" charset="-122"/>
                <a:cs typeface="Space Grotesk" pitchFamily="34" charset="-120"/>
              </a:rPr>
              <a:t>Viola–Jones</a:t>
            </a:r>
            <a:endParaRPr lang="en-US" sz="1500" dirty="0"/>
          </a:p>
        </p:txBody>
      </p:sp>
      <p:sp>
        <p:nvSpPr>
          <p:cNvPr id="6" name="Text 4"/>
          <p:cNvSpPr/>
          <p:nvPr/>
        </p:nvSpPr>
        <p:spPr>
          <a:xfrm>
            <a:off x="970280" y="2319021"/>
            <a:ext cx="2278710"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Yüz tespiti fotoğraf makinelerine girdi. Kuralları insanlar tasarlıyordu.</a:t>
            </a:r>
            <a:endParaRPr lang="en-US" sz="1200" dirty="0"/>
          </a:p>
        </p:txBody>
      </p:sp>
      <p:sp>
        <p:nvSpPr>
          <p:cNvPr id="7" name="Shape 5"/>
          <p:cNvSpPr/>
          <p:nvPr/>
        </p:nvSpPr>
        <p:spPr>
          <a:xfrm>
            <a:off x="3495675" y="1567814"/>
            <a:ext cx="2520950" cy="1545590"/>
          </a:xfrm>
          <a:prstGeom prst="roundRect">
            <a:avLst>
              <a:gd name="adj" fmla="val 6368"/>
            </a:avLst>
          </a:prstGeom>
          <a:solidFill>
            <a:srgbClr val="FBFAF7"/>
          </a:solidFill>
          <a:ln w="6350">
            <a:solidFill>
              <a:srgbClr val="E2DED5"/>
            </a:solidFill>
            <a:prstDash val="solid"/>
          </a:ln>
        </p:spPr>
      </p:sp>
      <p:sp>
        <p:nvSpPr>
          <p:cNvPr id="8" name="Text 6"/>
          <p:cNvSpPr/>
          <p:nvPr/>
        </p:nvSpPr>
        <p:spPr>
          <a:xfrm>
            <a:off x="3649980" y="1722121"/>
            <a:ext cx="227871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9A5800"/>
                </a:solidFill>
                <a:latin typeface="IBM Plex Mono" pitchFamily="49" charset="0"/>
                <a:ea typeface="IBM Plex Mono" pitchFamily="49" charset="-122"/>
                <a:cs typeface="IBM Plex Mono" pitchFamily="49" charset="-120"/>
              </a:rPr>
              <a:t>2005</a:t>
            </a:r>
            <a:endParaRPr lang="en-US" sz="1500" dirty="0"/>
          </a:p>
        </p:txBody>
      </p:sp>
      <p:sp>
        <p:nvSpPr>
          <p:cNvPr id="9" name="Text 7"/>
          <p:cNvSpPr/>
          <p:nvPr/>
        </p:nvSpPr>
        <p:spPr>
          <a:xfrm>
            <a:off x="3649980" y="2039621"/>
            <a:ext cx="227871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11823"/>
                </a:solidFill>
                <a:latin typeface="Space Grotesk" pitchFamily="34" charset="0"/>
                <a:ea typeface="Space Grotesk" pitchFamily="34" charset="-122"/>
                <a:cs typeface="Space Grotesk" pitchFamily="34" charset="-120"/>
              </a:rPr>
              <a:t>HOG</a:t>
            </a:r>
            <a:endParaRPr lang="en-US" sz="1500" dirty="0"/>
          </a:p>
        </p:txBody>
      </p:sp>
      <p:sp>
        <p:nvSpPr>
          <p:cNvPr id="10" name="Text 8"/>
          <p:cNvSpPr/>
          <p:nvPr/>
        </p:nvSpPr>
        <p:spPr>
          <a:xfrm>
            <a:off x="3649980" y="2319021"/>
            <a:ext cx="2278710"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Kenar yönlerinden yaya tespiti. Yine elle tasarlanmış bir yöntem.</a:t>
            </a:r>
            <a:endParaRPr lang="en-US" sz="1200" dirty="0"/>
          </a:p>
        </p:txBody>
      </p:sp>
      <p:sp>
        <p:nvSpPr>
          <p:cNvPr id="11" name="Shape 9"/>
          <p:cNvSpPr/>
          <p:nvPr/>
        </p:nvSpPr>
        <p:spPr>
          <a:xfrm>
            <a:off x="6175375" y="1567814"/>
            <a:ext cx="2520950" cy="1545590"/>
          </a:xfrm>
          <a:prstGeom prst="roundRect">
            <a:avLst>
              <a:gd name="adj" fmla="val 6368"/>
            </a:avLst>
          </a:prstGeom>
          <a:solidFill>
            <a:srgbClr val="FBFAF7"/>
          </a:solidFill>
          <a:ln w="6350">
            <a:solidFill>
              <a:srgbClr val="E2DED5"/>
            </a:solidFill>
            <a:prstDash val="solid"/>
          </a:ln>
        </p:spPr>
      </p:sp>
      <p:sp>
        <p:nvSpPr>
          <p:cNvPr id="12" name="Text 10"/>
          <p:cNvSpPr/>
          <p:nvPr/>
        </p:nvSpPr>
        <p:spPr>
          <a:xfrm>
            <a:off x="6329680" y="1722121"/>
            <a:ext cx="227871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9A5800"/>
                </a:solidFill>
                <a:latin typeface="IBM Plex Mono" pitchFamily="49" charset="0"/>
                <a:ea typeface="IBM Plex Mono" pitchFamily="49" charset="-122"/>
                <a:cs typeface="IBM Plex Mono" pitchFamily="49" charset="-120"/>
              </a:rPr>
              <a:t>2012</a:t>
            </a:r>
            <a:endParaRPr lang="en-US" sz="1500" dirty="0"/>
          </a:p>
        </p:txBody>
      </p:sp>
      <p:sp>
        <p:nvSpPr>
          <p:cNvPr id="13" name="Text 11"/>
          <p:cNvSpPr/>
          <p:nvPr/>
        </p:nvSpPr>
        <p:spPr>
          <a:xfrm>
            <a:off x="6329680" y="2039621"/>
            <a:ext cx="227871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11823"/>
                </a:solidFill>
                <a:latin typeface="Space Grotesk" pitchFamily="34" charset="0"/>
                <a:ea typeface="Space Grotesk" pitchFamily="34" charset="-122"/>
                <a:cs typeface="Space Grotesk" pitchFamily="34" charset="-120"/>
              </a:rPr>
              <a:t>AlexNet</a:t>
            </a:r>
            <a:endParaRPr lang="en-US" sz="1500" dirty="0"/>
          </a:p>
        </p:txBody>
      </p:sp>
      <p:sp>
        <p:nvSpPr>
          <p:cNvPr id="14" name="Text 12"/>
          <p:cNvSpPr/>
          <p:nvPr/>
        </p:nvSpPr>
        <p:spPr>
          <a:xfrm>
            <a:off x="6329680" y="2319021"/>
            <a:ext cx="2278710"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Derin öğrenme, ImageNet yarışmasında rakiplerini büyük farkla geçti.</a:t>
            </a:r>
            <a:endParaRPr lang="en-US" sz="1200" dirty="0"/>
          </a:p>
        </p:txBody>
      </p:sp>
      <p:sp>
        <p:nvSpPr>
          <p:cNvPr id="15" name="Shape 13"/>
          <p:cNvSpPr/>
          <p:nvPr/>
        </p:nvSpPr>
        <p:spPr>
          <a:xfrm>
            <a:off x="8855075" y="1567814"/>
            <a:ext cx="2520950" cy="1545590"/>
          </a:xfrm>
          <a:prstGeom prst="roundRect">
            <a:avLst>
              <a:gd name="adj" fmla="val 6368"/>
            </a:avLst>
          </a:prstGeom>
          <a:solidFill>
            <a:srgbClr val="FBFAF7"/>
          </a:solidFill>
          <a:ln w="6350">
            <a:solidFill>
              <a:srgbClr val="E2DED5"/>
            </a:solidFill>
            <a:prstDash val="solid"/>
          </a:ln>
        </p:spPr>
      </p:sp>
      <p:sp>
        <p:nvSpPr>
          <p:cNvPr id="16" name="Text 14"/>
          <p:cNvSpPr/>
          <p:nvPr/>
        </p:nvSpPr>
        <p:spPr>
          <a:xfrm>
            <a:off x="9009380" y="1722121"/>
            <a:ext cx="227871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9A5800"/>
                </a:solidFill>
                <a:latin typeface="IBM Plex Mono" pitchFamily="49" charset="0"/>
                <a:ea typeface="IBM Plex Mono" pitchFamily="49" charset="-122"/>
                <a:cs typeface="IBM Plex Mono" pitchFamily="49" charset="-120"/>
              </a:rPr>
              <a:t>2014</a:t>
            </a:r>
            <a:endParaRPr lang="en-US" sz="1500" dirty="0"/>
          </a:p>
        </p:txBody>
      </p:sp>
      <p:sp>
        <p:nvSpPr>
          <p:cNvPr id="17" name="Text 15"/>
          <p:cNvSpPr/>
          <p:nvPr/>
        </p:nvSpPr>
        <p:spPr>
          <a:xfrm>
            <a:off x="9009380" y="2039621"/>
            <a:ext cx="227871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11823"/>
                </a:solidFill>
                <a:latin typeface="Space Grotesk" pitchFamily="34" charset="0"/>
                <a:ea typeface="Space Grotesk" pitchFamily="34" charset="-122"/>
                <a:cs typeface="Space Grotesk" pitchFamily="34" charset="-120"/>
              </a:rPr>
              <a:t>R-CNN</a:t>
            </a:r>
            <a:endParaRPr lang="en-US" sz="1500" dirty="0"/>
          </a:p>
        </p:txBody>
      </p:sp>
      <p:sp>
        <p:nvSpPr>
          <p:cNvPr id="18" name="Text 16"/>
          <p:cNvSpPr/>
          <p:nvPr/>
        </p:nvSpPr>
        <p:spPr>
          <a:xfrm>
            <a:off x="9009380" y="2319021"/>
            <a:ext cx="2278710"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Derin öğrenmeyle tespit: yaklaşık 2.000 aday bölgeyi tek tek inceler.</a:t>
            </a:r>
            <a:endParaRPr lang="en-US" sz="1200" dirty="0"/>
          </a:p>
        </p:txBody>
      </p:sp>
      <p:sp>
        <p:nvSpPr>
          <p:cNvPr id="19" name="Shape 17"/>
          <p:cNvSpPr/>
          <p:nvPr/>
        </p:nvSpPr>
        <p:spPr>
          <a:xfrm>
            <a:off x="815975" y="3272157"/>
            <a:ext cx="2520950" cy="1332230"/>
          </a:xfrm>
          <a:prstGeom prst="roundRect">
            <a:avLst>
              <a:gd name="adj" fmla="val 7388"/>
            </a:avLst>
          </a:prstGeom>
          <a:solidFill>
            <a:srgbClr val="FBFAF7"/>
          </a:solidFill>
          <a:ln w="6350">
            <a:solidFill>
              <a:srgbClr val="E2DED5"/>
            </a:solidFill>
            <a:prstDash val="solid"/>
          </a:ln>
        </p:spPr>
      </p:sp>
      <p:sp>
        <p:nvSpPr>
          <p:cNvPr id="20" name="Text 18"/>
          <p:cNvSpPr/>
          <p:nvPr/>
        </p:nvSpPr>
        <p:spPr>
          <a:xfrm>
            <a:off x="970280" y="3426461"/>
            <a:ext cx="227871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9A5800"/>
                </a:solidFill>
                <a:latin typeface="IBM Plex Mono" pitchFamily="49" charset="0"/>
                <a:ea typeface="IBM Plex Mono" pitchFamily="49" charset="-122"/>
                <a:cs typeface="IBM Plex Mono" pitchFamily="49" charset="-120"/>
              </a:rPr>
              <a:t>2015</a:t>
            </a:r>
            <a:endParaRPr lang="en-US" sz="1500" dirty="0"/>
          </a:p>
        </p:txBody>
      </p:sp>
      <p:sp>
        <p:nvSpPr>
          <p:cNvPr id="21" name="Text 19"/>
          <p:cNvSpPr/>
          <p:nvPr/>
        </p:nvSpPr>
        <p:spPr>
          <a:xfrm>
            <a:off x="970280" y="3743961"/>
            <a:ext cx="227871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11823"/>
                </a:solidFill>
                <a:latin typeface="Space Grotesk" pitchFamily="34" charset="0"/>
                <a:ea typeface="Space Grotesk" pitchFamily="34" charset="-122"/>
                <a:cs typeface="Space Grotesk" pitchFamily="34" charset="-120"/>
              </a:rPr>
              <a:t>Faster R-CNN</a:t>
            </a:r>
            <a:endParaRPr lang="en-US" sz="1500" dirty="0"/>
          </a:p>
        </p:txBody>
      </p:sp>
      <p:sp>
        <p:nvSpPr>
          <p:cNvPr id="22" name="Text 20"/>
          <p:cNvSpPr/>
          <p:nvPr/>
        </p:nvSpPr>
        <p:spPr>
          <a:xfrm>
            <a:off x="970280" y="4023361"/>
            <a:ext cx="227871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Aday bölgeleri de ağ üretir. Saniyede 5 kare.</a:t>
            </a:r>
            <a:endParaRPr lang="en-US" sz="1200" dirty="0"/>
          </a:p>
        </p:txBody>
      </p:sp>
      <p:sp>
        <p:nvSpPr>
          <p:cNvPr id="23" name="Shape 21"/>
          <p:cNvSpPr/>
          <p:nvPr/>
        </p:nvSpPr>
        <p:spPr>
          <a:xfrm>
            <a:off x="3502025" y="3278507"/>
            <a:ext cx="2508250" cy="1319530"/>
          </a:xfrm>
          <a:prstGeom prst="roundRect">
            <a:avLst>
              <a:gd name="adj" fmla="val 6978"/>
            </a:avLst>
          </a:prstGeom>
          <a:solidFill>
            <a:srgbClr val="FBFAF7"/>
          </a:solidFill>
          <a:ln w="19050">
            <a:solidFill>
              <a:srgbClr val="FFB020"/>
            </a:solidFill>
            <a:prstDash val="solid"/>
          </a:ln>
        </p:spPr>
      </p:sp>
      <p:sp>
        <p:nvSpPr>
          <p:cNvPr id="24" name="Text 22"/>
          <p:cNvSpPr/>
          <p:nvPr/>
        </p:nvSpPr>
        <p:spPr>
          <a:xfrm>
            <a:off x="3647440" y="3423921"/>
            <a:ext cx="2283943"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9A5800"/>
                </a:solidFill>
                <a:latin typeface="IBM Plex Mono" pitchFamily="49" charset="0"/>
                <a:ea typeface="IBM Plex Mono" pitchFamily="49" charset="-122"/>
                <a:cs typeface="IBM Plex Mono" pitchFamily="49" charset="-120"/>
              </a:rPr>
              <a:t>2016</a:t>
            </a:r>
            <a:endParaRPr lang="en-US" sz="1500" dirty="0"/>
          </a:p>
        </p:txBody>
      </p:sp>
      <p:sp>
        <p:nvSpPr>
          <p:cNvPr id="25" name="Text 23"/>
          <p:cNvSpPr/>
          <p:nvPr/>
        </p:nvSpPr>
        <p:spPr>
          <a:xfrm>
            <a:off x="3647440" y="3741421"/>
            <a:ext cx="2283943"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11823"/>
                </a:solidFill>
                <a:latin typeface="Space Grotesk" pitchFamily="34" charset="0"/>
                <a:ea typeface="Space Grotesk" pitchFamily="34" charset="-122"/>
                <a:cs typeface="Space Grotesk" pitchFamily="34" charset="-120"/>
              </a:rPr>
              <a:t>YOLO</a:t>
            </a:r>
            <a:endParaRPr lang="en-US" sz="1500" dirty="0"/>
          </a:p>
        </p:txBody>
      </p:sp>
      <p:sp>
        <p:nvSpPr>
          <p:cNvPr id="26" name="Text 24"/>
          <p:cNvSpPr/>
          <p:nvPr/>
        </p:nvSpPr>
        <p:spPr>
          <a:xfrm>
            <a:off x="3647440" y="4020821"/>
            <a:ext cx="228394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Tek bakışta tespit: görüntüye bir kez bakar. Saniyede 45 kare.</a:t>
            </a:r>
            <a:endParaRPr lang="en-US" sz="1200" dirty="0"/>
          </a:p>
        </p:txBody>
      </p:sp>
      <p:sp>
        <p:nvSpPr>
          <p:cNvPr id="27" name="Shape 25"/>
          <p:cNvSpPr/>
          <p:nvPr/>
        </p:nvSpPr>
        <p:spPr>
          <a:xfrm>
            <a:off x="6175375" y="3272157"/>
            <a:ext cx="2520950" cy="1332230"/>
          </a:xfrm>
          <a:prstGeom prst="roundRect">
            <a:avLst>
              <a:gd name="adj" fmla="val 7388"/>
            </a:avLst>
          </a:prstGeom>
          <a:solidFill>
            <a:srgbClr val="FBFAF7"/>
          </a:solidFill>
          <a:ln w="6350">
            <a:solidFill>
              <a:srgbClr val="E2DED5"/>
            </a:solidFill>
            <a:prstDash val="solid"/>
          </a:ln>
        </p:spPr>
      </p:sp>
      <p:sp>
        <p:nvSpPr>
          <p:cNvPr id="28" name="Text 26"/>
          <p:cNvSpPr/>
          <p:nvPr/>
        </p:nvSpPr>
        <p:spPr>
          <a:xfrm>
            <a:off x="6329680" y="3426461"/>
            <a:ext cx="227871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9A5800"/>
                </a:solidFill>
                <a:latin typeface="IBM Plex Mono" pitchFamily="49" charset="0"/>
                <a:ea typeface="IBM Plex Mono" pitchFamily="49" charset="-122"/>
                <a:cs typeface="IBM Plex Mono" pitchFamily="49" charset="-120"/>
              </a:rPr>
              <a:t>2020</a:t>
            </a:r>
            <a:endParaRPr lang="en-US" sz="1500" dirty="0"/>
          </a:p>
        </p:txBody>
      </p:sp>
      <p:sp>
        <p:nvSpPr>
          <p:cNvPr id="29" name="Text 27"/>
          <p:cNvSpPr/>
          <p:nvPr/>
        </p:nvSpPr>
        <p:spPr>
          <a:xfrm>
            <a:off x="6329680" y="3743961"/>
            <a:ext cx="227871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11823"/>
                </a:solidFill>
                <a:latin typeface="Space Grotesk" pitchFamily="34" charset="0"/>
                <a:ea typeface="Space Grotesk" pitchFamily="34" charset="-122"/>
                <a:cs typeface="Space Grotesk" pitchFamily="34" charset="-120"/>
              </a:rPr>
              <a:t>DETR</a:t>
            </a:r>
            <a:endParaRPr lang="en-US" sz="1500" dirty="0"/>
          </a:p>
        </p:txBody>
      </p:sp>
      <p:sp>
        <p:nvSpPr>
          <p:cNvPr id="30" name="Text 28"/>
          <p:cNvSpPr/>
          <p:nvPr/>
        </p:nvSpPr>
        <p:spPr>
          <a:xfrm>
            <a:off x="6329680" y="4023361"/>
            <a:ext cx="227871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Dil modellerindeki transformer mimarisi tespite girdi.</a:t>
            </a:r>
            <a:endParaRPr lang="en-US" sz="1200" dirty="0"/>
          </a:p>
        </p:txBody>
      </p:sp>
      <p:sp>
        <p:nvSpPr>
          <p:cNvPr id="31" name="Shape 29"/>
          <p:cNvSpPr/>
          <p:nvPr/>
        </p:nvSpPr>
        <p:spPr>
          <a:xfrm>
            <a:off x="8855075" y="3272157"/>
            <a:ext cx="2520950" cy="1332230"/>
          </a:xfrm>
          <a:prstGeom prst="roundRect">
            <a:avLst>
              <a:gd name="adj" fmla="val 7388"/>
            </a:avLst>
          </a:prstGeom>
          <a:solidFill>
            <a:srgbClr val="FBFAF7"/>
          </a:solidFill>
          <a:ln w="6350">
            <a:solidFill>
              <a:srgbClr val="E2DED5"/>
            </a:solidFill>
            <a:prstDash val="solid"/>
          </a:ln>
        </p:spPr>
      </p:sp>
      <p:sp>
        <p:nvSpPr>
          <p:cNvPr id="32" name="Text 30"/>
          <p:cNvSpPr/>
          <p:nvPr/>
        </p:nvSpPr>
        <p:spPr>
          <a:xfrm>
            <a:off x="9009380" y="3426461"/>
            <a:ext cx="227871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9A5800"/>
                </a:solidFill>
                <a:latin typeface="IBM Plex Mono" pitchFamily="49" charset="0"/>
                <a:ea typeface="IBM Plex Mono" pitchFamily="49" charset="-122"/>
                <a:cs typeface="IBM Plex Mono" pitchFamily="49" charset="-120"/>
              </a:rPr>
              <a:t>2023–24</a:t>
            </a:r>
            <a:endParaRPr lang="en-US" sz="1500" dirty="0"/>
          </a:p>
        </p:txBody>
      </p:sp>
      <p:sp>
        <p:nvSpPr>
          <p:cNvPr id="33" name="Text 31"/>
          <p:cNvSpPr/>
          <p:nvPr/>
        </p:nvSpPr>
        <p:spPr>
          <a:xfrm>
            <a:off x="9009380" y="3743961"/>
            <a:ext cx="227871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11823"/>
                </a:solidFill>
                <a:latin typeface="Space Grotesk" pitchFamily="34" charset="0"/>
                <a:ea typeface="Space Grotesk" pitchFamily="34" charset="-122"/>
                <a:cs typeface="Space Grotesk" pitchFamily="34" charset="-120"/>
              </a:rPr>
              <a:t>Açık sözlük</a:t>
            </a:r>
            <a:endParaRPr lang="en-US" sz="1500" dirty="0"/>
          </a:p>
        </p:txBody>
      </p:sp>
      <p:sp>
        <p:nvSpPr>
          <p:cNvPr id="34" name="Text 32"/>
          <p:cNvSpPr/>
          <p:nvPr/>
        </p:nvSpPr>
        <p:spPr>
          <a:xfrm>
            <a:off x="9009380" y="4023361"/>
            <a:ext cx="227871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Grounding DINO, YOLO-World: ne arayacağını yazıyla söylersin.</a:t>
            </a:r>
            <a:endParaRPr lang="en-US" sz="1200" dirty="0"/>
          </a:p>
        </p:txBody>
      </p:sp>
      <p:sp>
        <p:nvSpPr>
          <p:cNvPr id="35" name="Text 33"/>
          <p:cNvSpPr/>
          <p:nvPr/>
        </p:nvSpPr>
        <p:spPr>
          <a:xfrm>
            <a:off x="812800" y="4912361"/>
            <a:ext cx="10883392"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11823"/>
                </a:solidFill>
                <a:latin typeface="IBM Plex Sans" pitchFamily="34" charset="0"/>
                <a:ea typeface="IBM Plex Sans" pitchFamily="34" charset="-122"/>
                <a:cs typeface="IBM Plex Sans" pitchFamily="34" charset="-120"/>
              </a:rPr>
              <a:t>Fark:</a:t>
            </a:r>
            <a:r>
              <a:rPr lang="en-US" sz="1300" dirty="0">
                <a:solidFill>
                  <a:srgbClr val="111823"/>
                </a:solidFill>
                <a:latin typeface="IBM Plex Sans" pitchFamily="34" charset="0"/>
                <a:ea typeface="IBM Plex Sans" pitchFamily="34" charset="-122"/>
                <a:cs typeface="IBM Plex Sans" pitchFamily="34" charset="-120"/>
              </a:rPr>
              <a:t> Faster R-CNN saniyede 5 kare işlerken ilk YOLO saniyede 45 kare işledi.</a:t>
            </a:r>
            <a:endParaRPr lang="en-US" sz="1300" dirty="0"/>
          </a:p>
        </p:txBody>
      </p:sp>
      <p:sp>
        <p:nvSpPr>
          <p:cNvPr id="36" name="Text 34"/>
          <p:cNvSpPr/>
          <p:nvPr/>
        </p:nvSpPr>
        <p:spPr>
          <a:xfrm>
            <a:off x="812800" y="6238239"/>
            <a:ext cx="71945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IBM Plex Sans" pitchFamily="34" charset="0"/>
                <a:ea typeface="IBM Plex Sans" pitchFamily="34" charset="-122"/>
                <a:cs typeface="IBM Plex Sans" pitchFamily="34" charset="-120"/>
              </a:rPr>
              <a:t>Gökyüzünden nesne bulmak · SKY LAB Akademi</a:t>
            </a:r>
            <a:endParaRPr lang="en-US" sz="1200" dirty="0"/>
          </a:p>
        </p:txBody>
      </p:sp>
      <p:sp>
        <p:nvSpPr>
          <p:cNvPr id="37" name="Text 35"/>
          <p:cNvSpPr/>
          <p:nvPr/>
        </p:nvSpPr>
        <p:spPr>
          <a:xfrm>
            <a:off x="10058400" y="62382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2"/>
                </a:solidFill>
                <a:latin typeface="IBM Plex Mono" pitchFamily="49" charset="0"/>
                <a:ea typeface="IBM Plex Mono" pitchFamily="49" charset="-122"/>
                <a:cs typeface="IBM Plex Mono" pitchFamily="49"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F1E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111823"/>
                </a:solidFill>
                <a:latin typeface="Space Grotesk" pitchFamily="34" charset="0"/>
                <a:ea typeface="Space Grotesk" pitchFamily="34" charset="-122"/>
                <a:cs typeface="Space Grotesk" pitchFamily="34" charset="-120"/>
              </a:rPr>
              <a:t>Başlamak için gereken araçların çoğu ücretsiz</a:t>
            </a:r>
            <a:endParaRPr lang="en-US" sz="3200" dirty="0"/>
          </a:p>
        </p:txBody>
      </p:sp>
      <p:sp>
        <p:nvSpPr>
          <p:cNvPr id="3" name="Shape 1"/>
          <p:cNvSpPr/>
          <p:nvPr/>
        </p:nvSpPr>
        <p:spPr>
          <a:xfrm>
            <a:off x="815975" y="1567814"/>
            <a:ext cx="3414157" cy="1593850"/>
          </a:xfrm>
          <a:prstGeom prst="roundRect">
            <a:avLst>
              <a:gd name="adj" fmla="val 6175"/>
            </a:avLst>
          </a:prstGeom>
          <a:solidFill>
            <a:srgbClr val="FBFAF7"/>
          </a:solidFill>
          <a:ln w="6350">
            <a:solidFill>
              <a:srgbClr val="E2DED5"/>
            </a:solidFill>
            <a:prstDash val="solid"/>
          </a:ln>
        </p:spPr>
      </p:sp>
      <p:sp>
        <p:nvSpPr>
          <p:cNvPr id="4" name="Text 2"/>
          <p:cNvSpPr/>
          <p:nvPr/>
        </p:nvSpPr>
        <p:spPr>
          <a:xfrm>
            <a:off x="1021080" y="1772921"/>
            <a:ext cx="3094065" cy="22352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5B6472"/>
                </a:solidFill>
                <a:latin typeface="IBM Plex Sans" pitchFamily="34" charset="0"/>
                <a:ea typeface="IBM Plex Sans" pitchFamily="34" charset="-122"/>
                <a:cs typeface="IBM Plex Sans" pitchFamily="34" charset="-120"/>
              </a:rPr>
              <a:t>Hazır modeller</a:t>
            </a:r>
            <a:endParaRPr lang="en-US" sz="1200" dirty="0"/>
          </a:p>
        </p:txBody>
      </p:sp>
      <p:sp>
        <p:nvSpPr>
          <p:cNvPr id="5" name="Text 3"/>
          <p:cNvSpPr/>
          <p:nvPr/>
        </p:nvSpPr>
        <p:spPr>
          <a:xfrm>
            <a:off x="1021080" y="2021839"/>
            <a:ext cx="3094065"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11823"/>
                </a:solidFill>
                <a:latin typeface="Space Grotesk" pitchFamily="34" charset="0"/>
                <a:ea typeface="Space Grotesk" pitchFamily="34" charset="-122"/>
                <a:cs typeface="Space Grotesk" pitchFamily="34" charset="-120"/>
              </a:rPr>
              <a:t>Ultralytics, Hugging Face</a:t>
            </a:r>
            <a:endParaRPr lang="en-US" sz="1600" dirty="0"/>
          </a:p>
        </p:txBody>
      </p:sp>
      <p:sp>
        <p:nvSpPr>
          <p:cNvPr id="6" name="Text 4"/>
          <p:cNvSpPr/>
          <p:nvPr/>
        </p:nvSpPr>
        <p:spPr>
          <a:xfrm>
            <a:off x="1021080" y="2316482"/>
            <a:ext cx="3094065"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Önceden eğitilmiş, birkaç satırda çalışan modeller. Araştırma için Detectron2, MMDetection.</a:t>
            </a:r>
            <a:endParaRPr lang="en-US" sz="1200" dirty="0"/>
          </a:p>
        </p:txBody>
      </p:sp>
      <p:sp>
        <p:nvSpPr>
          <p:cNvPr id="7" name="Shape 5"/>
          <p:cNvSpPr/>
          <p:nvPr/>
        </p:nvSpPr>
        <p:spPr>
          <a:xfrm>
            <a:off x="4388882" y="1567814"/>
            <a:ext cx="3414157" cy="1593850"/>
          </a:xfrm>
          <a:prstGeom prst="roundRect">
            <a:avLst>
              <a:gd name="adj" fmla="val 6175"/>
            </a:avLst>
          </a:prstGeom>
          <a:solidFill>
            <a:srgbClr val="FBFAF7"/>
          </a:solidFill>
          <a:ln w="6350">
            <a:solidFill>
              <a:srgbClr val="E2DED5"/>
            </a:solidFill>
            <a:prstDash val="solid"/>
          </a:ln>
        </p:spPr>
      </p:sp>
      <p:sp>
        <p:nvSpPr>
          <p:cNvPr id="8" name="Text 6"/>
          <p:cNvSpPr/>
          <p:nvPr/>
        </p:nvSpPr>
        <p:spPr>
          <a:xfrm>
            <a:off x="4593987" y="1772921"/>
            <a:ext cx="3094065" cy="22352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5B6472"/>
                </a:solidFill>
                <a:latin typeface="IBM Plex Sans" pitchFamily="34" charset="0"/>
                <a:ea typeface="IBM Plex Sans" pitchFamily="34" charset="-122"/>
                <a:cs typeface="IBM Plex Sans" pitchFamily="34" charset="-120"/>
              </a:rPr>
              <a:t>Görüntü işleme</a:t>
            </a:r>
            <a:endParaRPr lang="en-US" sz="1200" dirty="0"/>
          </a:p>
        </p:txBody>
      </p:sp>
      <p:sp>
        <p:nvSpPr>
          <p:cNvPr id="9" name="Text 7"/>
          <p:cNvSpPr/>
          <p:nvPr/>
        </p:nvSpPr>
        <p:spPr>
          <a:xfrm>
            <a:off x="4593987" y="2021839"/>
            <a:ext cx="3094065"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11823"/>
                </a:solidFill>
                <a:latin typeface="Space Grotesk" pitchFamily="34" charset="0"/>
                <a:ea typeface="Space Grotesk" pitchFamily="34" charset="-122"/>
                <a:cs typeface="Space Grotesk" pitchFamily="34" charset="-120"/>
              </a:rPr>
              <a:t>OpenCV</a:t>
            </a:r>
            <a:endParaRPr lang="en-US" sz="1600" dirty="0"/>
          </a:p>
        </p:txBody>
      </p:sp>
      <p:sp>
        <p:nvSpPr>
          <p:cNvPr id="10" name="Text 8"/>
          <p:cNvSpPr/>
          <p:nvPr/>
        </p:nvSpPr>
        <p:spPr>
          <a:xfrm>
            <a:off x="4593987" y="2316482"/>
            <a:ext cx="3094065"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Kamera, resim okuma, boyutlandırma, filtreler, kenar bulma. Neredeyse her projede var.</a:t>
            </a:r>
            <a:endParaRPr lang="en-US" sz="1200" dirty="0"/>
          </a:p>
        </p:txBody>
      </p:sp>
      <p:sp>
        <p:nvSpPr>
          <p:cNvPr id="11" name="Shape 9"/>
          <p:cNvSpPr/>
          <p:nvPr/>
        </p:nvSpPr>
        <p:spPr>
          <a:xfrm>
            <a:off x="7961789" y="1567814"/>
            <a:ext cx="3414157" cy="1593850"/>
          </a:xfrm>
          <a:prstGeom prst="roundRect">
            <a:avLst>
              <a:gd name="adj" fmla="val 6175"/>
            </a:avLst>
          </a:prstGeom>
          <a:solidFill>
            <a:srgbClr val="FBFAF7"/>
          </a:solidFill>
          <a:ln w="6350">
            <a:solidFill>
              <a:srgbClr val="E2DED5"/>
            </a:solidFill>
            <a:prstDash val="solid"/>
          </a:ln>
        </p:spPr>
      </p:sp>
      <p:sp>
        <p:nvSpPr>
          <p:cNvPr id="12" name="Text 10"/>
          <p:cNvSpPr/>
          <p:nvPr/>
        </p:nvSpPr>
        <p:spPr>
          <a:xfrm>
            <a:off x="8166894" y="1772921"/>
            <a:ext cx="3094065" cy="22352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5B6472"/>
                </a:solidFill>
                <a:latin typeface="IBM Plex Sans" pitchFamily="34" charset="0"/>
                <a:ea typeface="IBM Plex Sans" pitchFamily="34" charset="-122"/>
                <a:cs typeface="IBM Plex Sans" pitchFamily="34" charset="-120"/>
              </a:rPr>
              <a:t>Etiketleme</a:t>
            </a:r>
            <a:endParaRPr lang="en-US" sz="1200" dirty="0"/>
          </a:p>
        </p:txBody>
      </p:sp>
      <p:sp>
        <p:nvSpPr>
          <p:cNvPr id="13" name="Text 11"/>
          <p:cNvSpPr/>
          <p:nvPr/>
        </p:nvSpPr>
        <p:spPr>
          <a:xfrm>
            <a:off x="8166894" y="2021839"/>
            <a:ext cx="3094065"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11823"/>
                </a:solidFill>
                <a:latin typeface="Space Grotesk" pitchFamily="34" charset="0"/>
                <a:ea typeface="Space Grotesk" pitchFamily="34" charset="-122"/>
                <a:cs typeface="Space Grotesk" pitchFamily="34" charset="-120"/>
              </a:rPr>
              <a:t>CVAT, Roboflow</a:t>
            </a:r>
            <a:endParaRPr lang="en-US" sz="1600" dirty="0"/>
          </a:p>
        </p:txBody>
      </p:sp>
      <p:sp>
        <p:nvSpPr>
          <p:cNvPr id="14" name="Text 12"/>
          <p:cNvSpPr/>
          <p:nvPr/>
        </p:nvSpPr>
        <p:spPr>
          <a:xfrm>
            <a:off x="8166894" y="2316482"/>
            <a:ext cx="3094065"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Kutuları elle çizmek ve veri setini düzenlemek için. Label Studio da benzer.</a:t>
            </a:r>
            <a:endParaRPr lang="en-US" sz="1200" dirty="0"/>
          </a:p>
        </p:txBody>
      </p:sp>
      <p:sp>
        <p:nvSpPr>
          <p:cNvPr id="15" name="Shape 13"/>
          <p:cNvSpPr/>
          <p:nvPr/>
        </p:nvSpPr>
        <p:spPr>
          <a:xfrm>
            <a:off x="815975" y="3320414"/>
            <a:ext cx="3414157" cy="1380490"/>
          </a:xfrm>
          <a:prstGeom prst="roundRect">
            <a:avLst>
              <a:gd name="adj" fmla="val 7130"/>
            </a:avLst>
          </a:prstGeom>
          <a:solidFill>
            <a:srgbClr val="FBFAF7"/>
          </a:solidFill>
          <a:ln w="6350">
            <a:solidFill>
              <a:srgbClr val="E2DED5"/>
            </a:solidFill>
            <a:prstDash val="solid"/>
          </a:ln>
        </p:spPr>
      </p:sp>
      <p:sp>
        <p:nvSpPr>
          <p:cNvPr id="16" name="Text 14"/>
          <p:cNvSpPr/>
          <p:nvPr/>
        </p:nvSpPr>
        <p:spPr>
          <a:xfrm>
            <a:off x="1021080" y="3525521"/>
            <a:ext cx="3094065" cy="22352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5B6472"/>
                </a:solidFill>
                <a:latin typeface="IBM Plex Sans" pitchFamily="34" charset="0"/>
                <a:ea typeface="IBM Plex Sans" pitchFamily="34" charset="-122"/>
                <a:cs typeface="IBM Plex Sans" pitchFamily="34" charset="-120"/>
              </a:rPr>
              <a:t>Veri setleri</a:t>
            </a:r>
            <a:endParaRPr lang="en-US" sz="1200" dirty="0"/>
          </a:p>
        </p:txBody>
      </p:sp>
      <p:sp>
        <p:nvSpPr>
          <p:cNvPr id="17" name="Text 15"/>
          <p:cNvSpPr/>
          <p:nvPr/>
        </p:nvSpPr>
        <p:spPr>
          <a:xfrm>
            <a:off x="1021080" y="3774439"/>
            <a:ext cx="3094065"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11823"/>
                </a:solidFill>
                <a:latin typeface="Space Grotesk" pitchFamily="34" charset="0"/>
                <a:ea typeface="Space Grotesk" pitchFamily="34" charset="-122"/>
                <a:cs typeface="Space Grotesk" pitchFamily="34" charset="-120"/>
              </a:rPr>
              <a:t>COCO, VisDrone, HIT-UAV</a:t>
            </a:r>
            <a:endParaRPr lang="en-US" sz="1600" dirty="0"/>
          </a:p>
        </p:txBody>
      </p:sp>
      <p:sp>
        <p:nvSpPr>
          <p:cNvPr id="18" name="Text 16"/>
          <p:cNvSpPr/>
          <p:nvPr/>
        </p:nvSpPr>
        <p:spPr>
          <a:xfrm>
            <a:off x="1021080" y="4069079"/>
            <a:ext cx="3094065"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80 sınıflık genel set, drone görüntüleri ve termal drone görüntüleri.</a:t>
            </a:r>
            <a:endParaRPr lang="en-US" sz="1200" dirty="0"/>
          </a:p>
        </p:txBody>
      </p:sp>
      <p:sp>
        <p:nvSpPr>
          <p:cNvPr id="19" name="Shape 17"/>
          <p:cNvSpPr/>
          <p:nvPr/>
        </p:nvSpPr>
        <p:spPr>
          <a:xfrm>
            <a:off x="4388882" y="3320414"/>
            <a:ext cx="3414157" cy="1380490"/>
          </a:xfrm>
          <a:prstGeom prst="roundRect">
            <a:avLst>
              <a:gd name="adj" fmla="val 7130"/>
            </a:avLst>
          </a:prstGeom>
          <a:solidFill>
            <a:srgbClr val="FBFAF7"/>
          </a:solidFill>
          <a:ln w="6350">
            <a:solidFill>
              <a:srgbClr val="E2DED5"/>
            </a:solidFill>
            <a:prstDash val="solid"/>
          </a:ln>
        </p:spPr>
      </p:sp>
      <p:sp>
        <p:nvSpPr>
          <p:cNvPr id="20" name="Text 18"/>
          <p:cNvSpPr/>
          <p:nvPr/>
        </p:nvSpPr>
        <p:spPr>
          <a:xfrm>
            <a:off x="4593987" y="3525521"/>
            <a:ext cx="3094065" cy="22352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5B6472"/>
                </a:solidFill>
                <a:latin typeface="IBM Plex Sans" pitchFamily="34" charset="0"/>
                <a:ea typeface="IBM Plex Sans" pitchFamily="34" charset="-122"/>
                <a:cs typeface="IBM Plex Sans" pitchFamily="34" charset="-120"/>
              </a:rPr>
              <a:t>Ücretsiz GPU</a:t>
            </a:r>
            <a:endParaRPr lang="en-US" sz="1200" dirty="0"/>
          </a:p>
        </p:txBody>
      </p:sp>
      <p:sp>
        <p:nvSpPr>
          <p:cNvPr id="21" name="Text 19"/>
          <p:cNvSpPr/>
          <p:nvPr/>
        </p:nvSpPr>
        <p:spPr>
          <a:xfrm>
            <a:off x="4593987" y="3774439"/>
            <a:ext cx="3094065"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11823"/>
                </a:solidFill>
                <a:latin typeface="Space Grotesk" pitchFamily="34" charset="0"/>
                <a:ea typeface="Space Grotesk" pitchFamily="34" charset="-122"/>
                <a:cs typeface="Space Grotesk" pitchFamily="34" charset="-120"/>
              </a:rPr>
              <a:t>Google Colab, Kaggle</a:t>
            </a:r>
            <a:endParaRPr lang="en-US" sz="1600" dirty="0"/>
          </a:p>
        </p:txBody>
      </p:sp>
      <p:sp>
        <p:nvSpPr>
          <p:cNvPr id="22" name="Text 20"/>
          <p:cNvSpPr/>
          <p:nvPr/>
        </p:nvSpPr>
        <p:spPr>
          <a:xfrm>
            <a:off x="4593987" y="4069079"/>
            <a:ext cx="3094065"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Bilgisayarın yetmediğinde modeli bulutta eğitmek için.</a:t>
            </a:r>
            <a:endParaRPr lang="en-US" sz="1200" dirty="0"/>
          </a:p>
        </p:txBody>
      </p:sp>
      <p:sp>
        <p:nvSpPr>
          <p:cNvPr id="23" name="Shape 21"/>
          <p:cNvSpPr/>
          <p:nvPr/>
        </p:nvSpPr>
        <p:spPr>
          <a:xfrm>
            <a:off x="7961789" y="3320414"/>
            <a:ext cx="3414157" cy="1380490"/>
          </a:xfrm>
          <a:prstGeom prst="roundRect">
            <a:avLst>
              <a:gd name="adj" fmla="val 7130"/>
            </a:avLst>
          </a:prstGeom>
          <a:solidFill>
            <a:srgbClr val="FBFAF7"/>
          </a:solidFill>
          <a:ln w="6350">
            <a:solidFill>
              <a:srgbClr val="E2DED5"/>
            </a:solidFill>
            <a:prstDash val="solid"/>
          </a:ln>
        </p:spPr>
      </p:sp>
      <p:sp>
        <p:nvSpPr>
          <p:cNvPr id="24" name="Text 22"/>
          <p:cNvSpPr/>
          <p:nvPr/>
        </p:nvSpPr>
        <p:spPr>
          <a:xfrm>
            <a:off x="8166894" y="3525521"/>
            <a:ext cx="3094065" cy="22352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5B6472"/>
                </a:solidFill>
                <a:latin typeface="IBM Plex Sans" pitchFamily="34" charset="0"/>
                <a:ea typeface="IBM Plex Sans" pitchFamily="34" charset="-122"/>
                <a:cs typeface="IBM Plex Sans" pitchFamily="34" charset="-120"/>
              </a:rPr>
              <a:t>Küçük nesneler</a:t>
            </a:r>
            <a:endParaRPr lang="en-US" sz="1200" dirty="0"/>
          </a:p>
        </p:txBody>
      </p:sp>
      <p:sp>
        <p:nvSpPr>
          <p:cNvPr id="25" name="Text 23"/>
          <p:cNvSpPr/>
          <p:nvPr/>
        </p:nvSpPr>
        <p:spPr>
          <a:xfrm>
            <a:off x="8166894" y="3774439"/>
            <a:ext cx="3094065"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11823"/>
                </a:solidFill>
                <a:latin typeface="Space Grotesk" pitchFamily="34" charset="0"/>
                <a:ea typeface="Space Grotesk" pitchFamily="34" charset="-122"/>
                <a:cs typeface="Space Grotesk" pitchFamily="34" charset="-120"/>
              </a:rPr>
              <a:t>SAHI</a:t>
            </a:r>
            <a:endParaRPr lang="en-US" sz="1600" dirty="0"/>
          </a:p>
        </p:txBody>
      </p:sp>
      <p:sp>
        <p:nvSpPr>
          <p:cNvPr id="26" name="Text 24"/>
          <p:cNvSpPr/>
          <p:nvPr/>
        </p:nvSpPr>
        <p:spPr>
          <a:xfrm>
            <a:off x="8166894" y="4069079"/>
            <a:ext cx="3094065"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Büyük görüntüyü dilimleyerek tarar. Birazdan göreceğiz.</a:t>
            </a:r>
            <a:endParaRPr lang="en-US" sz="1200" dirty="0"/>
          </a:p>
        </p:txBody>
      </p:sp>
      <p:sp>
        <p:nvSpPr>
          <p:cNvPr id="27" name="Text 25"/>
          <p:cNvSpPr/>
          <p:nvPr/>
        </p:nvSpPr>
        <p:spPr>
          <a:xfrm>
            <a:off x="812800" y="6238242"/>
            <a:ext cx="71945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IBM Plex Sans" pitchFamily="34" charset="0"/>
                <a:ea typeface="IBM Plex Sans" pitchFamily="34" charset="-122"/>
                <a:cs typeface="IBM Plex Sans" pitchFamily="34" charset="-120"/>
              </a:rPr>
              <a:t>Gökyüzünden nesne bulmak · SKY LAB Akademi</a:t>
            </a:r>
            <a:endParaRPr lang="en-US" sz="1200" dirty="0"/>
          </a:p>
        </p:txBody>
      </p:sp>
      <p:sp>
        <p:nvSpPr>
          <p:cNvPr id="28" name="Text 26"/>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2"/>
                </a:solidFill>
                <a:latin typeface="IBM Plex Mono" pitchFamily="49" charset="0"/>
                <a:ea typeface="IBM Plex Mono" pitchFamily="49" charset="-122"/>
                <a:cs typeface="IBM Plex Mono" pitchFamily="49"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3F1E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111823"/>
                </a:solidFill>
                <a:latin typeface="Space Grotesk" pitchFamily="34" charset="0"/>
                <a:ea typeface="Space Grotesk" pitchFamily="34" charset="-122"/>
                <a:cs typeface="Space Grotesk" pitchFamily="34" charset="-120"/>
              </a:rPr>
              <a:t>YOLO: You Only Look Once, tek bakış</a:t>
            </a:r>
            <a:endParaRPr lang="en-US" sz="3200" dirty="0"/>
          </a:p>
        </p:txBody>
      </p:sp>
      <p:pic>
        <p:nvPicPr>
          <p:cNvPr id="3" name="Image 0" descr="640 piksellik bir dilim üzerine çizilmiş 20'ye 20 ızgara; bir insanın merkezinin düştüğü hücre turuncu, insanın etrafında turuncu kutu">    </p:cNvPr>
          <p:cNvPicPr>
            <a:picLocks noChangeAspect="1"/>
          </p:cNvPicPr>
          <p:nvPr/>
        </p:nvPicPr>
        <p:blipFill>
          <a:blip r:embed="rId1"/>
          <a:srcRect l="0" r="0" t="0" b="0"/>
          <a:stretch/>
        </p:blipFill>
        <p:spPr>
          <a:xfrm>
            <a:off x="812800" y="1564642"/>
            <a:ext cx="3302000" cy="3302000"/>
          </a:xfrm>
          <a:prstGeom prst="roundRect">
            <a:avLst>
              <a:gd name="adj" fmla="val 2308"/>
            </a:avLst>
          </a:prstGeom>
        </p:spPr>
      </p:pic>
      <p:sp>
        <p:nvSpPr>
          <p:cNvPr id="4" name="Text 1"/>
          <p:cNvSpPr/>
          <p:nvPr/>
        </p:nvSpPr>
        <p:spPr>
          <a:xfrm>
            <a:off x="812800" y="4930142"/>
            <a:ext cx="340106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Izgara: turuncu hücre bu insandan sorumlu.</a:t>
            </a:r>
            <a:endParaRPr lang="en-US" sz="1200" dirty="0"/>
          </a:p>
        </p:txBody>
      </p:sp>
      <p:pic>
        <p:nvPicPr>
          <p:cNvPr id="5" name="Image 1" descr="Aynı dilimin ısı haritası: insanın olduğu hücreler sarı yanıyor, beyaz bir nesne pembe, geri kalan her yer koyu">    </p:cNvPr>
          <p:cNvPicPr>
            <a:picLocks noChangeAspect="1"/>
          </p:cNvPicPr>
          <p:nvPr/>
        </p:nvPicPr>
        <p:blipFill>
          <a:blip r:embed="rId2"/>
          <a:srcRect l="0" r="0" t="0" b="0"/>
          <a:stretch/>
        </p:blipFill>
        <p:spPr>
          <a:xfrm>
            <a:off x="4292600" y="1564642"/>
            <a:ext cx="3302000" cy="3302000"/>
          </a:xfrm>
          <a:prstGeom prst="roundRect">
            <a:avLst>
              <a:gd name="adj" fmla="val 2308"/>
            </a:avLst>
          </a:prstGeom>
        </p:spPr>
      </p:pic>
      <p:sp>
        <p:nvSpPr>
          <p:cNvPr id="6" name="Text 2"/>
          <p:cNvSpPr/>
          <p:nvPr/>
        </p:nvSpPr>
        <p:spPr>
          <a:xfrm>
            <a:off x="4292600" y="4930142"/>
            <a:ext cx="340106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8.400 hücrenin “insan” puanı. Sarı: yüksek.</a:t>
            </a:r>
            <a:endParaRPr lang="en-US" sz="1200" dirty="0"/>
          </a:p>
        </p:txBody>
      </p:sp>
      <p:sp>
        <p:nvSpPr>
          <p:cNvPr id="7" name="Text 3"/>
          <p:cNvSpPr/>
          <p:nvPr/>
        </p:nvSpPr>
        <p:spPr>
          <a:xfrm>
            <a:off x="7772400" y="1564642"/>
            <a:ext cx="279400" cy="71882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9A5800"/>
                </a:solidFill>
                <a:latin typeface="IBM Plex Mono" pitchFamily="49" charset="0"/>
                <a:ea typeface="IBM Plex Mono" pitchFamily="49" charset="-122"/>
                <a:cs typeface="IBM Plex Mono" pitchFamily="49" charset="-120"/>
              </a:rPr>
              <a:t>1</a:t>
            </a:r>
            <a:endParaRPr lang="en-US" sz="1500" dirty="0"/>
          </a:p>
        </p:txBody>
      </p:sp>
      <p:sp>
        <p:nvSpPr>
          <p:cNvPr id="8" name="Text 4"/>
          <p:cNvSpPr/>
          <p:nvPr/>
        </p:nvSpPr>
        <p:spPr>
          <a:xfrm>
            <a:off x="8102600" y="1564642"/>
            <a:ext cx="3374898"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11823"/>
                </a:solidFill>
                <a:latin typeface="IBM Plex Sans" pitchFamily="34" charset="0"/>
                <a:ea typeface="IBM Plex Sans" pitchFamily="34" charset="-122"/>
                <a:cs typeface="IBM Plex Sans" pitchFamily="34" charset="-120"/>
              </a:rPr>
              <a:t>Görüntü ızgaralara bölünür. 640 piksellik girişte üç ızgara var: 80×80, 40×40 ve 20×20; küçük, orta ve büyük nesneler için.</a:t>
            </a:r>
            <a:endParaRPr lang="en-US" sz="1300" dirty="0"/>
          </a:p>
        </p:txBody>
      </p:sp>
      <p:sp>
        <p:nvSpPr>
          <p:cNvPr id="9" name="Text 5"/>
          <p:cNvSpPr/>
          <p:nvPr/>
        </p:nvSpPr>
        <p:spPr>
          <a:xfrm>
            <a:off x="7772400" y="2410464"/>
            <a:ext cx="279400" cy="71882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9A5800"/>
                </a:solidFill>
                <a:latin typeface="IBM Plex Mono" pitchFamily="49" charset="0"/>
                <a:ea typeface="IBM Plex Mono" pitchFamily="49" charset="-122"/>
                <a:cs typeface="IBM Plex Mono" pitchFamily="49" charset="-120"/>
              </a:rPr>
              <a:t>2</a:t>
            </a:r>
            <a:endParaRPr lang="en-US" sz="1500" dirty="0"/>
          </a:p>
        </p:txBody>
      </p:sp>
      <p:sp>
        <p:nvSpPr>
          <p:cNvPr id="10" name="Text 6"/>
          <p:cNvSpPr/>
          <p:nvPr/>
        </p:nvSpPr>
        <p:spPr>
          <a:xfrm>
            <a:off x="8102600" y="2410464"/>
            <a:ext cx="3374898"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11823"/>
                </a:solidFill>
                <a:latin typeface="IBM Plex Sans" pitchFamily="34" charset="0"/>
                <a:ea typeface="IBM Plex Sans" pitchFamily="34" charset="-122"/>
                <a:cs typeface="IBM Plex Sans" pitchFamily="34" charset="-120"/>
              </a:rPr>
              <a:t>Her hücre, merkezi içine düşen nesne için bir kutu, bir sınıf ve bir güven skoru tahmin eder: toplam 8.400 tahmin.</a:t>
            </a:r>
            <a:endParaRPr lang="en-US" sz="1300" dirty="0"/>
          </a:p>
        </p:txBody>
      </p:sp>
      <p:sp>
        <p:nvSpPr>
          <p:cNvPr id="11" name="Text 7"/>
          <p:cNvSpPr/>
          <p:nvPr/>
        </p:nvSpPr>
        <p:spPr>
          <a:xfrm>
            <a:off x="7772400" y="3256279"/>
            <a:ext cx="279400" cy="48768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9A5800"/>
                </a:solidFill>
                <a:latin typeface="IBM Plex Mono" pitchFamily="49" charset="0"/>
                <a:ea typeface="IBM Plex Mono" pitchFamily="49" charset="-122"/>
                <a:cs typeface="IBM Plex Mono" pitchFamily="49" charset="-120"/>
              </a:rPr>
              <a:t>3</a:t>
            </a:r>
            <a:endParaRPr lang="en-US" sz="1500" dirty="0"/>
          </a:p>
        </p:txBody>
      </p:sp>
      <p:sp>
        <p:nvSpPr>
          <p:cNvPr id="12" name="Text 8"/>
          <p:cNvSpPr/>
          <p:nvPr/>
        </p:nvSpPr>
        <p:spPr>
          <a:xfrm>
            <a:off x="8102600" y="3256279"/>
            <a:ext cx="3374898"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11823"/>
                </a:solidFill>
                <a:latin typeface="IBM Plex Sans" pitchFamily="34" charset="0"/>
                <a:ea typeface="IBM Plex Sans" pitchFamily="34" charset="-122"/>
                <a:cs typeface="IBM Plex Sans" pitchFamily="34" charset="-120"/>
              </a:rPr>
              <a:t>Hepsi ağdan tek geçişte çıkar. Ardından NMS, aynı nesneye düşen kutuları temizler.</a:t>
            </a:r>
            <a:endParaRPr lang="en-US" sz="1300" dirty="0"/>
          </a:p>
        </p:txBody>
      </p:sp>
      <p:sp>
        <p:nvSpPr>
          <p:cNvPr id="13" name="Text 9"/>
          <p:cNvSpPr/>
          <p:nvPr/>
        </p:nvSpPr>
        <p:spPr>
          <a:xfrm>
            <a:off x="812800" y="6238242"/>
            <a:ext cx="71945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IBM Plex Sans" pitchFamily="34" charset="0"/>
                <a:ea typeface="IBM Plex Sans" pitchFamily="34" charset="-122"/>
                <a:cs typeface="IBM Plex Sans" pitchFamily="34" charset="-120"/>
              </a:rPr>
              <a:t>Gökyüzünden nesne bulmak · SKY LAB Akademi</a:t>
            </a:r>
            <a:endParaRPr lang="en-US" sz="1200" dirty="0"/>
          </a:p>
        </p:txBody>
      </p:sp>
      <p:sp>
        <p:nvSpPr>
          <p:cNvPr id="14" name="Text 10"/>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2"/>
                </a:solidFill>
                <a:latin typeface="IBM Plex Mono" pitchFamily="49" charset="0"/>
                <a:ea typeface="IBM Plex Mono" pitchFamily="49" charset="-122"/>
                <a:cs typeface="IBM Plex Mono" pitchFamily="49" charset="-120"/>
              </a:rPr>
              <a:t>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3F1E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111823"/>
                </a:solidFill>
                <a:latin typeface="Space Grotesk" pitchFamily="34" charset="0"/>
                <a:ea typeface="Space Grotesk" pitchFamily="34" charset="-122"/>
                <a:cs typeface="Space Grotesk" pitchFamily="34" charset="-120"/>
              </a:rPr>
              <a:t>Hızlı, kolay ve her yerde çalışıyor</a:t>
            </a:r>
            <a:endParaRPr lang="en-US" sz="3200" dirty="0"/>
          </a:p>
        </p:txBody>
      </p:sp>
      <p:sp>
        <p:nvSpPr>
          <p:cNvPr id="3" name="Shape 1"/>
          <p:cNvSpPr/>
          <p:nvPr/>
        </p:nvSpPr>
        <p:spPr>
          <a:xfrm>
            <a:off x="815975" y="1567817"/>
            <a:ext cx="5200650" cy="1631950"/>
          </a:xfrm>
          <a:prstGeom prst="roundRect">
            <a:avLst>
              <a:gd name="adj" fmla="val 6031"/>
            </a:avLst>
          </a:prstGeom>
          <a:solidFill>
            <a:srgbClr val="FBFAF7"/>
          </a:solidFill>
          <a:ln w="6350">
            <a:solidFill>
              <a:srgbClr val="E2DED5"/>
            </a:solidFill>
            <a:prstDash val="solid"/>
          </a:ln>
        </p:spPr>
      </p:sp>
      <p:sp>
        <p:nvSpPr>
          <p:cNvPr id="4" name="Text 2"/>
          <p:cNvSpPr/>
          <p:nvPr/>
        </p:nvSpPr>
        <p:spPr>
          <a:xfrm>
            <a:off x="1071880" y="1823721"/>
            <a:ext cx="4829505"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11823"/>
                </a:solidFill>
                <a:latin typeface="Space Grotesk" pitchFamily="34" charset="0"/>
                <a:ea typeface="Space Grotesk" pitchFamily="34" charset="-122"/>
                <a:cs typeface="Space Grotesk" pitchFamily="34" charset="-120"/>
              </a:rPr>
              <a:t>Tek bakış</a:t>
            </a:r>
            <a:endParaRPr lang="en-US" sz="1600" dirty="0"/>
          </a:p>
        </p:txBody>
      </p:sp>
      <p:sp>
        <p:nvSpPr>
          <p:cNvPr id="5" name="Text 3"/>
          <p:cNvSpPr/>
          <p:nvPr/>
        </p:nvSpPr>
        <p:spPr>
          <a:xfrm>
            <a:off x="1071880" y="2143764"/>
            <a:ext cx="4829505"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11823"/>
                </a:solidFill>
                <a:latin typeface="IBM Plex Sans" pitchFamily="34" charset="0"/>
                <a:ea typeface="IBM Plex Sans" pitchFamily="34" charset="-122"/>
                <a:cs typeface="IBM Plex Sans" pitchFamily="34" charset="-120"/>
              </a:rPr>
              <a:t>R-CNN aday bölgeleri tek tek inceliyordu. YOLO bütün görüntüye bir kez bakar; iş tek adımda biter.</a:t>
            </a:r>
            <a:endParaRPr lang="en-US" sz="1500" dirty="0"/>
          </a:p>
        </p:txBody>
      </p:sp>
      <p:sp>
        <p:nvSpPr>
          <p:cNvPr id="6" name="Shape 4"/>
          <p:cNvSpPr/>
          <p:nvPr/>
        </p:nvSpPr>
        <p:spPr>
          <a:xfrm>
            <a:off x="6175375" y="1567817"/>
            <a:ext cx="5200650" cy="1631950"/>
          </a:xfrm>
          <a:prstGeom prst="roundRect">
            <a:avLst>
              <a:gd name="adj" fmla="val 6031"/>
            </a:avLst>
          </a:prstGeom>
          <a:solidFill>
            <a:srgbClr val="FBFAF7"/>
          </a:solidFill>
          <a:ln w="6350">
            <a:solidFill>
              <a:srgbClr val="E2DED5"/>
            </a:solidFill>
            <a:prstDash val="solid"/>
          </a:ln>
        </p:spPr>
      </p:sp>
      <p:sp>
        <p:nvSpPr>
          <p:cNvPr id="7" name="Text 5"/>
          <p:cNvSpPr/>
          <p:nvPr/>
        </p:nvSpPr>
        <p:spPr>
          <a:xfrm>
            <a:off x="6431280" y="1823721"/>
            <a:ext cx="4829505"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11823"/>
                </a:solidFill>
                <a:latin typeface="Space Grotesk" pitchFamily="34" charset="0"/>
                <a:ea typeface="Space Grotesk" pitchFamily="34" charset="-122"/>
                <a:cs typeface="Space Grotesk" pitchFamily="34" charset="-120"/>
              </a:rPr>
              <a:t>Gerçek zamanlı</a:t>
            </a:r>
            <a:endParaRPr lang="en-US" sz="1600" dirty="0"/>
          </a:p>
        </p:txBody>
      </p:sp>
      <p:sp>
        <p:nvSpPr>
          <p:cNvPr id="8" name="Text 6"/>
          <p:cNvSpPr/>
          <p:nvPr/>
        </p:nvSpPr>
        <p:spPr>
          <a:xfrm>
            <a:off x="6431280" y="2143764"/>
            <a:ext cx="4829505"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11823"/>
                </a:solidFill>
                <a:latin typeface="IBM Plex Sans" pitchFamily="34" charset="0"/>
                <a:ea typeface="IBM Plex Sans" pitchFamily="34" charset="-122"/>
                <a:cs typeface="IBM Plex Sans" pitchFamily="34" charset="-120"/>
              </a:rPr>
              <a:t>İlk YOLO saniyede 45 kare işledi. Birazdan göreceğiniz demo bu dizüstünün ekran kartında bir kareyi yaklaşık 14 milisaniyede işliyor.</a:t>
            </a:r>
            <a:endParaRPr lang="en-US" sz="1500" dirty="0"/>
          </a:p>
        </p:txBody>
      </p:sp>
      <p:sp>
        <p:nvSpPr>
          <p:cNvPr id="9" name="Shape 7"/>
          <p:cNvSpPr/>
          <p:nvPr/>
        </p:nvSpPr>
        <p:spPr>
          <a:xfrm>
            <a:off x="815975" y="3358517"/>
            <a:ext cx="5200650" cy="2010410"/>
          </a:xfrm>
          <a:prstGeom prst="roundRect">
            <a:avLst>
              <a:gd name="adj" fmla="val 4896"/>
            </a:avLst>
          </a:prstGeom>
          <a:solidFill>
            <a:srgbClr val="FBFAF7"/>
          </a:solidFill>
          <a:ln w="6350">
            <a:solidFill>
              <a:srgbClr val="E2DED5"/>
            </a:solidFill>
            <a:prstDash val="solid"/>
          </a:ln>
        </p:spPr>
      </p:sp>
      <p:sp>
        <p:nvSpPr>
          <p:cNvPr id="10" name="Text 8"/>
          <p:cNvSpPr/>
          <p:nvPr/>
        </p:nvSpPr>
        <p:spPr>
          <a:xfrm>
            <a:off x="1071880" y="3614421"/>
            <a:ext cx="4829505"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11823"/>
                </a:solidFill>
                <a:latin typeface="Space Grotesk" pitchFamily="34" charset="0"/>
                <a:ea typeface="Space Grotesk" pitchFamily="34" charset="-122"/>
                <a:cs typeface="Space Grotesk" pitchFamily="34" charset="-120"/>
              </a:rPr>
              <a:t>Kolay kullanım</a:t>
            </a:r>
            <a:endParaRPr lang="en-US" sz="1600" dirty="0"/>
          </a:p>
        </p:txBody>
      </p:sp>
      <p:sp>
        <p:nvSpPr>
          <p:cNvPr id="11" name="Text 9"/>
          <p:cNvSpPr/>
          <p:nvPr/>
        </p:nvSpPr>
        <p:spPr>
          <a:xfrm>
            <a:off x="1071880" y="3934464"/>
            <a:ext cx="4688840" cy="889000"/>
          </a:xfrm>
          <a:prstGeom prst="roundRect">
            <a:avLst>
              <a:gd name="adj" fmla="val 7143"/>
            </a:avLst>
          </a:prstGeom>
          <a:solidFill>
            <a:srgbClr val="ECE8E0"/>
          </a:solidFill>
          <a:ln/>
        </p:spPr>
        <p:txBody>
          <a:bodyPr wrap="square" lIns="108401" tIns="83001" rIns="0" bIns="57601" rtlCol="0" anchor="t">
            <a:normAutofit/>
          </a:bodyPr>
          <a:lstStyle/>
          <a:p>
            <a:pPr algn="l" indent="0" marL="0">
              <a:lnSpc>
                <a:spcPts val="1800"/>
              </a:lnSpc>
              <a:buNone/>
            </a:pPr>
            <a:r>
              <a:rPr lang="en-US" sz="1200" dirty="0">
                <a:solidFill>
                  <a:srgbClr val="111823"/>
                </a:solidFill>
                <a:latin typeface="IBM Plex Mono" pitchFamily="49" charset="0"/>
                <a:ea typeface="IBM Plex Mono" pitchFamily="49" charset="-122"/>
                <a:cs typeface="IBM Plex Mono" pitchFamily="49" charset="-120"/>
              </a:rPr>
              <a:t>from ultralytics import YOLO</a:t>
            </a:r>
            <a:endParaRPr lang="en-US" sz="1200" dirty="0"/>
          </a:p>
          <a:p>
            <a:pPr algn="l" indent="0" marL="0">
              <a:lnSpc>
                <a:spcPts val="1800"/>
              </a:lnSpc>
              <a:buNone/>
            </a:pPr>
            <a:r>
              <a:rPr lang="en-US" sz="1200" dirty="0">
                <a:solidFill>
                  <a:srgbClr val="111823"/>
                </a:solidFill>
                <a:latin typeface="IBM Plex Mono" pitchFamily="49" charset="0"/>
                <a:ea typeface="IBM Plex Mono" pitchFamily="49" charset="-122"/>
                <a:cs typeface="IBM Plex Mono" pitchFamily="49" charset="-120"/>
              </a:rPr>
              <a:t>model = YOLO("yolo26n.pt")</a:t>
            </a:r>
            <a:endParaRPr lang="en-US" sz="1200" dirty="0"/>
          </a:p>
          <a:p>
            <a:pPr algn="l" indent="0" marL="0">
              <a:lnSpc>
                <a:spcPts val="1800"/>
              </a:lnSpc>
              <a:buNone/>
            </a:pPr>
            <a:r>
              <a:rPr lang="en-US" sz="1200" dirty="0">
                <a:solidFill>
                  <a:srgbClr val="111823"/>
                </a:solidFill>
                <a:latin typeface="IBM Plex Mono" pitchFamily="49" charset="0"/>
                <a:ea typeface="IBM Plex Mono" pitchFamily="49" charset="-122"/>
                <a:cs typeface="IBM Plex Mono" pitchFamily="49" charset="-120"/>
              </a:rPr>
              <a:t>model("foto.jpg")</a:t>
            </a:r>
            <a:endParaRPr lang="en-US" sz="1200" dirty="0"/>
          </a:p>
        </p:txBody>
      </p:sp>
      <p:sp>
        <p:nvSpPr>
          <p:cNvPr id="12" name="Text 10"/>
          <p:cNvSpPr/>
          <p:nvPr/>
        </p:nvSpPr>
        <p:spPr>
          <a:xfrm>
            <a:off x="1071880" y="4899664"/>
            <a:ext cx="482950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Üç satırla çalışır. Kendi verinle eğitmek de tek komut.</a:t>
            </a:r>
            <a:endParaRPr lang="en-US" sz="1200" dirty="0"/>
          </a:p>
        </p:txBody>
      </p:sp>
      <p:sp>
        <p:nvSpPr>
          <p:cNvPr id="13" name="Shape 11"/>
          <p:cNvSpPr/>
          <p:nvPr/>
        </p:nvSpPr>
        <p:spPr>
          <a:xfrm>
            <a:off x="6175375" y="3358517"/>
            <a:ext cx="5200650" cy="2010410"/>
          </a:xfrm>
          <a:prstGeom prst="roundRect">
            <a:avLst>
              <a:gd name="adj" fmla="val 4896"/>
            </a:avLst>
          </a:prstGeom>
          <a:solidFill>
            <a:srgbClr val="FBFAF7"/>
          </a:solidFill>
          <a:ln w="6350">
            <a:solidFill>
              <a:srgbClr val="E2DED5"/>
            </a:solidFill>
            <a:prstDash val="solid"/>
          </a:ln>
        </p:spPr>
      </p:sp>
      <p:sp>
        <p:nvSpPr>
          <p:cNvPr id="14" name="Text 12"/>
          <p:cNvSpPr/>
          <p:nvPr/>
        </p:nvSpPr>
        <p:spPr>
          <a:xfrm>
            <a:off x="6431280" y="3614421"/>
            <a:ext cx="4829505"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11823"/>
                </a:solidFill>
                <a:latin typeface="Space Grotesk" pitchFamily="34" charset="0"/>
                <a:ea typeface="Space Grotesk" pitchFamily="34" charset="-122"/>
                <a:cs typeface="Space Grotesk" pitchFamily="34" charset="-120"/>
              </a:rPr>
              <a:t>Boy seçenekleri</a:t>
            </a:r>
            <a:endParaRPr lang="en-US" sz="1600" dirty="0"/>
          </a:p>
        </p:txBody>
      </p:sp>
      <p:sp>
        <p:nvSpPr>
          <p:cNvPr id="15" name="Text 13"/>
          <p:cNvSpPr/>
          <p:nvPr/>
        </p:nvSpPr>
        <p:spPr>
          <a:xfrm>
            <a:off x="6431280" y="3934464"/>
            <a:ext cx="4829505"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11823"/>
                </a:solidFill>
                <a:latin typeface="IBM Plex Sans" pitchFamily="34" charset="0"/>
                <a:ea typeface="IBM Plex Sans" pitchFamily="34" charset="-122"/>
                <a:cs typeface="IBM Plex Sans" pitchFamily="34" charset="-120"/>
              </a:rPr>
              <a:t>n, s, m, l, x: küçük model hızlı, büyük model daha doğru. Telefona da sunucuya da uyan bir boy var.</a:t>
            </a:r>
            <a:endParaRPr lang="en-US" sz="1500" dirty="0"/>
          </a:p>
        </p:txBody>
      </p:sp>
      <p:sp>
        <p:nvSpPr>
          <p:cNvPr id="16" name="Text 14"/>
          <p:cNvSpPr/>
          <p:nvPr/>
        </p:nvSpPr>
        <p:spPr>
          <a:xfrm>
            <a:off x="812800" y="6238242"/>
            <a:ext cx="71945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IBM Plex Sans" pitchFamily="34" charset="0"/>
                <a:ea typeface="IBM Plex Sans" pitchFamily="34" charset="-122"/>
                <a:cs typeface="IBM Plex Sans" pitchFamily="34" charset="-120"/>
              </a:rPr>
              <a:t>Gökyüzünden nesne bulmak · SKY LAB Akademi</a:t>
            </a:r>
            <a:endParaRPr lang="en-US" sz="1200" dirty="0"/>
          </a:p>
        </p:txBody>
      </p:sp>
      <p:sp>
        <p:nvSpPr>
          <p:cNvPr id="17" name="Text 15"/>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2"/>
                </a:solidFill>
                <a:latin typeface="IBM Plex Mono" pitchFamily="49" charset="0"/>
                <a:ea typeface="IBM Plex Mono" pitchFamily="49" charset="-122"/>
                <a:cs typeface="IBM Plex Mono" pitchFamily="49"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3F1E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111823"/>
                </a:solidFill>
                <a:latin typeface="Space Grotesk" pitchFamily="34" charset="0"/>
                <a:ea typeface="Space Grotesk" pitchFamily="34" charset="-122"/>
                <a:cs typeface="Space Grotesk" pitchFamily="34" charset="-120"/>
              </a:rPr>
              <a:t>NMS: aynı araca 10 kutu, hangisini tutalım?</a:t>
            </a:r>
            <a:endParaRPr lang="en-US" sz="3200" dirty="0"/>
          </a:p>
        </p:txBody>
      </p:sp>
      <p:sp>
        <p:nvSpPr>
          <p:cNvPr id="3" name="Text 1"/>
          <p:cNvSpPr/>
          <p:nvPr/>
        </p:nvSpPr>
        <p:spPr>
          <a:xfrm>
            <a:off x="1473200" y="1564642"/>
            <a:ext cx="4185920" cy="22352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5B6472"/>
                </a:solidFill>
                <a:latin typeface="IBM Plex Sans" pitchFamily="34" charset="0"/>
                <a:ea typeface="IBM Plex Sans" pitchFamily="34" charset="-122"/>
                <a:cs typeface="IBM Plex Sans" pitchFamily="34" charset="-120"/>
              </a:rPr>
              <a:t>NMS öncesi: ham adaylar</a:t>
            </a:r>
            <a:endParaRPr lang="en-US" sz="1200" dirty="0"/>
          </a:p>
        </p:txBody>
      </p:sp>
      <p:pic>
        <p:nvPicPr>
          <p:cNvPr id="4" name="Image 0" descr="Aynı aracın etrafında neredeyse üst üste binmiş on turuncu kutu; köşede 10 kutu yazıyor">    </p:cNvPr>
          <p:cNvPicPr>
            <a:picLocks noChangeAspect="1"/>
          </p:cNvPicPr>
          <p:nvPr/>
        </p:nvPicPr>
        <p:blipFill>
          <a:blip r:embed="rId1"/>
          <a:srcRect l="0" r="0" t="0" b="0"/>
          <a:stretch/>
        </p:blipFill>
        <p:spPr>
          <a:xfrm>
            <a:off x="1473200" y="1838964"/>
            <a:ext cx="4064000" cy="3048000"/>
          </a:xfrm>
          <a:prstGeom prst="roundRect">
            <a:avLst>
              <a:gd name="adj" fmla="val 3333"/>
            </a:avLst>
          </a:prstGeom>
        </p:spPr>
      </p:pic>
      <p:pic>
        <p:nvPicPr>
          <p:cNvPr id="5" name="Image 1" descr="connector">    </p:cNvPr>
          <p:cNvPicPr>
            <a:picLocks noChangeAspect="1"/>
          </p:cNvPicPr>
          <p:nvPr/>
        </p:nvPicPr>
        <p:blipFill>
          <a:blip r:embed="rId2"/>
          <a:srcRect l="0" r="0" t="0" b="0"/>
          <a:stretch/>
        </p:blipFill>
        <p:spPr>
          <a:xfrm>
            <a:off x="5791200" y="3162300"/>
            <a:ext cx="609600" cy="127000"/>
          </a:xfrm>
          <a:prstGeom prst="rect">
            <a:avLst/>
          </a:prstGeom>
        </p:spPr>
      </p:pic>
      <p:sp>
        <p:nvSpPr>
          <p:cNvPr id="6" name="Text 2"/>
          <p:cNvSpPr/>
          <p:nvPr/>
        </p:nvSpPr>
        <p:spPr>
          <a:xfrm>
            <a:off x="6654800" y="1564642"/>
            <a:ext cx="4185920" cy="22352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5B6472"/>
                </a:solidFill>
                <a:latin typeface="IBM Plex Sans" pitchFamily="34" charset="0"/>
                <a:ea typeface="IBM Plex Sans" pitchFamily="34" charset="-122"/>
                <a:cs typeface="IBM Plex Sans" pitchFamily="34" charset="-120"/>
              </a:rPr>
              <a:t>NMS sonrası</a:t>
            </a:r>
            <a:endParaRPr lang="en-US" sz="1200" dirty="0"/>
          </a:p>
        </p:txBody>
      </p:sp>
      <p:pic>
        <p:nvPicPr>
          <p:cNvPr id="7" name="Image 2" descr="Aynı araç, etrafında tek bir kutu ve araç 0,53 etiketi; köşede 1 kutu yazıyor">    </p:cNvPr>
          <p:cNvPicPr>
            <a:picLocks noChangeAspect="1"/>
          </p:cNvPicPr>
          <p:nvPr/>
        </p:nvPicPr>
        <p:blipFill>
          <a:blip r:embed="rId3"/>
          <a:srcRect l="0" r="0" t="0" b="0"/>
          <a:stretch/>
        </p:blipFill>
        <p:spPr>
          <a:xfrm>
            <a:off x="6654800" y="1838964"/>
            <a:ext cx="4064000" cy="3048000"/>
          </a:xfrm>
          <a:prstGeom prst="roundRect">
            <a:avLst>
              <a:gd name="adj" fmla="val 3333"/>
            </a:avLst>
          </a:prstGeom>
        </p:spPr>
      </p:pic>
      <p:sp>
        <p:nvSpPr>
          <p:cNvPr id="8" name="Text 3"/>
          <p:cNvSpPr/>
          <p:nvPr/>
        </p:nvSpPr>
        <p:spPr>
          <a:xfrm>
            <a:off x="812800" y="5191764"/>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11823"/>
                </a:solidFill>
                <a:latin typeface="IBM Plex Sans" pitchFamily="34" charset="0"/>
                <a:ea typeface="IBM Plex Sans" pitchFamily="34" charset="-122"/>
                <a:cs typeface="IBM Plex Sans" pitchFamily="34" charset="-120"/>
              </a:rPr>
              <a:t>Kural:</a:t>
            </a:r>
            <a:r>
              <a:rPr lang="en-US" sz="1500" dirty="0">
                <a:solidFill>
                  <a:srgbClr val="111823"/>
                </a:solidFill>
                <a:latin typeface="IBM Plex Sans" pitchFamily="34" charset="0"/>
                <a:ea typeface="IBM Plex Sans" pitchFamily="34" charset="-122"/>
                <a:cs typeface="IBM Plex Sans" pitchFamily="34" charset="-120"/>
              </a:rPr>
              <a:t> en emin kutuyu tut, onunla çok örtüşen diğer kutuları sil. Böylece her nesneye tek kutu kalır.</a:t>
            </a:r>
            <a:endParaRPr lang="en-US" sz="1500" dirty="0"/>
          </a:p>
        </p:txBody>
      </p:sp>
      <p:sp>
        <p:nvSpPr>
          <p:cNvPr id="9" name="Text 4"/>
          <p:cNvSpPr/>
          <p:nvPr/>
        </p:nvSpPr>
        <p:spPr>
          <a:xfrm>
            <a:off x="812800" y="6238242"/>
            <a:ext cx="71945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IBM Plex Sans" pitchFamily="34" charset="0"/>
                <a:ea typeface="IBM Plex Sans" pitchFamily="34" charset="-122"/>
                <a:cs typeface="IBM Plex Sans" pitchFamily="34" charset="-120"/>
              </a:rPr>
              <a:t>Gökyüzünden nesne bulmak · SKY LAB Akademi</a:t>
            </a:r>
            <a:endParaRPr lang="en-US" sz="1200" dirty="0"/>
          </a:p>
        </p:txBody>
      </p:sp>
      <p:sp>
        <p:nvSpPr>
          <p:cNvPr id="10" name="Text 5"/>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2"/>
                </a:solidFill>
                <a:latin typeface="IBM Plex Mono" pitchFamily="49" charset="0"/>
                <a:ea typeface="IBM Plex Mono" pitchFamily="49" charset="-122"/>
                <a:cs typeface="IBM Plex Mono" pitchFamily="49"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3F1E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111823"/>
                </a:solidFill>
                <a:latin typeface="Space Grotesk" pitchFamily="34" charset="0"/>
                <a:ea typeface="Space Grotesk" pitchFamily="34" charset="-122"/>
                <a:cs typeface="Space Grotesk" pitchFamily="34" charset="-120"/>
              </a:rPr>
              <a:t>AP50 nasıl hesaplanır?</a:t>
            </a:r>
            <a:endParaRPr lang="en-US" sz="3200" dirty="0"/>
          </a:p>
        </p:txBody>
      </p:sp>
      <p:sp>
        <p:nvSpPr>
          <p:cNvPr id="3" name="Text 1"/>
          <p:cNvSpPr/>
          <p:nvPr/>
        </p:nvSpPr>
        <p:spPr>
          <a:xfrm>
            <a:off x="812800" y="1564642"/>
            <a:ext cx="5807964"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11823"/>
                </a:solidFill>
                <a:latin typeface="IBM Plex Sans" pitchFamily="34" charset="0"/>
                <a:ea typeface="IBM Plex Sans" pitchFamily="34" charset="-122"/>
                <a:cs typeface="IBM Plex Sans" pitchFamily="34" charset="-120"/>
              </a:rPr>
              <a:t>Örnek: karede 4 gerçek insan var, model 6 tahmin yaptı. Tahminler güvene göre sıralanır:</a:t>
            </a:r>
            <a:endParaRPr lang="en-US" sz="1300" dirty="0"/>
          </a:p>
        </p:txBody>
      </p:sp>
      <p:sp>
        <p:nvSpPr>
          <p:cNvPr id="4" name="Shape 2"/>
          <p:cNvSpPr/>
          <p:nvPr/>
        </p:nvSpPr>
        <p:spPr>
          <a:xfrm>
            <a:off x="6448425" y="2128521"/>
            <a:ext cx="0" cy="2468880"/>
          </a:xfrm>
          <a:prstGeom prst="line">
            <a:avLst/>
          </a:prstGeom>
          <a:noFill/>
          <a:ln w="6350">
            <a:solidFill>
              <a:srgbClr val="D6D0C4"/>
            </a:solidFill>
            <a:prstDash val="solid"/>
          </a:ln>
        </p:spPr>
      </p:sp>
      <p:sp>
        <p:nvSpPr>
          <p:cNvPr id="5" name="Shape 3"/>
          <p:cNvSpPr/>
          <p:nvPr/>
        </p:nvSpPr>
        <p:spPr>
          <a:xfrm>
            <a:off x="812800" y="4594226"/>
            <a:ext cx="5638800" cy="0"/>
          </a:xfrm>
          <a:prstGeom prst="line">
            <a:avLst/>
          </a:prstGeom>
          <a:noFill/>
          <a:ln w="6350">
            <a:solidFill>
              <a:srgbClr val="D6D0C4"/>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2960" y="2138681"/>
          <a:ext cx="5623560" cy="2453640"/>
        </p:xfrm>
        <a:graphic>
          <a:graphicData uri="http://schemas.openxmlformats.org/drawingml/2006/table">
            <a:tbl>
              <a:tblPr/>
              <a:tblGrid>
                <a:gridCol w="674827"/>
                <a:gridCol w="1012241"/>
                <a:gridCol w="1124712"/>
                <a:gridCol w="1405890"/>
                <a:gridCol w="1405890"/>
              </a:tblGrid>
              <a:tr h="350520">
                <a:tc>
                  <a:txBody>
                    <a:bodyPr/>
                    <a:lstStyle/>
                    <a:p>
                      <a:pPr indent="0" marL="0">
                        <a:lnSpc>
                          <a:spcPts val="1680"/>
                        </a:lnSpc>
                        <a:buNone/>
                      </a:pPr>
                      <a:r>
                        <a:rPr lang="en-US" sz="1200" b="1" dirty="0">
                          <a:solidFill>
                            <a:srgbClr val="F3F1EC"/>
                          </a:solidFill>
                          <a:latin typeface="IBM Plex Sans" pitchFamily="34" charset="0"/>
                          <a:ea typeface="IBM Plex Sans" pitchFamily="34" charset="-122"/>
                          <a:cs typeface="IBM Plex Sans" pitchFamily="34" charset="-120"/>
                        </a:rPr>
                        <a:t>Sıra</a:t>
                      </a:r>
                      <a:endParaRPr lang="en-US" sz="1200" dirty="0">
                        <a:latin typeface="IBM Plex Sans" charset="0"/>
                        <a:ea typeface="IBM Plex Sans" charset="0"/>
                        <a:cs typeface="IBM Plex Sans" charset="0"/>
                      </a:endParaRPr>
                    </a:p>
                  </a:txBody>
                  <a:tcPr marL="101600" marR="101600" marT="63500" marB="63500" anchor="t">
                    <a:lnL w="12700" cap="flat" cmpd="sng" algn="ctr">
                      <a:solidFill>
                        <a:srgbClr val="C2C0BC"/>
                      </a:solidFill>
                      <a:prstDash val="solid"/>
                      <a:round/>
                      <a:headEnd type="none" w="med" len="med"/>
                      <a:tailEnd type="none" w="med" len="med"/>
                    </a:lnL>
                    <a:lnR w="12700" cap="flat" cmpd="sng" algn="ctr">
                      <a:solidFill>
                        <a:srgbClr val="12171F"/>
                      </a:solidFill>
                      <a:prstDash val="solid"/>
                      <a:round/>
                      <a:headEnd type="none" w="med" len="med"/>
                      <a:tailEnd type="none" w="med" len="med"/>
                    </a:lnR>
                    <a:lnT w="12700" cap="flat" cmpd="sng" algn="ctr">
                      <a:solidFill>
                        <a:srgbClr val="C2C0BC"/>
                      </a:solidFill>
                      <a:prstDash val="solid"/>
                      <a:round/>
                      <a:headEnd type="none" w="med" len="med"/>
                      <a:tailEnd type="none" w="med" len="med"/>
                    </a:lnT>
                    <a:lnB w="12700" cap="flat" cmpd="sng" algn="ctr">
                      <a:solidFill>
                        <a:srgbClr val="12171F"/>
                      </a:solidFill>
                      <a:prstDash val="solid"/>
                      <a:round/>
                      <a:headEnd type="none" w="med" len="med"/>
                      <a:tailEnd type="none" w="med" len="med"/>
                    </a:lnB>
                    <a:solidFill>
                      <a:srgbClr val="111823"/>
                    </a:solidFill>
                  </a:tcPr>
                </a:tc>
                <a:tc>
                  <a:txBody>
                    <a:bodyPr/>
                    <a:lstStyle/>
                    <a:p>
                      <a:pPr indent="0" marL="0">
                        <a:lnSpc>
                          <a:spcPts val="1680"/>
                        </a:lnSpc>
                        <a:buNone/>
                      </a:pPr>
                      <a:r>
                        <a:rPr lang="en-US" sz="1200" b="1" dirty="0">
                          <a:solidFill>
                            <a:srgbClr val="F3F1EC"/>
                          </a:solidFill>
                          <a:latin typeface="IBM Plex Sans" pitchFamily="34" charset="0"/>
                          <a:ea typeface="IBM Plex Sans" pitchFamily="34" charset="-122"/>
                          <a:cs typeface="IBM Plex Sans" pitchFamily="34" charset="-120"/>
                        </a:rPr>
                        <a:t>Güven</a:t>
                      </a:r>
                      <a:endParaRPr lang="en-US" sz="1200" dirty="0">
                        <a:latin typeface="IBM Plex Sans" charset="0"/>
                        <a:ea typeface="IBM Plex Sans" charset="0"/>
                        <a:cs typeface="IBM Plex Sans" charset="0"/>
                      </a:endParaRPr>
                    </a:p>
                  </a:txBody>
                  <a:tcPr marL="101600" marR="101600" marT="63500" marB="63500" anchor="t">
                    <a:lnL w="12700" cap="flat" cmpd="sng" algn="ctr">
                      <a:solidFill>
                        <a:srgbClr val="12171F"/>
                      </a:solidFill>
                      <a:prstDash val="solid"/>
                      <a:round/>
                      <a:headEnd type="none" w="med" len="med"/>
                      <a:tailEnd type="none" w="med" len="med"/>
                    </a:lnL>
                    <a:lnR w="12700" cap="flat" cmpd="sng" algn="ctr">
                      <a:solidFill>
                        <a:srgbClr val="12171F"/>
                      </a:solidFill>
                      <a:prstDash val="solid"/>
                      <a:round/>
                      <a:headEnd type="none" w="med" len="med"/>
                      <a:tailEnd type="none" w="med" len="med"/>
                    </a:lnR>
                    <a:lnT w="12700" cap="flat" cmpd="sng" algn="ctr">
                      <a:solidFill>
                        <a:srgbClr val="C2C0BC"/>
                      </a:solidFill>
                      <a:prstDash val="solid"/>
                      <a:round/>
                      <a:headEnd type="none" w="med" len="med"/>
                      <a:tailEnd type="none" w="med" len="med"/>
                    </a:lnT>
                    <a:lnB w="12700" cap="flat" cmpd="sng" algn="ctr">
                      <a:solidFill>
                        <a:srgbClr val="12171F"/>
                      </a:solidFill>
                      <a:prstDash val="solid"/>
                      <a:round/>
                      <a:headEnd type="none" w="med" len="med"/>
                      <a:tailEnd type="none" w="med" len="med"/>
                    </a:lnB>
                    <a:solidFill>
                      <a:srgbClr val="111823"/>
                    </a:solidFill>
                  </a:tcPr>
                </a:tc>
                <a:tc>
                  <a:txBody>
                    <a:bodyPr/>
                    <a:lstStyle/>
                    <a:p>
                      <a:pPr indent="0" marL="0">
                        <a:lnSpc>
                          <a:spcPts val="1680"/>
                        </a:lnSpc>
                        <a:buNone/>
                      </a:pPr>
                      <a:r>
                        <a:rPr lang="en-US" sz="1200" b="1" dirty="0">
                          <a:solidFill>
                            <a:srgbClr val="F3F1EC"/>
                          </a:solidFill>
                          <a:latin typeface="IBM Plex Sans" pitchFamily="34" charset="0"/>
                          <a:ea typeface="IBM Plex Sans" pitchFamily="34" charset="-122"/>
                          <a:cs typeface="IBM Plex Sans" pitchFamily="34" charset="-120"/>
                        </a:rPr>
                        <a:t>Sonuç</a:t>
                      </a:r>
                      <a:endParaRPr lang="en-US" sz="1200" dirty="0">
                        <a:latin typeface="IBM Plex Sans" charset="0"/>
                        <a:ea typeface="IBM Plex Sans" charset="0"/>
                        <a:cs typeface="IBM Plex Sans" charset="0"/>
                      </a:endParaRPr>
                    </a:p>
                  </a:txBody>
                  <a:tcPr marL="101600" marR="101600" marT="63500" marB="63500" anchor="t">
                    <a:lnL w="12700" cap="flat" cmpd="sng" algn="ctr">
                      <a:solidFill>
                        <a:srgbClr val="12171F"/>
                      </a:solidFill>
                      <a:prstDash val="solid"/>
                      <a:round/>
                      <a:headEnd type="none" w="med" len="med"/>
                      <a:tailEnd type="none" w="med" len="med"/>
                    </a:lnL>
                    <a:lnR w="12700" cap="flat" cmpd="sng" algn="ctr">
                      <a:solidFill>
                        <a:srgbClr val="12171F"/>
                      </a:solidFill>
                      <a:prstDash val="solid"/>
                      <a:round/>
                      <a:headEnd type="none" w="med" len="med"/>
                      <a:tailEnd type="none" w="med" len="med"/>
                    </a:lnR>
                    <a:lnT w="12700" cap="flat" cmpd="sng" algn="ctr">
                      <a:solidFill>
                        <a:srgbClr val="C2C0BC"/>
                      </a:solidFill>
                      <a:prstDash val="solid"/>
                      <a:round/>
                      <a:headEnd type="none" w="med" len="med"/>
                      <a:tailEnd type="none" w="med" len="med"/>
                    </a:lnT>
                    <a:lnB w="12700" cap="flat" cmpd="sng" algn="ctr">
                      <a:solidFill>
                        <a:srgbClr val="12171F"/>
                      </a:solidFill>
                      <a:prstDash val="solid"/>
                      <a:round/>
                      <a:headEnd type="none" w="med" len="med"/>
                      <a:tailEnd type="none" w="med" len="med"/>
                    </a:lnB>
                    <a:solidFill>
                      <a:srgbClr val="111823"/>
                    </a:solidFill>
                  </a:tcPr>
                </a:tc>
                <a:tc>
                  <a:txBody>
                    <a:bodyPr/>
                    <a:lstStyle/>
                    <a:p>
                      <a:pPr indent="0" marL="0">
                        <a:lnSpc>
                          <a:spcPts val="1680"/>
                        </a:lnSpc>
                        <a:buNone/>
                      </a:pPr>
                      <a:r>
                        <a:rPr lang="en-US" sz="1200" b="1" dirty="0">
                          <a:solidFill>
                            <a:srgbClr val="F3F1EC"/>
                          </a:solidFill>
                          <a:latin typeface="IBM Plex Sans" pitchFamily="34" charset="0"/>
                          <a:ea typeface="IBM Plex Sans" pitchFamily="34" charset="-122"/>
                          <a:cs typeface="IBM Plex Sans" pitchFamily="34" charset="-120"/>
                        </a:rPr>
                        <a:t>Kesinlik</a:t>
                      </a:r>
                      <a:endParaRPr lang="en-US" sz="1200" dirty="0">
                        <a:latin typeface="IBM Plex Sans" charset="0"/>
                        <a:ea typeface="IBM Plex Sans" charset="0"/>
                        <a:cs typeface="IBM Plex Sans" charset="0"/>
                      </a:endParaRPr>
                    </a:p>
                  </a:txBody>
                  <a:tcPr marL="101600" marR="101600" marT="63500" marB="63500" anchor="t">
                    <a:lnL w="12700" cap="flat" cmpd="sng" algn="ctr">
                      <a:solidFill>
                        <a:srgbClr val="12171F"/>
                      </a:solidFill>
                      <a:prstDash val="solid"/>
                      <a:round/>
                      <a:headEnd type="none" w="med" len="med"/>
                      <a:tailEnd type="none" w="med" len="med"/>
                    </a:lnL>
                    <a:lnR w="12700" cap="flat" cmpd="sng" algn="ctr">
                      <a:solidFill>
                        <a:srgbClr val="12171F"/>
                      </a:solidFill>
                      <a:prstDash val="solid"/>
                      <a:round/>
                      <a:headEnd type="none" w="med" len="med"/>
                      <a:tailEnd type="none" w="med" len="med"/>
                    </a:lnR>
                    <a:lnT w="12700" cap="flat" cmpd="sng" algn="ctr">
                      <a:solidFill>
                        <a:srgbClr val="C2C0BC"/>
                      </a:solidFill>
                      <a:prstDash val="solid"/>
                      <a:round/>
                      <a:headEnd type="none" w="med" len="med"/>
                      <a:tailEnd type="none" w="med" len="med"/>
                    </a:lnT>
                    <a:lnB w="12700" cap="flat" cmpd="sng" algn="ctr">
                      <a:solidFill>
                        <a:srgbClr val="12171F"/>
                      </a:solidFill>
                      <a:prstDash val="solid"/>
                      <a:round/>
                      <a:headEnd type="none" w="med" len="med"/>
                      <a:tailEnd type="none" w="med" len="med"/>
                    </a:lnB>
                    <a:solidFill>
                      <a:srgbClr val="111823"/>
                    </a:solidFill>
                  </a:tcPr>
                </a:tc>
                <a:tc>
                  <a:txBody>
                    <a:bodyPr/>
                    <a:lstStyle/>
                    <a:p>
                      <a:pPr indent="0" marL="0">
                        <a:lnSpc>
                          <a:spcPts val="1680"/>
                        </a:lnSpc>
                        <a:buNone/>
                      </a:pPr>
                      <a:r>
                        <a:rPr lang="en-US" sz="1200" b="1" dirty="0">
                          <a:solidFill>
                            <a:srgbClr val="F3F1EC"/>
                          </a:solidFill>
                          <a:latin typeface="IBM Plex Sans" pitchFamily="34" charset="0"/>
                          <a:ea typeface="IBM Plex Sans" pitchFamily="34" charset="-122"/>
                          <a:cs typeface="IBM Plex Sans" pitchFamily="34" charset="-120"/>
                        </a:rPr>
                        <a:t>Duyarlılık</a:t>
                      </a:r>
                      <a:endParaRPr lang="en-US" sz="1200" dirty="0">
                        <a:latin typeface="IBM Plex Sans" charset="0"/>
                        <a:ea typeface="IBM Plex Sans" charset="0"/>
                        <a:cs typeface="IBM Plex Sans" charset="0"/>
                      </a:endParaRPr>
                    </a:p>
                  </a:txBody>
                  <a:tcPr marL="101600" marR="101600" marT="63500" marB="63500" anchor="t">
                    <a:lnL w="12700" cap="flat" cmpd="sng" algn="ctr">
                      <a:solidFill>
                        <a:srgbClr val="12171F"/>
                      </a:solidFill>
                      <a:prstDash val="solid"/>
                      <a:round/>
                      <a:headEnd type="none" w="med" len="med"/>
                      <a:tailEnd type="none" w="med" len="med"/>
                    </a:lnL>
                    <a:lnR w="12700" cap="flat" cmpd="sng" algn="ctr">
                      <a:solidFill>
                        <a:srgbClr val="12171F"/>
                      </a:solidFill>
                      <a:prstDash val="solid"/>
                      <a:round/>
                      <a:headEnd type="none" w="med" len="med"/>
                      <a:tailEnd type="none" w="med" len="med"/>
                    </a:lnR>
                    <a:lnT w="12700" cap="flat" cmpd="sng" algn="ctr">
                      <a:solidFill>
                        <a:srgbClr val="C2C0BC"/>
                      </a:solidFill>
                      <a:prstDash val="solid"/>
                      <a:round/>
                      <a:headEnd type="none" w="med" len="med"/>
                      <a:tailEnd type="none" w="med" len="med"/>
                    </a:lnT>
                    <a:lnB w="12700" cap="flat" cmpd="sng" algn="ctr">
                      <a:solidFill>
                        <a:srgbClr val="12171F"/>
                      </a:solidFill>
                      <a:prstDash val="solid"/>
                      <a:round/>
                      <a:headEnd type="none" w="med" len="med"/>
                      <a:tailEnd type="none" w="med" len="med"/>
                    </a:lnB>
                    <a:solidFill>
                      <a:srgbClr val="111823"/>
                    </a:solidFill>
                  </a:tcPr>
                </a:tc>
              </a:tr>
              <a:tr h="350520">
                <a:tc>
                  <a:txBody>
                    <a:bodyPr/>
                    <a:lstStyle/>
                    <a:p>
                      <a:pPr indent="0" marL="0">
                        <a:lnSpc>
                          <a:spcPts val="1680"/>
                        </a:lnSpc>
                        <a:buNone/>
                      </a:pPr>
                      <a:r>
                        <a:rPr lang="en-US" sz="1200" dirty="0">
                          <a:solidFill>
                            <a:srgbClr val="111823"/>
                          </a:solidFill>
                          <a:latin typeface="IBM Plex Sans" pitchFamily="34" charset="0"/>
                          <a:ea typeface="IBM Plex Sans" pitchFamily="34" charset="-122"/>
                          <a:cs typeface="IBM Plex Sans" pitchFamily="34" charset="-120"/>
                        </a:rPr>
                        <a:t>1</a:t>
                      </a:r>
                      <a:endParaRPr lang="en-US" sz="1200" dirty="0">
                        <a:latin typeface="IBM Plex Sans" charset="0"/>
                        <a:ea typeface="IBM Plex Sans" charset="0"/>
                        <a:cs typeface="IBM Plex Sans" charset="0"/>
                      </a:endParaRPr>
                    </a:p>
                  </a:txBody>
                  <a:tcPr marL="101600" marR="101600" marT="63500" marB="63500" anchor="t">
                    <a:lnL w="12700" cap="flat" cmpd="sng" algn="ctr">
                      <a:solidFill>
                        <a:srgbClr val="C2C0BC"/>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12171F"/>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c>
                  <a:txBody>
                    <a:bodyPr/>
                    <a:lstStyle/>
                    <a:p>
                      <a:pPr indent="0" marL="0">
                        <a:lnSpc>
                          <a:spcPts val="1680"/>
                        </a:lnSpc>
                        <a:buNone/>
                      </a:pPr>
                      <a:r>
                        <a:rPr lang="en-US" sz="1200" dirty="0">
                          <a:solidFill>
                            <a:srgbClr val="111823"/>
                          </a:solidFill>
                          <a:latin typeface="IBM Plex Sans" pitchFamily="34" charset="0"/>
                          <a:ea typeface="IBM Plex Sans" pitchFamily="34" charset="-122"/>
                          <a:cs typeface="IBM Plex Sans" pitchFamily="34" charset="-120"/>
                        </a:rPr>
                        <a:t>0,95</a:t>
                      </a:r>
                      <a:endParaRPr lang="en-US" sz="1200" dirty="0">
                        <a:latin typeface="IBM Plex Sans" charset="0"/>
                        <a:ea typeface="IBM Plex Sans" charset="0"/>
                        <a:cs typeface="IBM Plex Sans" charset="0"/>
                      </a:endParaRPr>
                    </a:p>
                  </a:txBody>
                  <a:tcPr marL="101600" marR="101600" marT="63500" marB="6350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12171F"/>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c>
                  <a:txBody>
                    <a:bodyPr/>
                    <a:lstStyle/>
                    <a:p>
                      <a:pPr indent="0" marL="0">
                        <a:lnSpc>
                          <a:spcPts val="1680"/>
                        </a:lnSpc>
                        <a:buNone/>
                      </a:pPr>
                      <a:r>
                        <a:rPr lang="en-US" sz="1200" dirty="0">
                          <a:solidFill>
                            <a:srgbClr val="111823"/>
                          </a:solidFill>
                          <a:latin typeface="IBM Plex Sans" pitchFamily="34" charset="0"/>
                          <a:ea typeface="IBM Plex Sans" pitchFamily="34" charset="-122"/>
                          <a:cs typeface="IBM Plex Sans" pitchFamily="34" charset="-120"/>
                        </a:rPr>
                        <a:t>doğru</a:t>
                      </a:r>
                      <a:endParaRPr lang="en-US" sz="1200" dirty="0">
                        <a:latin typeface="IBM Plex Sans" charset="0"/>
                        <a:ea typeface="IBM Plex Sans" charset="0"/>
                        <a:cs typeface="IBM Plex Sans" charset="0"/>
                      </a:endParaRPr>
                    </a:p>
                  </a:txBody>
                  <a:tcPr marL="101600" marR="101600" marT="63500" marB="6350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12171F"/>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c>
                  <a:txBody>
                    <a:bodyPr/>
                    <a:lstStyle/>
                    <a:p>
                      <a:pPr indent="0" marL="0">
                        <a:lnSpc>
                          <a:spcPts val="1680"/>
                        </a:lnSpc>
                        <a:buNone/>
                      </a:pPr>
                      <a:r>
                        <a:rPr lang="en-US" sz="1200" dirty="0">
                          <a:solidFill>
                            <a:srgbClr val="111823"/>
                          </a:solidFill>
                          <a:latin typeface="IBM Plex Sans" pitchFamily="34" charset="0"/>
                          <a:ea typeface="IBM Plex Sans" pitchFamily="34" charset="-122"/>
                          <a:cs typeface="IBM Plex Sans" pitchFamily="34" charset="-120"/>
                        </a:rPr>
                        <a:t>1/1 = 1,00</a:t>
                      </a:r>
                      <a:endParaRPr lang="en-US" sz="1200" dirty="0">
                        <a:latin typeface="IBM Plex Sans" charset="0"/>
                        <a:ea typeface="IBM Plex Sans" charset="0"/>
                        <a:cs typeface="IBM Plex Sans" charset="0"/>
                      </a:endParaRPr>
                    </a:p>
                  </a:txBody>
                  <a:tcPr marL="101600" marR="101600" marT="63500" marB="6350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12171F"/>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c>
                  <a:txBody>
                    <a:bodyPr/>
                    <a:lstStyle/>
                    <a:p>
                      <a:pPr indent="0" marL="0">
                        <a:lnSpc>
                          <a:spcPts val="1680"/>
                        </a:lnSpc>
                        <a:buNone/>
                      </a:pPr>
                      <a:r>
                        <a:rPr lang="en-US" sz="1200" dirty="0">
                          <a:solidFill>
                            <a:srgbClr val="111823"/>
                          </a:solidFill>
                          <a:latin typeface="IBM Plex Sans" pitchFamily="34" charset="0"/>
                          <a:ea typeface="IBM Plex Sans" pitchFamily="34" charset="-122"/>
                          <a:cs typeface="IBM Plex Sans" pitchFamily="34" charset="-120"/>
                        </a:rPr>
                        <a:t>1/4 = 0,25</a:t>
                      </a:r>
                      <a:endParaRPr lang="en-US" sz="1200" dirty="0">
                        <a:latin typeface="IBM Plex Sans" charset="0"/>
                        <a:ea typeface="IBM Plex Sans" charset="0"/>
                        <a:cs typeface="IBM Plex Sans" charset="0"/>
                      </a:endParaRPr>
                    </a:p>
                  </a:txBody>
                  <a:tcPr marL="101600" marR="101600" marT="63500" marB="6350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12171F"/>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r>
              <a:tr h="350520">
                <a:tc>
                  <a:txBody>
                    <a:bodyPr/>
                    <a:lstStyle/>
                    <a:p>
                      <a:pPr indent="0" marL="0">
                        <a:lnSpc>
                          <a:spcPts val="1680"/>
                        </a:lnSpc>
                        <a:buNone/>
                      </a:pPr>
                      <a:r>
                        <a:rPr lang="en-US" sz="1200" dirty="0">
                          <a:solidFill>
                            <a:srgbClr val="111823"/>
                          </a:solidFill>
                          <a:latin typeface="IBM Plex Sans" pitchFamily="34" charset="0"/>
                          <a:ea typeface="IBM Plex Sans" pitchFamily="34" charset="-122"/>
                          <a:cs typeface="IBM Plex Sans" pitchFamily="34" charset="-120"/>
                        </a:rPr>
                        <a:t>2</a:t>
                      </a:r>
                      <a:endParaRPr lang="en-US" sz="1200" dirty="0">
                        <a:latin typeface="IBM Plex Sans" charset="0"/>
                        <a:ea typeface="IBM Plex Sans" charset="0"/>
                        <a:cs typeface="IBM Plex Sans" charset="0"/>
                      </a:endParaRPr>
                    </a:p>
                  </a:txBody>
                  <a:tcPr marL="101600" marR="101600" marT="63500" marB="63500" anchor="t">
                    <a:lnL w="12700" cap="flat" cmpd="sng" algn="ctr">
                      <a:solidFill>
                        <a:srgbClr val="C2C0BC"/>
                      </a:solidFill>
                      <a:prstDash val="solid"/>
                      <a:round/>
                      <a:headEnd type="none" w="med" len="med"/>
                      <a:tailEnd type="none" w="med" len="med"/>
                    </a:lnL>
                    <a:lnR w="12700" cap="flat" cmpd="sng" algn="ctr">
                      <a:solidFill>
                        <a:srgbClr val="C2C0BC"/>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2C0BC"/>
                      </a:solidFill>
                      <a:prstDash val="solid"/>
                      <a:round/>
                      <a:headEnd type="none" w="med" len="med"/>
                      <a:tailEnd type="none" w="med" len="med"/>
                    </a:lnB>
                    <a:solidFill>
                      <a:srgbClr val="F3F1EC"/>
                    </a:solidFill>
                  </a:tcPr>
                </a:tc>
                <a:tc>
                  <a:txBody>
                    <a:bodyPr/>
                    <a:lstStyle/>
                    <a:p>
                      <a:pPr indent="0" marL="0">
                        <a:lnSpc>
                          <a:spcPts val="1680"/>
                        </a:lnSpc>
                        <a:buNone/>
                      </a:pPr>
                      <a:r>
                        <a:rPr lang="en-US" sz="1200" dirty="0">
                          <a:solidFill>
                            <a:srgbClr val="111823"/>
                          </a:solidFill>
                          <a:latin typeface="IBM Plex Sans" pitchFamily="34" charset="0"/>
                          <a:ea typeface="IBM Plex Sans" pitchFamily="34" charset="-122"/>
                          <a:cs typeface="IBM Plex Sans" pitchFamily="34" charset="-120"/>
                        </a:rPr>
                        <a:t>0,90</a:t>
                      </a:r>
                      <a:endParaRPr lang="en-US" sz="1200" dirty="0">
                        <a:latin typeface="IBM Plex Sans" charset="0"/>
                        <a:ea typeface="IBM Plex Sans" charset="0"/>
                        <a:cs typeface="IBM Plex Sans" charset="0"/>
                      </a:endParaRPr>
                    </a:p>
                  </a:txBody>
                  <a:tcPr marL="101600" marR="101600" marT="63500" marB="63500" anchor="t">
                    <a:lnL w="12700" cap="flat" cmpd="sng" algn="ctr">
                      <a:solidFill>
                        <a:srgbClr val="C2C0BC"/>
                      </a:solidFill>
                      <a:prstDash val="solid"/>
                      <a:round/>
                      <a:headEnd type="none" w="med" len="med"/>
                      <a:tailEnd type="none" w="med" len="med"/>
                    </a:lnL>
                    <a:lnR w="12700" cap="flat" cmpd="sng" algn="ctr">
                      <a:solidFill>
                        <a:srgbClr val="C2C0BC"/>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2C0BC"/>
                      </a:solidFill>
                      <a:prstDash val="solid"/>
                      <a:round/>
                      <a:headEnd type="none" w="med" len="med"/>
                      <a:tailEnd type="none" w="med" len="med"/>
                    </a:lnB>
                    <a:solidFill>
                      <a:srgbClr val="F3F1EC"/>
                    </a:solidFill>
                  </a:tcPr>
                </a:tc>
                <a:tc>
                  <a:txBody>
                    <a:bodyPr/>
                    <a:lstStyle/>
                    <a:p>
                      <a:pPr indent="0" marL="0">
                        <a:lnSpc>
                          <a:spcPts val="1680"/>
                        </a:lnSpc>
                        <a:buNone/>
                      </a:pPr>
                      <a:r>
                        <a:rPr lang="en-US" sz="1200" dirty="0">
                          <a:solidFill>
                            <a:srgbClr val="111823"/>
                          </a:solidFill>
                          <a:latin typeface="IBM Plex Sans" pitchFamily="34" charset="0"/>
                          <a:ea typeface="IBM Plex Sans" pitchFamily="34" charset="-122"/>
                          <a:cs typeface="IBM Plex Sans" pitchFamily="34" charset="-120"/>
                        </a:rPr>
                        <a:t>doğru</a:t>
                      </a:r>
                      <a:endParaRPr lang="en-US" sz="1200" dirty="0">
                        <a:latin typeface="IBM Plex Sans" charset="0"/>
                        <a:ea typeface="IBM Plex Sans" charset="0"/>
                        <a:cs typeface="IBM Plex Sans" charset="0"/>
                      </a:endParaRPr>
                    </a:p>
                  </a:txBody>
                  <a:tcPr marL="101600" marR="101600" marT="63500" marB="63500" anchor="t">
                    <a:lnL w="12700" cap="flat" cmpd="sng" algn="ctr">
                      <a:solidFill>
                        <a:srgbClr val="C2C0BC"/>
                      </a:solidFill>
                      <a:prstDash val="solid"/>
                      <a:round/>
                      <a:headEnd type="none" w="med" len="med"/>
                      <a:tailEnd type="none" w="med" len="med"/>
                    </a:lnL>
                    <a:lnR w="12700" cap="flat" cmpd="sng" algn="ctr">
                      <a:solidFill>
                        <a:srgbClr val="C2C0BC"/>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2C0BC"/>
                      </a:solidFill>
                      <a:prstDash val="solid"/>
                      <a:round/>
                      <a:headEnd type="none" w="med" len="med"/>
                      <a:tailEnd type="none" w="med" len="med"/>
                    </a:lnB>
                    <a:solidFill>
                      <a:srgbClr val="F3F1EC"/>
                    </a:solidFill>
                  </a:tcPr>
                </a:tc>
                <a:tc>
                  <a:txBody>
                    <a:bodyPr/>
                    <a:lstStyle/>
                    <a:p>
                      <a:pPr indent="0" marL="0">
                        <a:lnSpc>
                          <a:spcPts val="1680"/>
                        </a:lnSpc>
                        <a:buNone/>
                      </a:pPr>
                      <a:r>
                        <a:rPr lang="en-US" sz="1200" dirty="0">
                          <a:solidFill>
                            <a:srgbClr val="111823"/>
                          </a:solidFill>
                          <a:latin typeface="IBM Plex Sans" pitchFamily="34" charset="0"/>
                          <a:ea typeface="IBM Plex Sans" pitchFamily="34" charset="-122"/>
                          <a:cs typeface="IBM Plex Sans" pitchFamily="34" charset="-120"/>
                        </a:rPr>
                        <a:t>2/2 = 1,00</a:t>
                      </a:r>
                      <a:endParaRPr lang="en-US" sz="1200" dirty="0">
                        <a:latin typeface="IBM Plex Sans" charset="0"/>
                        <a:ea typeface="IBM Plex Sans" charset="0"/>
                        <a:cs typeface="IBM Plex Sans" charset="0"/>
                      </a:endParaRPr>
                    </a:p>
                  </a:txBody>
                  <a:tcPr marL="101600" marR="101600" marT="63500" marB="63500" anchor="t">
                    <a:lnL w="12700" cap="flat" cmpd="sng" algn="ctr">
                      <a:solidFill>
                        <a:srgbClr val="C2C0BC"/>
                      </a:solidFill>
                      <a:prstDash val="solid"/>
                      <a:round/>
                      <a:headEnd type="none" w="med" len="med"/>
                      <a:tailEnd type="none" w="med" len="med"/>
                    </a:lnL>
                    <a:lnR w="12700" cap="flat" cmpd="sng" algn="ctr">
                      <a:solidFill>
                        <a:srgbClr val="C2C0BC"/>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2C0BC"/>
                      </a:solidFill>
                      <a:prstDash val="solid"/>
                      <a:round/>
                      <a:headEnd type="none" w="med" len="med"/>
                      <a:tailEnd type="none" w="med" len="med"/>
                    </a:lnB>
                    <a:solidFill>
                      <a:srgbClr val="F3F1EC"/>
                    </a:solidFill>
                  </a:tcPr>
                </a:tc>
                <a:tc>
                  <a:txBody>
                    <a:bodyPr/>
                    <a:lstStyle/>
                    <a:p>
                      <a:pPr indent="0" marL="0">
                        <a:lnSpc>
                          <a:spcPts val="1680"/>
                        </a:lnSpc>
                        <a:buNone/>
                      </a:pPr>
                      <a:r>
                        <a:rPr lang="en-US" sz="1200" dirty="0">
                          <a:solidFill>
                            <a:srgbClr val="111823"/>
                          </a:solidFill>
                          <a:latin typeface="IBM Plex Sans" pitchFamily="34" charset="0"/>
                          <a:ea typeface="IBM Plex Sans" pitchFamily="34" charset="-122"/>
                          <a:cs typeface="IBM Plex Sans" pitchFamily="34" charset="-120"/>
                        </a:rPr>
                        <a:t>2/4 = 0,50</a:t>
                      </a:r>
                      <a:endParaRPr lang="en-US" sz="1200" dirty="0">
                        <a:latin typeface="IBM Plex Sans" charset="0"/>
                        <a:ea typeface="IBM Plex Sans" charset="0"/>
                        <a:cs typeface="IBM Plex Sans" charset="0"/>
                      </a:endParaRPr>
                    </a:p>
                  </a:txBody>
                  <a:tcPr marL="101600" marR="101600" marT="63500" marB="63500" anchor="t">
                    <a:lnL w="12700" cap="flat" cmpd="sng" algn="ctr">
                      <a:solidFill>
                        <a:srgbClr val="C2C0BC"/>
                      </a:solidFill>
                      <a:prstDash val="solid"/>
                      <a:round/>
                      <a:headEnd type="none" w="med" len="med"/>
                      <a:tailEnd type="none" w="med" len="med"/>
                    </a:lnL>
                    <a:lnR w="12700" cap="flat" cmpd="sng" algn="ctr">
                      <a:solidFill>
                        <a:srgbClr val="C2C0BC"/>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2C0BC"/>
                      </a:solidFill>
                      <a:prstDash val="solid"/>
                      <a:round/>
                      <a:headEnd type="none" w="med" len="med"/>
                      <a:tailEnd type="none" w="med" len="med"/>
                    </a:lnB>
                    <a:solidFill>
                      <a:srgbClr val="F3F1EC"/>
                    </a:solidFill>
                  </a:tcPr>
                </a:tc>
              </a:tr>
              <a:tr h="350520">
                <a:tc>
                  <a:txBody>
                    <a:bodyPr/>
                    <a:lstStyle/>
                    <a:p>
                      <a:pPr indent="0" marL="0">
                        <a:lnSpc>
                          <a:spcPts val="1680"/>
                        </a:lnSpc>
                        <a:buNone/>
                      </a:pPr>
                      <a:r>
                        <a:rPr lang="en-US" sz="1200" dirty="0">
                          <a:solidFill>
                            <a:srgbClr val="111823"/>
                          </a:solidFill>
                          <a:latin typeface="IBM Plex Sans" pitchFamily="34" charset="0"/>
                          <a:ea typeface="IBM Plex Sans" pitchFamily="34" charset="-122"/>
                          <a:cs typeface="IBM Plex Sans" pitchFamily="34" charset="-120"/>
                        </a:rPr>
                        <a:t>3</a:t>
                      </a:r>
                      <a:endParaRPr lang="en-US" sz="1200" dirty="0">
                        <a:latin typeface="IBM Plex Sans" charset="0"/>
                        <a:ea typeface="IBM Plex Sans" charset="0"/>
                        <a:cs typeface="IBM Plex Sans" charset="0"/>
                      </a:endParaRPr>
                    </a:p>
                  </a:txBody>
                  <a:tcPr marL="101600" marR="101600" marT="63500" marB="63500" anchor="t">
                    <a:lnL w="12700" cap="flat" cmpd="sng" algn="ctr">
                      <a:solidFill>
                        <a:srgbClr val="C2C0BC"/>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2C0BC"/>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c>
                  <a:txBody>
                    <a:bodyPr/>
                    <a:lstStyle/>
                    <a:p>
                      <a:pPr indent="0" marL="0">
                        <a:lnSpc>
                          <a:spcPts val="1680"/>
                        </a:lnSpc>
                        <a:buNone/>
                      </a:pPr>
                      <a:r>
                        <a:rPr lang="en-US" sz="1200" dirty="0">
                          <a:solidFill>
                            <a:srgbClr val="111823"/>
                          </a:solidFill>
                          <a:latin typeface="IBM Plex Sans" pitchFamily="34" charset="0"/>
                          <a:ea typeface="IBM Plex Sans" pitchFamily="34" charset="-122"/>
                          <a:cs typeface="IBM Plex Sans" pitchFamily="34" charset="-120"/>
                        </a:rPr>
                        <a:t>0,80</a:t>
                      </a:r>
                      <a:endParaRPr lang="en-US" sz="1200" dirty="0">
                        <a:latin typeface="IBM Plex Sans" charset="0"/>
                        <a:ea typeface="IBM Plex Sans" charset="0"/>
                        <a:cs typeface="IBM Plex Sans" charset="0"/>
                      </a:endParaRPr>
                    </a:p>
                  </a:txBody>
                  <a:tcPr marL="101600" marR="101600" marT="63500" marB="6350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2C0BC"/>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c>
                  <a:txBody>
                    <a:bodyPr/>
                    <a:lstStyle/>
                    <a:p>
                      <a:pPr indent="0" marL="0">
                        <a:lnSpc>
                          <a:spcPts val="1680"/>
                        </a:lnSpc>
                        <a:buNone/>
                      </a:pPr>
                      <a:r>
                        <a:rPr lang="en-US" sz="1200" dirty="0">
                          <a:solidFill>
                            <a:srgbClr val="111823"/>
                          </a:solidFill>
                          <a:latin typeface="IBM Plex Sans" pitchFamily="34" charset="0"/>
                          <a:ea typeface="IBM Plex Sans" pitchFamily="34" charset="-122"/>
                          <a:cs typeface="IBM Plex Sans" pitchFamily="34" charset="-120"/>
                        </a:rPr>
                        <a:t>yanlış</a:t>
                      </a:r>
                      <a:endParaRPr lang="en-US" sz="1200" dirty="0">
                        <a:latin typeface="IBM Plex Sans" charset="0"/>
                        <a:ea typeface="IBM Plex Sans" charset="0"/>
                        <a:cs typeface="IBM Plex Sans" charset="0"/>
                      </a:endParaRPr>
                    </a:p>
                  </a:txBody>
                  <a:tcPr marL="101600" marR="101600" marT="63500" marB="6350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2C0BC"/>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c>
                  <a:txBody>
                    <a:bodyPr/>
                    <a:lstStyle/>
                    <a:p>
                      <a:pPr indent="0" marL="0">
                        <a:lnSpc>
                          <a:spcPts val="1680"/>
                        </a:lnSpc>
                        <a:buNone/>
                      </a:pPr>
                      <a:r>
                        <a:rPr lang="en-US" sz="1200" dirty="0">
                          <a:solidFill>
                            <a:srgbClr val="111823"/>
                          </a:solidFill>
                          <a:latin typeface="IBM Plex Sans" pitchFamily="34" charset="0"/>
                          <a:ea typeface="IBM Plex Sans" pitchFamily="34" charset="-122"/>
                          <a:cs typeface="IBM Plex Sans" pitchFamily="34" charset="-120"/>
                        </a:rPr>
                        <a:t>2/3 = 0,67</a:t>
                      </a:r>
                      <a:endParaRPr lang="en-US" sz="1200" dirty="0">
                        <a:latin typeface="IBM Plex Sans" charset="0"/>
                        <a:ea typeface="IBM Plex Sans" charset="0"/>
                        <a:cs typeface="IBM Plex Sans" charset="0"/>
                      </a:endParaRPr>
                    </a:p>
                  </a:txBody>
                  <a:tcPr marL="101600" marR="101600" marT="63500" marB="6350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2C0BC"/>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c>
                  <a:txBody>
                    <a:bodyPr/>
                    <a:lstStyle/>
                    <a:p>
                      <a:pPr indent="0" marL="0">
                        <a:lnSpc>
                          <a:spcPts val="1680"/>
                        </a:lnSpc>
                        <a:buNone/>
                      </a:pPr>
                      <a:r>
                        <a:rPr lang="en-US" sz="1200" dirty="0">
                          <a:solidFill>
                            <a:srgbClr val="111823"/>
                          </a:solidFill>
                          <a:latin typeface="IBM Plex Sans" pitchFamily="34" charset="0"/>
                          <a:ea typeface="IBM Plex Sans" pitchFamily="34" charset="-122"/>
                          <a:cs typeface="IBM Plex Sans" pitchFamily="34" charset="-120"/>
                        </a:rPr>
                        <a:t>2/4 = 0,50</a:t>
                      </a:r>
                      <a:endParaRPr lang="en-US" sz="1200" dirty="0">
                        <a:latin typeface="IBM Plex Sans" charset="0"/>
                        <a:ea typeface="IBM Plex Sans" charset="0"/>
                        <a:cs typeface="IBM Plex Sans" charset="0"/>
                      </a:endParaRPr>
                    </a:p>
                  </a:txBody>
                  <a:tcPr marL="101600" marR="101600" marT="63500" marB="6350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2C0BC"/>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r>
              <a:tr h="350520">
                <a:tc>
                  <a:txBody>
                    <a:bodyPr/>
                    <a:lstStyle/>
                    <a:p>
                      <a:pPr indent="0" marL="0">
                        <a:lnSpc>
                          <a:spcPts val="1680"/>
                        </a:lnSpc>
                        <a:buNone/>
                      </a:pPr>
                      <a:r>
                        <a:rPr lang="en-US" sz="1200" dirty="0">
                          <a:solidFill>
                            <a:srgbClr val="111823"/>
                          </a:solidFill>
                          <a:latin typeface="IBM Plex Sans" pitchFamily="34" charset="0"/>
                          <a:ea typeface="IBM Plex Sans" pitchFamily="34" charset="-122"/>
                          <a:cs typeface="IBM Plex Sans" pitchFamily="34" charset="-120"/>
                        </a:rPr>
                        <a:t>4</a:t>
                      </a:r>
                      <a:endParaRPr lang="en-US" sz="1200" dirty="0">
                        <a:latin typeface="IBM Plex Sans" charset="0"/>
                        <a:ea typeface="IBM Plex Sans" charset="0"/>
                        <a:cs typeface="IBM Plex Sans" charset="0"/>
                      </a:endParaRPr>
                    </a:p>
                  </a:txBody>
                  <a:tcPr marL="101600" marR="101600" marT="63500" marB="63500" anchor="t">
                    <a:lnL w="12700" cap="flat" cmpd="sng" algn="ctr">
                      <a:solidFill>
                        <a:srgbClr val="C2C0BC"/>
                      </a:solidFill>
                      <a:prstDash val="solid"/>
                      <a:round/>
                      <a:headEnd type="none" w="med" len="med"/>
                      <a:tailEnd type="none" w="med" len="med"/>
                    </a:lnL>
                    <a:lnR w="12700" cap="flat" cmpd="sng" algn="ctr">
                      <a:solidFill>
                        <a:srgbClr val="C2C0BC"/>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2C0BC"/>
                      </a:solidFill>
                      <a:prstDash val="solid"/>
                      <a:round/>
                      <a:headEnd type="none" w="med" len="med"/>
                      <a:tailEnd type="none" w="med" len="med"/>
                    </a:lnB>
                    <a:solidFill>
                      <a:srgbClr val="F3F1EC"/>
                    </a:solidFill>
                  </a:tcPr>
                </a:tc>
                <a:tc>
                  <a:txBody>
                    <a:bodyPr/>
                    <a:lstStyle/>
                    <a:p>
                      <a:pPr indent="0" marL="0">
                        <a:lnSpc>
                          <a:spcPts val="1680"/>
                        </a:lnSpc>
                        <a:buNone/>
                      </a:pPr>
                      <a:r>
                        <a:rPr lang="en-US" sz="1200" dirty="0">
                          <a:solidFill>
                            <a:srgbClr val="111823"/>
                          </a:solidFill>
                          <a:latin typeface="IBM Plex Sans" pitchFamily="34" charset="0"/>
                          <a:ea typeface="IBM Plex Sans" pitchFamily="34" charset="-122"/>
                          <a:cs typeface="IBM Plex Sans" pitchFamily="34" charset="-120"/>
                        </a:rPr>
                        <a:t>0,70</a:t>
                      </a:r>
                      <a:endParaRPr lang="en-US" sz="1200" dirty="0">
                        <a:latin typeface="IBM Plex Sans" charset="0"/>
                        <a:ea typeface="IBM Plex Sans" charset="0"/>
                        <a:cs typeface="IBM Plex Sans" charset="0"/>
                      </a:endParaRPr>
                    </a:p>
                  </a:txBody>
                  <a:tcPr marL="101600" marR="101600" marT="63500" marB="63500" anchor="t">
                    <a:lnL w="12700" cap="flat" cmpd="sng" algn="ctr">
                      <a:solidFill>
                        <a:srgbClr val="C2C0BC"/>
                      </a:solidFill>
                      <a:prstDash val="solid"/>
                      <a:round/>
                      <a:headEnd type="none" w="med" len="med"/>
                      <a:tailEnd type="none" w="med" len="med"/>
                    </a:lnL>
                    <a:lnR w="12700" cap="flat" cmpd="sng" algn="ctr">
                      <a:solidFill>
                        <a:srgbClr val="C2C0BC"/>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2C0BC"/>
                      </a:solidFill>
                      <a:prstDash val="solid"/>
                      <a:round/>
                      <a:headEnd type="none" w="med" len="med"/>
                      <a:tailEnd type="none" w="med" len="med"/>
                    </a:lnB>
                    <a:solidFill>
                      <a:srgbClr val="F3F1EC"/>
                    </a:solidFill>
                  </a:tcPr>
                </a:tc>
                <a:tc>
                  <a:txBody>
                    <a:bodyPr/>
                    <a:lstStyle/>
                    <a:p>
                      <a:pPr indent="0" marL="0">
                        <a:lnSpc>
                          <a:spcPts val="1680"/>
                        </a:lnSpc>
                        <a:buNone/>
                      </a:pPr>
                      <a:r>
                        <a:rPr lang="en-US" sz="1200" dirty="0">
                          <a:solidFill>
                            <a:srgbClr val="111823"/>
                          </a:solidFill>
                          <a:latin typeface="IBM Plex Sans" pitchFamily="34" charset="0"/>
                          <a:ea typeface="IBM Plex Sans" pitchFamily="34" charset="-122"/>
                          <a:cs typeface="IBM Plex Sans" pitchFamily="34" charset="-120"/>
                        </a:rPr>
                        <a:t>doğru</a:t>
                      </a:r>
                      <a:endParaRPr lang="en-US" sz="1200" dirty="0">
                        <a:latin typeface="IBM Plex Sans" charset="0"/>
                        <a:ea typeface="IBM Plex Sans" charset="0"/>
                        <a:cs typeface="IBM Plex Sans" charset="0"/>
                      </a:endParaRPr>
                    </a:p>
                  </a:txBody>
                  <a:tcPr marL="101600" marR="101600" marT="63500" marB="63500" anchor="t">
                    <a:lnL w="12700" cap="flat" cmpd="sng" algn="ctr">
                      <a:solidFill>
                        <a:srgbClr val="C2C0BC"/>
                      </a:solidFill>
                      <a:prstDash val="solid"/>
                      <a:round/>
                      <a:headEnd type="none" w="med" len="med"/>
                      <a:tailEnd type="none" w="med" len="med"/>
                    </a:lnL>
                    <a:lnR w="12700" cap="flat" cmpd="sng" algn="ctr">
                      <a:solidFill>
                        <a:srgbClr val="C2C0BC"/>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2C0BC"/>
                      </a:solidFill>
                      <a:prstDash val="solid"/>
                      <a:round/>
                      <a:headEnd type="none" w="med" len="med"/>
                      <a:tailEnd type="none" w="med" len="med"/>
                    </a:lnB>
                    <a:solidFill>
                      <a:srgbClr val="F3F1EC"/>
                    </a:solidFill>
                  </a:tcPr>
                </a:tc>
                <a:tc>
                  <a:txBody>
                    <a:bodyPr/>
                    <a:lstStyle/>
                    <a:p>
                      <a:pPr indent="0" marL="0">
                        <a:lnSpc>
                          <a:spcPts val="1680"/>
                        </a:lnSpc>
                        <a:buNone/>
                      </a:pPr>
                      <a:r>
                        <a:rPr lang="en-US" sz="1200" dirty="0">
                          <a:solidFill>
                            <a:srgbClr val="111823"/>
                          </a:solidFill>
                          <a:latin typeface="IBM Plex Sans" pitchFamily="34" charset="0"/>
                          <a:ea typeface="IBM Plex Sans" pitchFamily="34" charset="-122"/>
                          <a:cs typeface="IBM Plex Sans" pitchFamily="34" charset="-120"/>
                        </a:rPr>
                        <a:t>3/4 = 0,75</a:t>
                      </a:r>
                      <a:endParaRPr lang="en-US" sz="1200" dirty="0">
                        <a:latin typeface="IBM Plex Sans" charset="0"/>
                        <a:ea typeface="IBM Plex Sans" charset="0"/>
                        <a:cs typeface="IBM Plex Sans" charset="0"/>
                      </a:endParaRPr>
                    </a:p>
                  </a:txBody>
                  <a:tcPr marL="101600" marR="101600" marT="63500" marB="63500" anchor="t">
                    <a:lnL w="12700" cap="flat" cmpd="sng" algn="ctr">
                      <a:solidFill>
                        <a:srgbClr val="C2C0BC"/>
                      </a:solidFill>
                      <a:prstDash val="solid"/>
                      <a:round/>
                      <a:headEnd type="none" w="med" len="med"/>
                      <a:tailEnd type="none" w="med" len="med"/>
                    </a:lnL>
                    <a:lnR w="12700" cap="flat" cmpd="sng" algn="ctr">
                      <a:solidFill>
                        <a:srgbClr val="C2C0BC"/>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2C0BC"/>
                      </a:solidFill>
                      <a:prstDash val="solid"/>
                      <a:round/>
                      <a:headEnd type="none" w="med" len="med"/>
                      <a:tailEnd type="none" w="med" len="med"/>
                    </a:lnB>
                    <a:solidFill>
                      <a:srgbClr val="F3F1EC"/>
                    </a:solidFill>
                  </a:tcPr>
                </a:tc>
                <a:tc>
                  <a:txBody>
                    <a:bodyPr/>
                    <a:lstStyle/>
                    <a:p>
                      <a:pPr indent="0" marL="0">
                        <a:lnSpc>
                          <a:spcPts val="1680"/>
                        </a:lnSpc>
                        <a:buNone/>
                      </a:pPr>
                      <a:r>
                        <a:rPr lang="en-US" sz="1200" dirty="0">
                          <a:solidFill>
                            <a:srgbClr val="111823"/>
                          </a:solidFill>
                          <a:latin typeface="IBM Plex Sans" pitchFamily="34" charset="0"/>
                          <a:ea typeface="IBM Plex Sans" pitchFamily="34" charset="-122"/>
                          <a:cs typeface="IBM Plex Sans" pitchFamily="34" charset="-120"/>
                        </a:rPr>
                        <a:t>3/4 = 0,75</a:t>
                      </a:r>
                      <a:endParaRPr lang="en-US" sz="1200" dirty="0">
                        <a:latin typeface="IBM Plex Sans" charset="0"/>
                        <a:ea typeface="IBM Plex Sans" charset="0"/>
                        <a:cs typeface="IBM Plex Sans" charset="0"/>
                      </a:endParaRPr>
                    </a:p>
                  </a:txBody>
                  <a:tcPr marL="101600" marR="101600" marT="63500" marB="63500" anchor="t">
                    <a:lnL w="12700" cap="flat" cmpd="sng" algn="ctr">
                      <a:solidFill>
                        <a:srgbClr val="C2C0BC"/>
                      </a:solidFill>
                      <a:prstDash val="solid"/>
                      <a:round/>
                      <a:headEnd type="none" w="med" len="med"/>
                      <a:tailEnd type="none" w="med" len="med"/>
                    </a:lnL>
                    <a:lnR w="12700" cap="flat" cmpd="sng" algn="ctr">
                      <a:solidFill>
                        <a:srgbClr val="C2C0BC"/>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2C0BC"/>
                      </a:solidFill>
                      <a:prstDash val="solid"/>
                      <a:round/>
                      <a:headEnd type="none" w="med" len="med"/>
                      <a:tailEnd type="none" w="med" len="med"/>
                    </a:lnB>
                    <a:solidFill>
                      <a:srgbClr val="F3F1EC"/>
                    </a:solidFill>
                  </a:tcPr>
                </a:tc>
              </a:tr>
              <a:tr h="350520">
                <a:tc>
                  <a:txBody>
                    <a:bodyPr/>
                    <a:lstStyle/>
                    <a:p>
                      <a:pPr indent="0" marL="0">
                        <a:lnSpc>
                          <a:spcPts val="1680"/>
                        </a:lnSpc>
                        <a:buNone/>
                      </a:pPr>
                      <a:r>
                        <a:rPr lang="en-US" sz="1200" dirty="0">
                          <a:solidFill>
                            <a:srgbClr val="111823"/>
                          </a:solidFill>
                          <a:latin typeface="IBM Plex Sans" pitchFamily="34" charset="0"/>
                          <a:ea typeface="IBM Plex Sans" pitchFamily="34" charset="-122"/>
                          <a:cs typeface="IBM Plex Sans" pitchFamily="34" charset="-120"/>
                        </a:rPr>
                        <a:t>5</a:t>
                      </a:r>
                      <a:endParaRPr lang="en-US" sz="1200" dirty="0">
                        <a:latin typeface="IBM Plex Sans" charset="0"/>
                        <a:ea typeface="IBM Plex Sans" charset="0"/>
                        <a:cs typeface="IBM Plex Sans" charset="0"/>
                      </a:endParaRPr>
                    </a:p>
                  </a:txBody>
                  <a:tcPr marL="101600" marR="101600" marT="63500" marB="63500" anchor="t">
                    <a:lnL w="12700" cap="flat" cmpd="sng" algn="ctr">
                      <a:solidFill>
                        <a:srgbClr val="C2C0BC"/>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2C0BC"/>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c>
                  <a:txBody>
                    <a:bodyPr/>
                    <a:lstStyle/>
                    <a:p>
                      <a:pPr indent="0" marL="0">
                        <a:lnSpc>
                          <a:spcPts val="1680"/>
                        </a:lnSpc>
                        <a:buNone/>
                      </a:pPr>
                      <a:r>
                        <a:rPr lang="en-US" sz="1200" dirty="0">
                          <a:solidFill>
                            <a:srgbClr val="111823"/>
                          </a:solidFill>
                          <a:latin typeface="IBM Plex Sans" pitchFamily="34" charset="0"/>
                          <a:ea typeface="IBM Plex Sans" pitchFamily="34" charset="-122"/>
                          <a:cs typeface="IBM Plex Sans" pitchFamily="34" charset="-120"/>
                        </a:rPr>
                        <a:t>0,50</a:t>
                      </a:r>
                      <a:endParaRPr lang="en-US" sz="1200" dirty="0">
                        <a:latin typeface="IBM Plex Sans" charset="0"/>
                        <a:ea typeface="IBM Plex Sans" charset="0"/>
                        <a:cs typeface="IBM Plex Sans" charset="0"/>
                      </a:endParaRPr>
                    </a:p>
                  </a:txBody>
                  <a:tcPr marL="101600" marR="101600" marT="63500" marB="6350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2C0BC"/>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c>
                  <a:txBody>
                    <a:bodyPr/>
                    <a:lstStyle/>
                    <a:p>
                      <a:pPr indent="0" marL="0">
                        <a:lnSpc>
                          <a:spcPts val="1680"/>
                        </a:lnSpc>
                        <a:buNone/>
                      </a:pPr>
                      <a:r>
                        <a:rPr lang="en-US" sz="1200" dirty="0">
                          <a:solidFill>
                            <a:srgbClr val="111823"/>
                          </a:solidFill>
                          <a:latin typeface="IBM Plex Sans" pitchFamily="34" charset="0"/>
                          <a:ea typeface="IBM Plex Sans" pitchFamily="34" charset="-122"/>
                          <a:cs typeface="IBM Plex Sans" pitchFamily="34" charset="-120"/>
                        </a:rPr>
                        <a:t>yanlış</a:t>
                      </a:r>
                      <a:endParaRPr lang="en-US" sz="1200" dirty="0">
                        <a:latin typeface="IBM Plex Sans" charset="0"/>
                        <a:ea typeface="IBM Plex Sans" charset="0"/>
                        <a:cs typeface="IBM Plex Sans" charset="0"/>
                      </a:endParaRPr>
                    </a:p>
                  </a:txBody>
                  <a:tcPr marL="101600" marR="101600" marT="63500" marB="6350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2C0BC"/>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c>
                  <a:txBody>
                    <a:bodyPr/>
                    <a:lstStyle/>
                    <a:p>
                      <a:pPr indent="0" marL="0">
                        <a:lnSpc>
                          <a:spcPts val="1680"/>
                        </a:lnSpc>
                        <a:buNone/>
                      </a:pPr>
                      <a:r>
                        <a:rPr lang="en-US" sz="1200" dirty="0">
                          <a:solidFill>
                            <a:srgbClr val="111823"/>
                          </a:solidFill>
                          <a:latin typeface="IBM Plex Sans" pitchFamily="34" charset="0"/>
                          <a:ea typeface="IBM Plex Sans" pitchFamily="34" charset="-122"/>
                          <a:cs typeface="IBM Plex Sans" pitchFamily="34" charset="-120"/>
                        </a:rPr>
                        <a:t>3/5 = 0,60</a:t>
                      </a:r>
                      <a:endParaRPr lang="en-US" sz="1200" dirty="0">
                        <a:latin typeface="IBM Plex Sans" charset="0"/>
                        <a:ea typeface="IBM Plex Sans" charset="0"/>
                        <a:cs typeface="IBM Plex Sans" charset="0"/>
                      </a:endParaRPr>
                    </a:p>
                  </a:txBody>
                  <a:tcPr marL="101600" marR="101600" marT="63500" marB="6350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2C0BC"/>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c>
                  <a:txBody>
                    <a:bodyPr/>
                    <a:lstStyle/>
                    <a:p>
                      <a:pPr indent="0" marL="0">
                        <a:lnSpc>
                          <a:spcPts val="1680"/>
                        </a:lnSpc>
                        <a:buNone/>
                      </a:pPr>
                      <a:r>
                        <a:rPr lang="en-US" sz="1200" dirty="0">
                          <a:solidFill>
                            <a:srgbClr val="111823"/>
                          </a:solidFill>
                          <a:latin typeface="IBM Plex Sans" pitchFamily="34" charset="0"/>
                          <a:ea typeface="IBM Plex Sans" pitchFamily="34" charset="-122"/>
                          <a:cs typeface="IBM Plex Sans" pitchFamily="34" charset="-120"/>
                        </a:rPr>
                        <a:t>3/4 = 0,75</a:t>
                      </a:r>
                      <a:endParaRPr lang="en-US" sz="1200" dirty="0">
                        <a:latin typeface="IBM Plex Sans" charset="0"/>
                        <a:ea typeface="IBM Plex Sans" charset="0"/>
                        <a:cs typeface="IBM Plex Sans" charset="0"/>
                      </a:endParaRPr>
                    </a:p>
                  </a:txBody>
                  <a:tcPr marL="101600" marR="101600" marT="63500" marB="6350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2C0BC"/>
                      </a:solidFill>
                      <a:prstDash val="solid"/>
                      <a:round/>
                      <a:headEnd type="none" w="med" len="med"/>
                      <a:tailEnd type="none" w="med" len="med"/>
                    </a:lnT>
                    <a:lnB w="12700" cap="flat" cmpd="sng" algn="ctr">
                      <a:solidFill>
                        <a:srgbClr val="C8C7C5"/>
                      </a:solidFill>
                      <a:prstDash val="solid"/>
                      <a:round/>
                      <a:headEnd type="none" w="med" len="med"/>
                      <a:tailEnd type="none" w="med" len="med"/>
                    </a:lnB>
                    <a:solidFill>
                      <a:srgbClr val="FBFAF7"/>
                    </a:solidFill>
                  </a:tcPr>
                </a:tc>
              </a:tr>
              <a:tr h="350520">
                <a:tc>
                  <a:txBody>
                    <a:bodyPr/>
                    <a:lstStyle/>
                    <a:p>
                      <a:pPr indent="0" marL="0">
                        <a:lnSpc>
                          <a:spcPts val="1680"/>
                        </a:lnSpc>
                        <a:buNone/>
                      </a:pPr>
                      <a:r>
                        <a:rPr lang="en-US" sz="1200" dirty="0">
                          <a:solidFill>
                            <a:srgbClr val="111823"/>
                          </a:solidFill>
                          <a:latin typeface="IBM Plex Sans" pitchFamily="34" charset="0"/>
                          <a:ea typeface="IBM Plex Sans" pitchFamily="34" charset="-122"/>
                          <a:cs typeface="IBM Plex Sans" pitchFamily="34" charset="-120"/>
                        </a:rPr>
                        <a:t>6</a:t>
                      </a:r>
                      <a:endParaRPr lang="en-US" sz="1200" dirty="0">
                        <a:latin typeface="IBM Plex Sans" charset="0"/>
                        <a:ea typeface="IBM Plex Sans" charset="0"/>
                        <a:cs typeface="IBM Plex Sans" charset="0"/>
                      </a:endParaRPr>
                    </a:p>
                  </a:txBody>
                  <a:tcPr marL="101600" marR="101600" marT="63500" marB="63500" anchor="t">
                    <a:lnL w="12700" cap="flat" cmpd="sng" algn="ctr">
                      <a:solidFill>
                        <a:srgbClr val="C2C0BC"/>
                      </a:solidFill>
                      <a:prstDash val="solid"/>
                      <a:round/>
                      <a:headEnd type="none" w="med" len="med"/>
                      <a:tailEnd type="none" w="med" len="med"/>
                    </a:lnL>
                    <a:lnR w="12700" cap="flat" cmpd="sng" algn="ctr">
                      <a:solidFill>
                        <a:srgbClr val="C2C0BC"/>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2C0BC"/>
                      </a:solidFill>
                      <a:prstDash val="solid"/>
                      <a:round/>
                      <a:headEnd type="none" w="med" len="med"/>
                      <a:tailEnd type="none" w="med" len="med"/>
                    </a:lnB>
                    <a:solidFill>
                      <a:srgbClr val="F3F1EC"/>
                    </a:solidFill>
                  </a:tcPr>
                </a:tc>
                <a:tc>
                  <a:txBody>
                    <a:bodyPr/>
                    <a:lstStyle/>
                    <a:p>
                      <a:pPr indent="0" marL="0">
                        <a:lnSpc>
                          <a:spcPts val="1680"/>
                        </a:lnSpc>
                        <a:buNone/>
                      </a:pPr>
                      <a:r>
                        <a:rPr lang="en-US" sz="1200" dirty="0">
                          <a:solidFill>
                            <a:srgbClr val="111823"/>
                          </a:solidFill>
                          <a:latin typeface="IBM Plex Sans" pitchFamily="34" charset="0"/>
                          <a:ea typeface="IBM Plex Sans" pitchFamily="34" charset="-122"/>
                          <a:cs typeface="IBM Plex Sans" pitchFamily="34" charset="-120"/>
                        </a:rPr>
                        <a:t>0,30</a:t>
                      </a:r>
                      <a:endParaRPr lang="en-US" sz="1200" dirty="0">
                        <a:latin typeface="IBM Plex Sans" charset="0"/>
                        <a:ea typeface="IBM Plex Sans" charset="0"/>
                        <a:cs typeface="IBM Plex Sans" charset="0"/>
                      </a:endParaRPr>
                    </a:p>
                  </a:txBody>
                  <a:tcPr marL="101600" marR="101600" marT="63500" marB="63500" anchor="t">
                    <a:lnL w="12700" cap="flat" cmpd="sng" algn="ctr">
                      <a:solidFill>
                        <a:srgbClr val="C2C0BC"/>
                      </a:solidFill>
                      <a:prstDash val="solid"/>
                      <a:round/>
                      <a:headEnd type="none" w="med" len="med"/>
                      <a:tailEnd type="none" w="med" len="med"/>
                    </a:lnL>
                    <a:lnR w="12700" cap="flat" cmpd="sng" algn="ctr">
                      <a:solidFill>
                        <a:srgbClr val="C2C0BC"/>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2C0BC"/>
                      </a:solidFill>
                      <a:prstDash val="solid"/>
                      <a:round/>
                      <a:headEnd type="none" w="med" len="med"/>
                      <a:tailEnd type="none" w="med" len="med"/>
                    </a:lnB>
                    <a:solidFill>
                      <a:srgbClr val="F3F1EC"/>
                    </a:solidFill>
                  </a:tcPr>
                </a:tc>
                <a:tc>
                  <a:txBody>
                    <a:bodyPr/>
                    <a:lstStyle/>
                    <a:p>
                      <a:pPr indent="0" marL="0">
                        <a:lnSpc>
                          <a:spcPts val="1680"/>
                        </a:lnSpc>
                        <a:buNone/>
                      </a:pPr>
                      <a:r>
                        <a:rPr lang="en-US" sz="1200" dirty="0">
                          <a:solidFill>
                            <a:srgbClr val="111823"/>
                          </a:solidFill>
                          <a:latin typeface="IBM Plex Sans" pitchFamily="34" charset="0"/>
                          <a:ea typeface="IBM Plex Sans" pitchFamily="34" charset="-122"/>
                          <a:cs typeface="IBM Plex Sans" pitchFamily="34" charset="-120"/>
                        </a:rPr>
                        <a:t>doğru</a:t>
                      </a:r>
                      <a:endParaRPr lang="en-US" sz="1200" dirty="0">
                        <a:latin typeface="IBM Plex Sans" charset="0"/>
                        <a:ea typeface="IBM Plex Sans" charset="0"/>
                        <a:cs typeface="IBM Plex Sans" charset="0"/>
                      </a:endParaRPr>
                    </a:p>
                  </a:txBody>
                  <a:tcPr marL="101600" marR="101600" marT="63500" marB="63500" anchor="t">
                    <a:lnL w="12700" cap="flat" cmpd="sng" algn="ctr">
                      <a:solidFill>
                        <a:srgbClr val="C2C0BC"/>
                      </a:solidFill>
                      <a:prstDash val="solid"/>
                      <a:round/>
                      <a:headEnd type="none" w="med" len="med"/>
                      <a:tailEnd type="none" w="med" len="med"/>
                    </a:lnL>
                    <a:lnR w="12700" cap="flat" cmpd="sng" algn="ctr">
                      <a:solidFill>
                        <a:srgbClr val="C2C0BC"/>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2C0BC"/>
                      </a:solidFill>
                      <a:prstDash val="solid"/>
                      <a:round/>
                      <a:headEnd type="none" w="med" len="med"/>
                      <a:tailEnd type="none" w="med" len="med"/>
                    </a:lnB>
                    <a:solidFill>
                      <a:srgbClr val="F3F1EC"/>
                    </a:solidFill>
                  </a:tcPr>
                </a:tc>
                <a:tc>
                  <a:txBody>
                    <a:bodyPr/>
                    <a:lstStyle/>
                    <a:p>
                      <a:pPr indent="0" marL="0">
                        <a:lnSpc>
                          <a:spcPts val="1680"/>
                        </a:lnSpc>
                        <a:buNone/>
                      </a:pPr>
                      <a:r>
                        <a:rPr lang="en-US" sz="1200" dirty="0">
                          <a:solidFill>
                            <a:srgbClr val="111823"/>
                          </a:solidFill>
                          <a:latin typeface="IBM Plex Sans" pitchFamily="34" charset="0"/>
                          <a:ea typeface="IBM Plex Sans" pitchFamily="34" charset="-122"/>
                          <a:cs typeface="IBM Plex Sans" pitchFamily="34" charset="-120"/>
                        </a:rPr>
                        <a:t>4/6 = 0,67</a:t>
                      </a:r>
                      <a:endParaRPr lang="en-US" sz="1200" dirty="0">
                        <a:latin typeface="IBM Plex Sans" charset="0"/>
                        <a:ea typeface="IBM Plex Sans" charset="0"/>
                        <a:cs typeface="IBM Plex Sans" charset="0"/>
                      </a:endParaRPr>
                    </a:p>
                  </a:txBody>
                  <a:tcPr marL="101600" marR="101600" marT="63500" marB="63500" anchor="t">
                    <a:lnL w="12700" cap="flat" cmpd="sng" algn="ctr">
                      <a:solidFill>
                        <a:srgbClr val="C2C0BC"/>
                      </a:solidFill>
                      <a:prstDash val="solid"/>
                      <a:round/>
                      <a:headEnd type="none" w="med" len="med"/>
                      <a:tailEnd type="none" w="med" len="med"/>
                    </a:lnL>
                    <a:lnR w="12700" cap="flat" cmpd="sng" algn="ctr">
                      <a:solidFill>
                        <a:srgbClr val="C2C0BC"/>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2C0BC"/>
                      </a:solidFill>
                      <a:prstDash val="solid"/>
                      <a:round/>
                      <a:headEnd type="none" w="med" len="med"/>
                      <a:tailEnd type="none" w="med" len="med"/>
                    </a:lnB>
                    <a:solidFill>
                      <a:srgbClr val="F3F1EC"/>
                    </a:solidFill>
                  </a:tcPr>
                </a:tc>
                <a:tc>
                  <a:txBody>
                    <a:bodyPr/>
                    <a:lstStyle/>
                    <a:p>
                      <a:pPr indent="0" marL="0">
                        <a:lnSpc>
                          <a:spcPts val="1680"/>
                        </a:lnSpc>
                        <a:buNone/>
                      </a:pPr>
                      <a:r>
                        <a:rPr lang="en-US" sz="1200" dirty="0">
                          <a:solidFill>
                            <a:srgbClr val="111823"/>
                          </a:solidFill>
                          <a:latin typeface="IBM Plex Sans" pitchFamily="34" charset="0"/>
                          <a:ea typeface="IBM Plex Sans" pitchFamily="34" charset="-122"/>
                          <a:cs typeface="IBM Plex Sans" pitchFamily="34" charset="-120"/>
                        </a:rPr>
                        <a:t>4/4 = 1,00</a:t>
                      </a:r>
                      <a:endParaRPr lang="en-US" sz="1200" dirty="0">
                        <a:latin typeface="IBM Plex Sans" charset="0"/>
                        <a:ea typeface="IBM Plex Sans" charset="0"/>
                        <a:cs typeface="IBM Plex Sans" charset="0"/>
                      </a:endParaRPr>
                    </a:p>
                  </a:txBody>
                  <a:tcPr marL="101600" marR="101600" marT="63500" marB="63500" anchor="t">
                    <a:lnL w="12700" cap="flat" cmpd="sng" algn="ctr">
                      <a:solidFill>
                        <a:srgbClr val="C2C0BC"/>
                      </a:solidFill>
                      <a:prstDash val="solid"/>
                      <a:round/>
                      <a:headEnd type="none" w="med" len="med"/>
                      <a:tailEnd type="none" w="med" len="med"/>
                    </a:lnL>
                    <a:lnR w="12700" cap="flat" cmpd="sng" algn="ctr">
                      <a:solidFill>
                        <a:srgbClr val="C2C0BC"/>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2C0BC"/>
                      </a:solidFill>
                      <a:prstDash val="solid"/>
                      <a:round/>
                      <a:headEnd type="none" w="med" len="med"/>
                      <a:tailEnd type="none" w="med" len="med"/>
                    </a:lnB>
                    <a:solidFill>
                      <a:srgbClr val="F3F1EC"/>
                    </a:solidFill>
                  </a:tcPr>
                </a:tc>
              </a:tr>
            </a:tbl>
          </a:graphicData>
        </a:graphic>
      </p:graphicFrame>
      <p:sp>
        <p:nvSpPr>
          <p:cNvPr id="7" name="Text 4"/>
          <p:cNvSpPr/>
          <p:nvPr/>
        </p:nvSpPr>
        <p:spPr>
          <a:xfrm>
            <a:off x="812800" y="4699000"/>
            <a:ext cx="5807964" cy="4521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A5563"/>
                </a:solidFill>
                <a:latin typeface="IBM Plex Sans" pitchFamily="34" charset="0"/>
                <a:ea typeface="IBM Plex Sans" pitchFamily="34" charset="-122"/>
                <a:cs typeface="IBM Plex Sans" pitchFamily="34" charset="-120"/>
              </a:rPr>
              <a:t>Doğru:</a:t>
            </a:r>
            <a:r>
              <a:rPr lang="en-US" sz="1200" dirty="0">
                <a:solidFill>
                  <a:srgbClr val="4A5563"/>
                </a:solidFill>
                <a:latin typeface="IBM Plex Sans" pitchFamily="34" charset="0"/>
                <a:ea typeface="IBM Plex Sans" pitchFamily="34" charset="-122"/>
                <a:cs typeface="IBM Plex Sans" pitchFamily="34" charset="-120"/>
              </a:rPr>
              <a:t> gerçek bir insanla IoU ≥ 0,5 (IoU = kesişim ÷ birleşim). </a:t>
            </a:r>
            <a:r>
              <a:rPr lang="en-US" sz="1200" b="1" dirty="0">
                <a:solidFill>
                  <a:srgbClr val="4A5563"/>
                </a:solidFill>
                <a:latin typeface="IBM Plex Sans" pitchFamily="34" charset="0"/>
                <a:ea typeface="IBM Plex Sans" pitchFamily="34" charset="-122"/>
                <a:cs typeface="IBM Plex Sans" pitchFamily="34" charset="-120"/>
              </a:rPr>
              <a:t>Kesinlik</a:t>
            </a:r>
            <a:r>
              <a:rPr lang="en-US" sz="1200" dirty="0">
                <a:solidFill>
                  <a:srgbClr val="4A5563"/>
                </a:solidFill>
                <a:latin typeface="IBM Plex Sans" pitchFamily="34" charset="0"/>
                <a:ea typeface="IBM Plex Sans" pitchFamily="34" charset="-122"/>
                <a:cs typeface="IBM Plex Sans" pitchFamily="34" charset="-120"/>
              </a:rPr>
              <a:t> = doğru ÷ tahmin. </a:t>
            </a:r>
            <a:r>
              <a:rPr lang="en-US" sz="1200" b="1" dirty="0">
                <a:solidFill>
                  <a:srgbClr val="4A5563"/>
                </a:solidFill>
                <a:latin typeface="IBM Plex Sans" pitchFamily="34" charset="0"/>
                <a:ea typeface="IBM Plex Sans" pitchFamily="34" charset="-122"/>
                <a:cs typeface="IBM Plex Sans" pitchFamily="34" charset="-120"/>
              </a:rPr>
              <a:t>Duyarlılık</a:t>
            </a:r>
            <a:r>
              <a:rPr lang="en-US" sz="1200" dirty="0">
                <a:solidFill>
                  <a:srgbClr val="4A5563"/>
                </a:solidFill>
                <a:latin typeface="IBM Plex Sans" pitchFamily="34" charset="0"/>
                <a:ea typeface="IBM Plex Sans" pitchFamily="34" charset="-122"/>
                <a:cs typeface="IBM Plex Sans" pitchFamily="34" charset="-120"/>
              </a:rPr>
              <a:t> = bulunan ÷ gerçek insan.</a:t>
            </a:r>
            <a:endParaRPr lang="en-US" sz="1200" dirty="0"/>
          </a:p>
        </p:txBody>
      </p:sp>
      <p:pic>
        <p:nvPicPr>
          <p:cNvPr id="8" name="Image 0" descr="Kesinlik-duyarlılık eğrisi: duyarlılık 0,5'e kadar kesinlik 1, sonra 0,75 ve 0,67'ye iniyor; eğrinin altı turuncuyla boyalı">    </p:cNvPr>
          <p:cNvPicPr>
            <a:picLocks noChangeAspect="1"/>
          </p:cNvPicPr>
          <p:nvPr/>
        </p:nvPicPr>
        <p:blipFill>
          <a:blip r:embed="rId1"/>
          <a:srcRect l="0" r="0" t="0" b="0"/>
          <a:stretch/>
        </p:blipFill>
        <p:spPr>
          <a:xfrm>
            <a:off x="6807200" y="1564642"/>
            <a:ext cx="4572000" cy="2540000"/>
          </a:xfrm>
          <a:prstGeom prst="rect">
            <a:avLst/>
          </a:prstGeom>
        </p:spPr>
      </p:pic>
      <p:sp>
        <p:nvSpPr>
          <p:cNvPr id="9" name="Text 5"/>
          <p:cNvSpPr/>
          <p:nvPr/>
        </p:nvSpPr>
        <p:spPr>
          <a:xfrm>
            <a:off x="6756400" y="1590042"/>
            <a:ext cx="431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2"/>
                </a:solidFill>
                <a:latin typeface="IBM Plex Mono" pitchFamily="49" charset="0"/>
                <a:ea typeface="IBM Plex Mono" pitchFamily="49" charset="-122"/>
                <a:cs typeface="IBM Plex Mono" pitchFamily="49" charset="-120"/>
              </a:rPr>
              <a:t>1</a:t>
            </a:r>
            <a:endParaRPr lang="en-US" sz="1200" dirty="0"/>
          </a:p>
        </p:txBody>
      </p:sp>
      <p:sp>
        <p:nvSpPr>
          <p:cNvPr id="10" name="Text 6"/>
          <p:cNvSpPr/>
          <p:nvPr/>
        </p:nvSpPr>
        <p:spPr>
          <a:xfrm>
            <a:off x="6756400" y="2606042"/>
            <a:ext cx="431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2"/>
                </a:solidFill>
                <a:latin typeface="IBM Plex Mono" pitchFamily="49" charset="0"/>
                <a:ea typeface="IBM Plex Mono" pitchFamily="49" charset="-122"/>
                <a:cs typeface="IBM Plex Mono" pitchFamily="49" charset="-120"/>
              </a:rPr>
              <a:t>0,5</a:t>
            </a:r>
            <a:endParaRPr lang="en-US" sz="1200" dirty="0"/>
          </a:p>
        </p:txBody>
      </p:sp>
      <p:sp>
        <p:nvSpPr>
          <p:cNvPr id="11" name="Text 7"/>
          <p:cNvSpPr/>
          <p:nvPr/>
        </p:nvSpPr>
        <p:spPr>
          <a:xfrm>
            <a:off x="6756400" y="3622042"/>
            <a:ext cx="431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2"/>
                </a:solidFill>
                <a:latin typeface="IBM Plex Mono" pitchFamily="49" charset="0"/>
                <a:ea typeface="IBM Plex Mono" pitchFamily="49" charset="-122"/>
                <a:cs typeface="IBM Plex Mono" pitchFamily="49" charset="-120"/>
              </a:rPr>
              <a:t>0</a:t>
            </a:r>
            <a:endParaRPr lang="en-US" sz="1200" dirty="0"/>
          </a:p>
        </p:txBody>
      </p:sp>
      <p:sp>
        <p:nvSpPr>
          <p:cNvPr id="12" name="Text 8"/>
          <p:cNvSpPr/>
          <p:nvPr/>
        </p:nvSpPr>
        <p:spPr>
          <a:xfrm>
            <a:off x="8940800" y="3787142"/>
            <a:ext cx="55880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B6472"/>
                </a:solidFill>
                <a:latin typeface="IBM Plex Mono" pitchFamily="49" charset="0"/>
                <a:ea typeface="IBM Plex Mono" pitchFamily="49" charset="-122"/>
                <a:cs typeface="IBM Plex Mono" pitchFamily="49" charset="-120"/>
              </a:rPr>
              <a:t>0,5</a:t>
            </a:r>
            <a:endParaRPr lang="en-US" sz="1200" dirty="0"/>
          </a:p>
        </p:txBody>
      </p:sp>
      <p:sp>
        <p:nvSpPr>
          <p:cNvPr id="13" name="Text 9"/>
          <p:cNvSpPr/>
          <p:nvPr/>
        </p:nvSpPr>
        <p:spPr>
          <a:xfrm>
            <a:off x="10909300" y="3787142"/>
            <a:ext cx="55880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B6472"/>
                </a:solidFill>
                <a:latin typeface="IBM Plex Mono" pitchFamily="49" charset="0"/>
                <a:ea typeface="IBM Plex Mono" pitchFamily="49" charset="-122"/>
                <a:cs typeface="IBM Plex Mono" pitchFamily="49" charset="-120"/>
              </a:rPr>
              <a:t>1</a:t>
            </a:r>
            <a:endParaRPr lang="en-US" sz="1200" dirty="0"/>
          </a:p>
        </p:txBody>
      </p:sp>
      <p:sp>
        <p:nvSpPr>
          <p:cNvPr id="14" name="Text 10"/>
          <p:cNvSpPr/>
          <p:nvPr/>
        </p:nvSpPr>
        <p:spPr>
          <a:xfrm>
            <a:off x="7416800" y="1844042"/>
            <a:ext cx="14478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11823"/>
                </a:solidFill>
                <a:latin typeface="IBM Plex Sans" pitchFamily="34" charset="0"/>
                <a:ea typeface="IBM Plex Sans" pitchFamily="34" charset="-122"/>
                <a:cs typeface="IBM Plex Sans" pitchFamily="34" charset="-120"/>
              </a:rPr>
              <a:t>Kesinlik ↑</a:t>
            </a:r>
            <a:endParaRPr lang="en-US" sz="1200" dirty="0"/>
          </a:p>
        </p:txBody>
      </p:sp>
      <p:sp>
        <p:nvSpPr>
          <p:cNvPr id="15" name="Text 11"/>
          <p:cNvSpPr/>
          <p:nvPr/>
        </p:nvSpPr>
        <p:spPr>
          <a:xfrm>
            <a:off x="9550400" y="3342642"/>
            <a:ext cx="1574800" cy="23876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111823"/>
                </a:solidFill>
                <a:latin typeface="IBM Plex Sans" pitchFamily="34" charset="0"/>
                <a:ea typeface="IBM Plex Sans" pitchFamily="34" charset="-122"/>
                <a:cs typeface="IBM Plex Sans" pitchFamily="34" charset="-120"/>
              </a:rPr>
              <a:t>Duyarlılık →</a:t>
            </a:r>
            <a:endParaRPr lang="en-US" sz="1200" dirty="0"/>
          </a:p>
        </p:txBody>
      </p:sp>
      <p:sp>
        <p:nvSpPr>
          <p:cNvPr id="16" name="Text 12"/>
          <p:cNvSpPr/>
          <p:nvPr/>
        </p:nvSpPr>
        <p:spPr>
          <a:xfrm>
            <a:off x="6807200" y="4180842"/>
            <a:ext cx="4709160"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9A5800"/>
                </a:solidFill>
                <a:latin typeface="Space Grotesk" pitchFamily="34" charset="0"/>
                <a:ea typeface="Space Grotesk" pitchFamily="34" charset="-122"/>
                <a:cs typeface="Space Grotesk" pitchFamily="34" charset="-120"/>
              </a:rPr>
              <a:t>AP50 ≈ 0,85</a:t>
            </a:r>
            <a:endParaRPr lang="en-US" sz="3200" dirty="0"/>
          </a:p>
        </p:txBody>
      </p:sp>
      <p:sp>
        <p:nvSpPr>
          <p:cNvPr id="17" name="Text 13"/>
          <p:cNvSpPr/>
          <p:nvPr/>
        </p:nvSpPr>
        <p:spPr>
          <a:xfrm>
            <a:off x="6807200" y="4704079"/>
            <a:ext cx="470916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Turuncu alan eğrinin altındaki alan: AP. Bütün sınıfların ortalamasına mAP50 denir; modelleri bununla karşılaştırırız.</a:t>
            </a:r>
            <a:endParaRPr lang="en-US" sz="1200" dirty="0"/>
          </a:p>
        </p:txBody>
      </p:sp>
      <p:sp>
        <p:nvSpPr>
          <p:cNvPr id="18" name="Text 14"/>
          <p:cNvSpPr/>
          <p:nvPr/>
        </p:nvSpPr>
        <p:spPr>
          <a:xfrm>
            <a:off x="812800" y="6238242"/>
            <a:ext cx="71945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IBM Plex Sans" pitchFamily="34" charset="0"/>
                <a:ea typeface="IBM Plex Sans" pitchFamily="34" charset="-122"/>
                <a:cs typeface="IBM Plex Sans" pitchFamily="34" charset="-120"/>
              </a:rPr>
              <a:t>Gökyüzünden nesne bulmak · SKY LAB Akademi</a:t>
            </a:r>
            <a:endParaRPr lang="en-US" sz="1200" dirty="0"/>
          </a:p>
        </p:txBody>
      </p:sp>
      <p:sp>
        <p:nvSpPr>
          <p:cNvPr id="19" name="Text 15"/>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2"/>
                </a:solidFill>
                <a:latin typeface="IBM Plex Mono" pitchFamily="49" charset="0"/>
                <a:ea typeface="IBM Plex Mono" pitchFamily="49" charset="-122"/>
                <a:cs typeface="IBM Plex Mono" pitchFamily="49"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3F1E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111823"/>
                </a:solidFill>
                <a:latin typeface="Space Grotesk" pitchFamily="34" charset="0"/>
                <a:ea typeface="Space Grotesk" pitchFamily="34" charset="-122"/>
                <a:cs typeface="Space Grotesk" pitchFamily="34" charset="-120"/>
              </a:rPr>
              <a:t>Örnekle, hatayla ve ince ayarla</a:t>
            </a:r>
            <a:endParaRPr lang="en-US" sz="3200" dirty="0"/>
          </a:p>
        </p:txBody>
      </p:sp>
      <p:sp>
        <p:nvSpPr>
          <p:cNvPr id="3" name="Text 1"/>
          <p:cNvSpPr/>
          <p:nvPr/>
        </p:nvSpPr>
        <p:spPr>
          <a:xfrm>
            <a:off x="812800" y="1564642"/>
            <a:ext cx="355600" cy="53086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9A5800"/>
                </a:solidFill>
                <a:latin typeface="IBM Plex Mono" pitchFamily="49" charset="0"/>
                <a:ea typeface="IBM Plex Mono" pitchFamily="49" charset="-122"/>
                <a:cs typeface="IBM Plex Mono" pitchFamily="49" charset="-120"/>
              </a:rPr>
              <a:t>1</a:t>
            </a:r>
            <a:endParaRPr lang="en-US" sz="1500" dirty="0"/>
          </a:p>
        </p:txBody>
      </p:sp>
      <p:sp>
        <p:nvSpPr>
          <p:cNvPr id="4" name="Text 2"/>
          <p:cNvSpPr/>
          <p:nvPr/>
        </p:nvSpPr>
        <p:spPr>
          <a:xfrm>
            <a:off x="1270000" y="1564642"/>
            <a:ext cx="5415534"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11823"/>
                </a:solidFill>
                <a:latin typeface="IBM Plex Sans" pitchFamily="34" charset="0"/>
                <a:ea typeface="IBM Plex Sans" pitchFamily="34" charset="-122"/>
                <a:cs typeface="IBM Plex Sans" pitchFamily="34" charset="-120"/>
              </a:rPr>
              <a:t>Etiketli örnek</a:t>
            </a:r>
            <a:endParaRPr lang="en-US" sz="1500" dirty="0"/>
          </a:p>
        </p:txBody>
      </p:sp>
      <p:sp>
        <p:nvSpPr>
          <p:cNvPr id="5" name="Text 3"/>
          <p:cNvSpPr/>
          <p:nvPr/>
        </p:nvSpPr>
        <p:spPr>
          <a:xfrm>
            <a:off x="1270000" y="1856742"/>
            <a:ext cx="541553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Görüntü ve üzerine elle çizilmiş kutular</a:t>
            </a:r>
            <a:endParaRPr lang="en-US" sz="1200" dirty="0"/>
          </a:p>
        </p:txBody>
      </p:sp>
      <p:sp>
        <p:nvSpPr>
          <p:cNvPr id="6" name="Text 4"/>
          <p:cNvSpPr/>
          <p:nvPr/>
        </p:nvSpPr>
        <p:spPr>
          <a:xfrm>
            <a:off x="812800" y="2222500"/>
            <a:ext cx="355600" cy="53086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9A5800"/>
                </a:solidFill>
                <a:latin typeface="IBM Plex Mono" pitchFamily="49" charset="0"/>
                <a:ea typeface="IBM Plex Mono" pitchFamily="49" charset="-122"/>
                <a:cs typeface="IBM Plex Mono" pitchFamily="49" charset="-120"/>
              </a:rPr>
              <a:t>2</a:t>
            </a:r>
            <a:endParaRPr lang="en-US" sz="1500" dirty="0"/>
          </a:p>
        </p:txBody>
      </p:sp>
      <p:sp>
        <p:nvSpPr>
          <p:cNvPr id="7" name="Text 5"/>
          <p:cNvSpPr/>
          <p:nvPr/>
        </p:nvSpPr>
        <p:spPr>
          <a:xfrm>
            <a:off x="1270000" y="2222500"/>
            <a:ext cx="5415534"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11823"/>
                </a:solidFill>
                <a:latin typeface="IBM Plex Sans" pitchFamily="34" charset="0"/>
                <a:ea typeface="IBM Plex Sans" pitchFamily="34" charset="-122"/>
                <a:cs typeface="IBM Plex Sans" pitchFamily="34" charset="-120"/>
              </a:rPr>
              <a:t>Tahmin</a:t>
            </a:r>
            <a:endParaRPr lang="en-US" sz="1500" dirty="0"/>
          </a:p>
        </p:txBody>
      </p:sp>
      <p:sp>
        <p:nvSpPr>
          <p:cNvPr id="8" name="Text 6"/>
          <p:cNvSpPr/>
          <p:nvPr/>
        </p:nvSpPr>
        <p:spPr>
          <a:xfrm>
            <a:off x="1270000" y="2514600"/>
            <a:ext cx="541553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Model kendi kutularını çizer</a:t>
            </a:r>
            <a:endParaRPr lang="en-US" sz="1200" dirty="0"/>
          </a:p>
        </p:txBody>
      </p:sp>
      <p:sp>
        <p:nvSpPr>
          <p:cNvPr id="9" name="Text 7"/>
          <p:cNvSpPr/>
          <p:nvPr/>
        </p:nvSpPr>
        <p:spPr>
          <a:xfrm>
            <a:off x="812800" y="2880364"/>
            <a:ext cx="355600" cy="53086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9A5800"/>
                </a:solidFill>
                <a:latin typeface="IBM Plex Mono" pitchFamily="49" charset="0"/>
                <a:ea typeface="IBM Plex Mono" pitchFamily="49" charset="-122"/>
                <a:cs typeface="IBM Plex Mono" pitchFamily="49" charset="-120"/>
              </a:rPr>
              <a:t>3</a:t>
            </a:r>
            <a:endParaRPr lang="en-US" sz="1500" dirty="0"/>
          </a:p>
        </p:txBody>
      </p:sp>
      <p:sp>
        <p:nvSpPr>
          <p:cNvPr id="10" name="Text 8"/>
          <p:cNvSpPr/>
          <p:nvPr/>
        </p:nvSpPr>
        <p:spPr>
          <a:xfrm>
            <a:off x="1270000" y="2880364"/>
            <a:ext cx="5415534"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11823"/>
                </a:solidFill>
                <a:latin typeface="IBM Plex Sans" pitchFamily="34" charset="0"/>
                <a:ea typeface="IBM Plex Sans" pitchFamily="34" charset="-122"/>
                <a:cs typeface="IBM Plex Sans" pitchFamily="34" charset="-120"/>
              </a:rPr>
              <a:t>Hata</a:t>
            </a:r>
            <a:endParaRPr lang="en-US" sz="1500" dirty="0"/>
          </a:p>
        </p:txBody>
      </p:sp>
      <p:sp>
        <p:nvSpPr>
          <p:cNvPr id="11" name="Text 9"/>
          <p:cNvSpPr/>
          <p:nvPr/>
        </p:nvSpPr>
        <p:spPr>
          <a:xfrm>
            <a:off x="1270000" y="3172464"/>
            <a:ext cx="541553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Tahmin ile etiket arasındaki fark ölçülür</a:t>
            </a:r>
            <a:endParaRPr lang="en-US" sz="1200" dirty="0"/>
          </a:p>
        </p:txBody>
      </p:sp>
      <p:sp>
        <p:nvSpPr>
          <p:cNvPr id="12" name="Text 10"/>
          <p:cNvSpPr/>
          <p:nvPr/>
        </p:nvSpPr>
        <p:spPr>
          <a:xfrm>
            <a:off x="812800" y="3538221"/>
            <a:ext cx="355600" cy="53086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9A5800"/>
                </a:solidFill>
                <a:latin typeface="IBM Plex Mono" pitchFamily="49" charset="0"/>
                <a:ea typeface="IBM Plex Mono" pitchFamily="49" charset="-122"/>
                <a:cs typeface="IBM Plex Mono" pitchFamily="49" charset="-120"/>
              </a:rPr>
              <a:t>4</a:t>
            </a:r>
            <a:endParaRPr lang="en-US" sz="1500" dirty="0"/>
          </a:p>
        </p:txBody>
      </p:sp>
      <p:sp>
        <p:nvSpPr>
          <p:cNvPr id="13" name="Text 11"/>
          <p:cNvSpPr/>
          <p:nvPr/>
        </p:nvSpPr>
        <p:spPr>
          <a:xfrm>
            <a:off x="1270000" y="3538221"/>
            <a:ext cx="5415534"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11823"/>
                </a:solidFill>
                <a:latin typeface="IBM Plex Sans" pitchFamily="34" charset="0"/>
                <a:ea typeface="IBM Plex Sans" pitchFamily="34" charset="-122"/>
                <a:cs typeface="IBM Plex Sans" pitchFamily="34" charset="-120"/>
              </a:rPr>
              <a:t>Düzeltme</a:t>
            </a:r>
            <a:endParaRPr lang="en-US" sz="1500" dirty="0"/>
          </a:p>
        </p:txBody>
      </p:sp>
      <p:sp>
        <p:nvSpPr>
          <p:cNvPr id="14" name="Text 12"/>
          <p:cNvSpPr/>
          <p:nvPr/>
        </p:nvSpPr>
        <p:spPr>
          <a:xfrm>
            <a:off x="1270000" y="3830321"/>
            <a:ext cx="541553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Modelin ağırlıkları hatayı azaltacak yönde biraz değişir</a:t>
            </a:r>
            <a:endParaRPr lang="en-US" sz="1200" dirty="0"/>
          </a:p>
        </p:txBody>
      </p:sp>
      <p:sp>
        <p:nvSpPr>
          <p:cNvPr id="15" name="Text 13"/>
          <p:cNvSpPr/>
          <p:nvPr/>
        </p:nvSpPr>
        <p:spPr>
          <a:xfrm>
            <a:off x="812800" y="4196079"/>
            <a:ext cx="5886450" cy="238760"/>
          </a:xfrm>
          <a:prstGeom prst="rect">
            <a:avLst/>
          </a:prstGeom>
          <a:noFill/>
          <a:ln/>
        </p:spPr>
        <p:txBody>
          <a:bodyPr wrap="square" lIns="0" tIns="0" rIns="0" bIns="0" rtlCol="0" anchor="t">
            <a:normAutofit/>
          </a:bodyPr>
          <a:lstStyle/>
          <a:p>
            <a:pPr algn="l" indent="0" marL="0">
              <a:lnSpc>
                <a:spcPts val="1680"/>
              </a:lnSpc>
              <a:buNone/>
            </a:pPr>
            <a:r>
              <a:rPr lang="en-US" sz="1200" i="1" dirty="0">
                <a:solidFill>
                  <a:srgbClr val="4A5563"/>
                </a:solidFill>
                <a:latin typeface="IBM Plex Sans" pitchFamily="34" charset="0"/>
                <a:ea typeface="IBM Plex Sans" pitchFamily="34" charset="-122"/>
                <a:cs typeface="IBM Plex Sans" pitchFamily="34" charset="-120"/>
              </a:rPr>
              <a:t>Bu döngü binlerce kez tekrarlanır.</a:t>
            </a:r>
            <a:endParaRPr lang="en-US" sz="1200" dirty="0"/>
          </a:p>
        </p:txBody>
      </p:sp>
      <p:sp>
        <p:nvSpPr>
          <p:cNvPr id="16" name="Shape 14"/>
          <p:cNvSpPr/>
          <p:nvPr/>
        </p:nvSpPr>
        <p:spPr>
          <a:xfrm>
            <a:off x="6934200" y="1564642"/>
            <a:ext cx="4445000" cy="3761740"/>
          </a:xfrm>
          <a:prstGeom prst="roundRect">
            <a:avLst>
              <a:gd name="adj" fmla="val 3376"/>
            </a:avLst>
          </a:prstGeom>
          <a:solidFill>
            <a:srgbClr val="0B1118"/>
          </a:solidFill>
          <a:ln/>
        </p:spPr>
      </p:sp>
      <p:sp>
        <p:nvSpPr>
          <p:cNvPr id="17" name="Text 15"/>
          <p:cNvSpPr/>
          <p:nvPr/>
        </p:nvSpPr>
        <p:spPr>
          <a:xfrm>
            <a:off x="7239000" y="1869442"/>
            <a:ext cx="3950462"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E8EDF2"/>
                </a:solidFill>
                <a:latin typeface="Space Grotesk" pitchFamily="34" charset="0"/>
                <a:ea typeface="Space Grotesk" pitchFamily="34" charset="-122"/>
                <a:cs typeface="Space Grotesk" pitchFamily="34" charset="-120"/>
              </a:rPr>
              <a:t>İnce ayar (fine-tuning)</a:t>
            </a:r>
            <a:endParaRPr lang="en-US" sz="1600" dirty="0"/>
          </a:p>
        </p:txBody>
      </p:sp>
      <p:sp>
        <p:nvSpPr>
          <p:cNvPr id="18" name="Text 16"/>
          <p:cNvSpPr/>
          <p:nvPr/>
        </p:nvSpPr>
        <p:spPr>
          <a:xfrm>
            <a:off x="7239000" y="2240279"/>
            <a:ext cx="3950462"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8EDF2"/>
                </a:solidFill>
                <a:latin typeface="IBM Plex Sans" pitchFamily="34" charset="0"/>
                <a:ea typeface="IBM Plex Sans" pitchFamily="34" charset="-122"/>
                <a:cs typeface="IBM Plex Sans" pitchFamily="34" charset="-120"/>
              </a:rPr>
              <a:t>Sıfırdan eğitmek çok veri ister. Hazır bir modelin bildiklerinin üstüne kendi verini öğretmek çok daha hızlıdır.</a:t>
            </a:r>
            <a:endParaRPr lang="en-US" sz="1500" dirty="0"/>
          </a:p>
        </p:txBody>
      </p:sp>
      <p:sp>
        <p:nvSpPr>
          <p:cNvPr id="19" name="Text 17"/>
          <p:cNvSpPr/>
          <p:nvPr/>
        </p:nvSpPr>
        <p:spPr>
          <a:xfrm>
            <a:off x="7239000" y="3167379"/>
            <a:ext cx="3835400" cy="604520"/>
          </a:xfrm>
          <a:prstGeom prst="roundRect">
            <a:avLst>
              <a:gd name="adj" fmla="val 12605"/>
            </a:avLst>
          </a:prstGeom>
          <a:solidFill>
            <a:srgbClr val="121B26"/>
          </a:solidFill>
          <a:ln/>
        </p:spPr>
        <p:txBody>
          <a:bodyPr wrap="square" lIns="104682" tIns="66582" rIns="0" bIns="41182" rtlCol="0" anchor="t">
            <a:normAutofit/>
          </a:bodyPr>
          <a:lstStyle/>
          <a:p>
            <a:pPr algn="l" indent="0" marL="0">
              <a:lnSpc>
                <a:spcPts val="1680"/>
              </a:lnSpc>
              <a:buNone/>
            </a:pPr>
            <a:r>
              <a:rPr lang="en-US" sz="1200" dirty="0">
                <a:solidFill>
                  <a:srgbClr val="E8EDF2"/>
                </a:solidFill>
                <a:latin typeface="IBM Plex Sans" pitchFamily="34" charset="0"/>
                <a:ea typeface="IBM Plex Sans" pitchFamily="34" charset="-122"/>
                <a:cs typeface="IBM Plex Sans" pitchFamily="34" charset="-120"/>
              </a:rPr>
              <a:t>Hazır model: büyük bir veri setiyle eğitilmiş, ör. klasik YOLO için COCO'nun ~118 bin görüntüsü</a:t>
            </a:r>
            <a:endParaRPr lang="en-US" sz="1200" dirty="0"/>
          </a:p>
        </p:txBody>
      </p:sp>
      <p:sp>
        <p:nvSpPr>
          <p:cNvPr id="20" name="Text 18"/>
          <p:cNvSpPr/>
          <p:nvPr/>
        </p:nvSpPr>
        <p:spPr>
          <a:xfrm>
            <a:off x="7239000" y="3835400"/>
            <a:ext cx="3835400" cy="391160"/>
          </a:xfrm>
          <a:prstGeom prst="roundRect">
            <a:avLst>
              <a:gd name="adj" fmla="val 19481"/>
            </a:avLst>
          </a:prstGeom>
          <a:solidFill>
            <a:srgbClr val="121B26"/>
          </a:solidFill>
          <a:ln/>
        </p:spPr>
        <p:txBody>
          <a:bodyPr wrap="square" lIns="104682" tIns="66582" rIns="0" bIns="41182" rtlCol="0" anchor="t">
            <a:normAutofit/>
          </a:bodyPr>
          <a:lstStyle/>
          <a:p>
            <a:pPr algn="l" indent="0" marL="0">
              <a:lnSpc>
                <a:spcPts val="1680"/>
              </a:lnSpc>
              <a:buNone/>
            </a:pPr>
            <a:r>
              <a:rPr lang="en-US" sz="1200" dirty="0">
                <a:solidFill>
                  <a:srgbClr val="E8EDF2"/>
                </a:solidFill>
                <a:latin typeface="IBM Plex Sans" pitchFamily="34" charset="0"/>
                <a:ea typeface="IBM Plex Sans" pitchFamily="34" charset="-122"/>
                <a:cs typeface="IBM Plex Sans" pitchFamily="34" charset="-120"/>
              </a:rPr>
              <a:t>+ senin verin: birkaç bin etiketli görüntü</a:t>
            </a:r>
            <a:endParaRPr lang="en-US" sz="1200" dirty="0"/>
          </a:p>
        </p:txBody>
      </p:sp>
      <p:sp>
        <p:nvSpPr>
          <p:cNvPr id="21" name="Text 19"/>
          <p:cNvSpPr/>
          <p:nvPr/>
        </p:nvSpPr>
        <p:spPr>
          <a:xfrm>
            <a:off x="7239000" y="4290064"/>
            <a:ext cx="3835400" cy="391160"/>
          </a:xfrm>
          <a:prstGeom prst="roundRect">
            <a:avLst>
              <a:gd name="adj" fmla="val 19481"/>
            </a:avLst>
          </a:prstGeom>
          <a:solidFill>
            <a:srgbClr val="FFB020"/>
          </a:solidFill>
          <a:ln/>
        </p:spPr>
        <p:txBody>
          <a:bodyPr wrap="square" lIns="104682" tIns="66582" rIns="0" bIns="41182" rtlCol="0" anchor="t">
            <a:normAutofit/>
          </a:bodyPr>
          <a:lstStyle/>
          <a:p>
            <a:pPr algn="l" indent="0" marL="0">
              <a:lnSpc>
                <a:spcPts val="1680"/>
              </a:lnSpc>
              <a:buNone/>
            </a:pPr>
            <a:r>
              <a:rPr lang="en-US" sz="1200" b="1" dirty="0">
                <a:solidFill>
                  <a:srgbClr val="0B1118"/>
                </a:solidFill>
                <a:latin typeface="IBM Plex Sans" pitchFamily="34" charset="0"/>
                <a:ea typeface="IBM Plex Sans" pitchFamily="34" charset="-122"/>
                <a:cs typeface="IBM Plex Sans" pitchFamily="34" charset="-120"/>
              </a:rPr>
              <a:t>= senin işine özel model</a:t>
            </a:r>
            <a:endParaRPr lang="en-US" sz="1200" dirty="0"/>
          </a:p>
        </p:txBody>
      </p:sp>
      <p:sp>
        <p:nvSpPr>
          <p:cNvPr id="22" name="Text 20"/>
          <p:cNvSpPr/>
          <p:nvPr/>
        </p:nvSpPr>
        <p:spPr>
          <a:xfrm>
            <a:off x="7239000" y="4808221"/>
            <a:ext cx="4140200" cy="238760"/>
          </a:xfrm>
          <a:prstGeom prst="rect">
            <a:avLst/>
          </a:prstGeom>
          <a:noFill/>
          <a:ln/>
        </p:spPr>
        <p:txBody>
          <a:bodyPr wrap="square" lIns="0" tIns="0" rIns="0" bIns="0" rtlCol="0" anchor="t">
            <a:normAutofit/>
          </a:bodyPr>
          <a:lstStyle/>
          <a:p>
            <a:pPr algn="l" indent="0" marL="0">
              <a:lnSpc>
                <a:spcPts val="1680"/>
              </a:lnSpc>
              <a:buNone/>
            </a:pPr>
            <a:r>
              <a:rPr lang="en-US" sz="1200" i="1" dirty="0">
                <a:solidFill>
                  <a:srgbClr val="A9B4C2"/>
                </a:solidFill>
                <a:latin typeface="IBM Plex Sans" pitchFamily="34" charset="0"/>
                <a:ea typeface="IBM Plex Sans" pitchFamily="34" charset="-122"/>
                <a:cs typeface="IBM Plex Sans" pitchFamily="34" charset="-120"/>
              </a:rPr>
              <a:t>Bisiklet sürmeyi bilen biri motosiklete daha çabuk alışır.</a:t>
            </a:r>
            <a:endParaRPr lang="en-US" sz="1200" dirty="0"/>
          </a:p>
        </p:txBody>
      </p:sp>
      <p:sp>
        <p:nvSpPr>
          <p:cNvPr id="23" name="Text 21"/>
          <p:cNvSpPr/>
          <p:nvPr/>
        </p:nvSpPr>
        <p:spPr>
          <a:xfrm>
            <a:off x="812800" y="6238242"/>
            <a:ext cx="71945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IBM Plex Sans" pitchFamily="34" charset="0"/>
                <a:ea typeface="IBM Plex Sans" pitchFamily="34" charset="-122"/>
                <a:cs typeface="IBM Plex Sans" pitchFamily="34" charset="-120"/>
              </a:rPr>
              <a:t>Gökyüzünden nesne bulmak · SKY LAB Akademi</a:t>
            </a:r>
            <a:endParaRPr lang="en-US" sz="1200" dirty="0"/>
          </a:p>
        </p:txBody>
      </p:sp>
      <p:sp>
        <p:nvSpPr>
          <p:cNvPr id="24" name="Text 22"/>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2"/>
                </a:solidFill>
                <a:latin typeface="IBM Plex Mono" pitchFamily="49" charset="0"/>
                <a:ea typeface="IBM Plex Mono" pitchFamily="49" charset="-122"/>
                <a:cs typeface="IBM Plex Mono" pitchFamily="49"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3F1E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49104"/>
          </a:xfrm>
          <a:prstGeom prst="rect">
            <a:avLst/>
          </a:prstGeom>
          <a:noFill/>
          <a:ln/>
        </p:spPr>
        <p:txBody>
          <a:bodyPr wrap="square" lIns="0" tIns="0" rIns="0" bIns="0" rtlCol="0" anchor="t">
            <a:normAutofit/>
          </a:bodyPr>
          <a:lstStyle/>
          <a:p>
            <a:pPr algn="l" indent="0" marL="0">
              <a:lnSpc>
                <a:spcPts val="3366"/>
              </a:lnSpc>
              <a:buNone/>
            </a:pPr>
            <a:r>
              <a:rPr lang="en-US" sz="3060" b="1" i="0" spc="-50" kern="0" dirty="0">
                <a:solidFill>
                  <a:srgbClr val="111823"/>
                </a:solidFill>
                <a:latin typeface="Space Grotesk" pitchFamily="34" charset="0"/>
                <a:ea typeface="Space Grotesk" pitchFamily="34" charset="-122"/>
                <a:cs typeface="Space Grotesk" pitchFamily="34" charset="-120"/>
              </a:rPr>
              <a:t>DefBoss: kamerada tehdit tespiti</a:t>
            </a:r>
            <a:endParaRPr lang="en-US" sz="3060" dirty="0"/>
          </a:p>
        </p:txBody>
      </p:sp>
      <p:sp>
        <p:nvSpPr>
          <p:cNvPr id="3" name="Text 1"/>
          <p:cNvSpPr/>
          <p:nvPr/>
        </p:nvSpPr>
        <p:spPr>
          <a:xfrm>
            <a:off x="812800" y="1338107"/>
            <a:ext cx="10883392" cy="278209"/>
          </a:xfrm>
          <a:prstGeom prst="rect">
            <a:avLst/>
          </a:prstGeom>
          <a:noFill/>
          <a:ln/>
        </p:spPr>
        <p:txBody>
          <a:bodyPr wrap="square" lIns="0" tIns="0" rIns="0" bIns="0" rtlCol="0" anchor="t">
            <a:normAutofit/>
          </a:bodyPr>
          <a:lstStyle/>
          <a:p>
            <a:pPr algn="l" indent="0" marL="0">
              <a:lnSpc>
                <a:spcPts val="2021"/>
              </a:lnSpc>
              <a:buNone/>
            </a:pPr>
            <a:r>
              <a:rPr lang="en-US" sz="1444" dirty="0">
                <a:solidFill>
                  <a:srgbClr val="4A5563"/>
                </a:solidFill>
                <a:latin typeface="IBM Plex Sans" pitchFamily="34" charset="0"/>
                <a:ea typeface="IBM Plex Sans" pitchFamily="34" charset="-122"/>
                <a:cs typeface="IBM Plex Sans" pitchFamily="34" charset="-120"/>
              </a:rPr>
              <a:t>SKY LAB AirLab ekibinin projesi: güvenlik kamerasında silahı, bıçağı ve kavgayı gerçek zamanlı yakalamak.</a:t>
            </a:r>
            <a:endParaRPr lang="en-US" sz="1444" dirty="0"/>
          </a:p>
        </p:txBody>
      </p:sp>
      <p:sp>
        <p:nvSpPr>
          <p:cNvPr id="4" name="Shape 2"/>
          <p:cNvSpPr/>
          <p:nvPr/>
        </p:nvSpPr>
        <p:spPr>
          <a:xfrm>
            <a:off x="815975" y="1898892"/>
            <a:ext cx="6140450" cy="4128770"/>
          </a:xfrm>
          <a:prstGeom prst="roundRect">
            <a:avLst>
              <a:gd name="adj" fmla="val 2384"/>
            </a:avLst>
          </a:prstGeom>
          <a:solidFill>
            <a:srgbClr val="FBFAF7"/>
          </a:solidFill>
          <a:ln w="6350">
            <a:solidFill>
              <a:srgbClr val="E2DED5"/>
            </a:solidFill>
            <a:prstDash val="solid"/>
          </a:ln>
        </p:spPr>
      </p:sp>
      <p:sp>
        <p:nvSpPr>
          <p:cNvPr id="5" name="Text 3"/>
          <p:cNvSpPr/>
          <p:nvPr/>
        </p:nvSpPr>
        <p:spPr>
          <a:xfrm>
            <a:off x="1021080" y="2103996"/>
            <a:ext cx="5902147"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11823"/>
                </a:solidFill>
                <a:latin typeface="Space Grotesk" pitchFamily="34" charset="0"/>
                <a:ea typeface="Space Grotesk" pitchFamily="34" charset="-122"/>
                <a:cs typeface="Space Grotesk" pitchFamily="34" charset="-120"/>
              </a:rPr>
              <a:t>Eğitim verisi: 5 sınıf</a:t>
            </a:r>
            <a:endParaRPr lang="en-US" sz="16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1031240" y="2459592"/>
          <a:ext cx="5730240" cy="2834640"/>
        </p:xfrm>
        <a:graphic>
          <a:graphicData uri="http://schemas.openxmlformats.org/drawingml/2006/table">
            <a:tbl>
              <a:tblPr/>
              <a:tblGrid>
                <a:gridCol w="1910080"/>
                <a:gridCol w="1910080"/>
                <a:gridCol w="1910080"/>
              </a:tblGrid>
              <a:tr h="472440">
                <a:tc>
                  <a:txBody>
                    <a:bodyPr/>
                    <a:lstStyle/>
                    <a:p>
                      <a:pPr indent="0" marL="0">
                        <a:lnSpc>
                          <a:spcPts val="2240"/>
                        </a:lnSpc>
                        <a:buNone/>
                      </a:pPr>
                      <a:r>
                        <a:rPr lang="en-US" sz="1600" b="1" dirty="0">
                          <a:solidFill>
                            <a:srgbClr val="5B6472"/>
                          </a:solidFill>
                          <a:latin typeface="IBM Plex Sans" pitchFamily="34" charset="0"/>
                          <a:ea typeface="IBM Plex Sans" pitchFamily="34" charset="-122"/>
                          <a:cs typeface="IBM Plex Sans" pitchFamily="34" charset="-120"/>
                        </a:rPr>
                        <a:t>Sınıf</a:t>
                      </a:r>
                      <a:endParaRPr lang="en-US" sz="1600" dirty="0">
                        <a:latin typeface="IBM Plex Sans" charset="0"/>
                        <a:ea typeface="IBM Plex Sans" charset="0"/>
                        <a:cs typeface="IBM Plex Sans" charset="0"/>
                      </a:endParaRPr>
                    </a:p>
                  </a:txBody>
                  <a:tcPr marL="127000" marR="127000" marT="88900" marB="88900" anchor="t">
                    <a:lnL w="12700" cap="flat" cmpd="sng" algn="ctr">
                      <a:solidFill>
                        <a:srgbClr val="C8C7C5"/>
                      </a:solidFill>
                      <a:prstDash val="solid"/>
                      <a:round/>
                      <a:headEnd type="none" w="med" len="med"/>
                      <a:tailEnd type="none" w="med" len="med"/>
                    </a:lnL>
                    <a:lnR w="12700" cap="flat" cmpd="sng" algn="ctr">
                      <a:solidFill>
                        <a:srgbClr val="BAB9B7"/>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BAB9B7"/>
                      </a:solidFill>
                      <a:prstDash val="solid"/>
                      <a:round/>
                      <a:headEnd type="none" w="med" len="med"/>
                      <a:tailEnd type="none" w="med" len="med"/>
                    </a:lnB>
                    <a:solidFill>
                      <a:srgbClr val="E9E8E5"/>
                    </a:solidFill>
                  </a:tcPr>
                </a:tc>
                <a:tc>
                  <a:txBody>
                    <a:bodyPr/>
                    <a:lstStyle/>
                    <a:p>
                      <a:pPr indent="0" marL="0">
                        <a:lnSpc>
                          <a:spcPts val="2240"/>
                        </a:lnSpc>
                        <a:buNone/>
                      </a:pPr>
                      <a:r>
                        <a:rPr lang="en-US" sz="1600" b="1" dirty="0">
                          <a:solidFill>
                            <a:srgbClr val="5B6472"/>
                          </a:solidFill>
                          <a:latin typeface="IBM Plex Sans" pitchFamily="34" charset="0"/>
                          <a:ea typeface="IBM Plex Sans" pitchFamily="34" charset="-122"/>
                          <a:cs typeface="IBM Plex Sans" pitchFamily="34" charset="-120"/>
                        </a:rPr>
                        <a:t>Rolü</a:t>
                      </a:r>
                      <a:endParaRPr lang="en-US" sz="1600" dirty="0">
                        <a:latin typeface="IBM Plex Sans" charset="0"/>
                        <a:ea typeface="IBM Plex Sans" charset="0"/>
                        <a:cs typeface="IBM Plex Sans" charset="0"/>
                      </a:endParaRPr>
                    </a:p>
                  </a:txBody>
                  <a:tcPr marL="127000" marR="127000" marT="88900" marB="88900" anchor="t">
                    <a:lnL w="12700" cap="flat" cmpd="sng" algn="ctr">
                      <a:solidFill>
                        <a:srgbClr val="BAB9B7"/>
                      </a:solidFill>
                      <a:prstDash val="solid"/>
                      <a:round/>
                      <a:headEnd type="none" w="med" len="med"/>
                      <a:tailEnd type="none" w="med" len="med"/>
                    </a:lnL>
                    <a:lnR w="12700" cap="flat" cmpd="sng" algn="ctr">
                      <a:solidFill>
                        <a:srgbClr val="BAB9B7"/>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BAB9B7"/>
                      </a:solidFill>
                      <a:prstDash val="solid"/>
                      <a:round/>
                      <a:headEnd type="none" w="med" len="med"/>
                      <a:tailEnd type="none" w="med" len="med"/>
                    </a:lnB>
                    <a:solidFill>
                      <a:srgbClr val="E9E8E5"/>
                    </a:solidFill>
                  </a:tcPr>
                </a:tc>
                <a:tc>
                  <a:txBody>
                    <a:bodyPr/>
                    <a:lstStyle/>
                    <a:p>
                      <a:pPr algn="r" indent="0" marL="0">
                        <a:lnSpc>
                          <a:spcPts val="2240"/>
                        </a:lnSpc>
                        <a:buNone/>
                      </a:pPr>
                      <a:r>
                        <a:rPr lang="en-US" sz="1600" b="1" dirty="0">
                          <a:solidFill>
                            <a:srgbClr val="5B6472"/>
                          </a:solidFill>
                          <a:latin typeface="IBM Plex Sans" pitchFamily="34" charset="0"/>
                          <a:ea typeface="IBM Plex Sans" pitchFamily="34" charset="-122"/>
                          <a:cs typeface="IBM Plex Sans" pitchFamily="34" charset="-120"/>
                        </a:rPr>
                        <a:t>Etiketli veri</a:t>
                      </a:r>
                      <a:endParaRPr lang="en-US" sz="1600" dirty="0">
                        <a:latin typeface="IBM Plex Sans" charset="0"/>
                        <a:ea typeface="IBM Plex Sans" charset="0"/>
                        <a:cs typeface="IBM Plex Sans" charset="0"/>
                      </a:endParaRPr>
                    </a:p>
                  </a:txBody>
                  <a:tcPr marL="127000" marR="127000" marT="88900" marB="88900" anchor="t">
                    <a:lnL w="12700" cap="flat" cmpd="sng" algn="ctr">
                      <a:solidFill>
                        <a:srgbClr val="BAB9B7"/>
                      </a:solidFill>
                      <a:prstDash val="solid"/>
                      <a:round/>
                      <a:headEnd type="none" w="med" len="med"/>
                      <a:tailEnd type="none" w="med" len="med"/>
                    </a:lnL>
                    <a:lnR w="12700" cap="flat" cmpd="sng" algn="ctr">
                      <a:solidFill>
                        <a:srgbClr val="BAB9B7"/>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BAB9B7"/>
                      </a:solidFill>
                      <a:prstDash val="solid"/>
                      <a:round/>
                      <a:headEnd type="none" w="med" len="med"/>
                      <a:tailEnd type="none" w="med" len="med"/>
                    </a:lnB>
                    <a:solidFill>
                      <a:srgbClr val="E9E8E5"/>
                    </a:solidFill>
                  </a:tcPr>
                </a:tc>
              </a:tr>
              <a:tr h="472440">
                <a:tc>
                  <a:txBody>
                    <a:bodyPr/>
                    <a:lstStyle/>
                    <a:p>
                      <a:pPr indent="0" marL="0">
                        <a:lnSpc>
                          <a:spcPts val="2240"/>
                        </a:lnSpc>
                        <a:buNone/>
                      </a:pPr>
                      <a:r>
                        <a:rPr lang="en-US" sz="1600" dirty="0">
                          <a:solidFill>
                            <a:srgbClr val="111823"/>
                          </a:solidFill>
                          <a:latin typeface="IBM Plex Sans" pitchFamily="34" charset="0"/>
                          <a:ea typeface="IBM Plex Sans" pitchFamily="34" charset="-122"/>
                          <a:cs typeface="IBM Plex Sans" pitchFamily="34" charset="-120"/>
                        </a:rPr>
                        <a:t>Kavga fight</a:t>
                      </a:r>
                      <a:endParaRPr lang="en-US" sz="1600" dirty="0">
                        <a:latin typeface="IBM Plex Sans" charset="0"/>
                        <a:ea typeface="IBM Plex Sans" charset="0"/>
                        <a:cs typeface="IBM Plex Sans" charset="0"/>
                      </a:endParaRPr>
                    </a:p>
                  </a:txBody>
                  <a:tcPr marL="127000" marR="127000" marT="88900" marB="8890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BAB9B7"/>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indent="0" marL="0">
                        <a:lnSpc>
                          <a:spcPts val="2240"/>
                        </a:lnSpc>
                        <a:buNone/>
                      </a:pPr>
                      <a:r>
                        <a:rPr lang="en-US" sz="1600" dirty="0">
                          <a:solidFill>
                            <a:srgbClr val="111823"/>
                          </a:solidFill>
                          <a:latin typeface="IBM Plex Sans" pitchFamily="34" charset="0"/>
                          <a:ea typeface="IBM Plex Sans" pitchFamily="34" charset="-122"/>
                          <a:cs typeface="IBM Plex Sans" pitchFamily="34" charset="-120"/>
                        </a:rPr>
                        <a:t>Tehdit: alarm</a:t>
                      </a:r>
                      <a:endParaRPr lang="en-US" sz="1600" dirty="0">
                        <a:latin typeface="IBM Plex Sans" charset="0"/>
                        <a:ea typeface="IBM Plex Sans" charset="0"/>
                        <a:cs typeface="IBM Plex Sans" charset="0"/>
                      </a:endParaRPr>
                    </a:p>
                  </a:txBody>
                  <a:tcPr marL="127000" marR="127000" marT="88900" marB="8890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BAB9B7"/>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algn="r" indent="0" marL="0">
                        <a:lnSpc>
                          <a:spcPts val="2240"/>
                        </a:lnSpc>
                        <a:buNone/>
                      </a:pPr>
                      <a:r>
                        <a:rPr lang="en-US" sz="1600" dirty="0">
                          <a:solidFill>
                            <a:srgbClr val="111823"/>
                          </a:solidFill>
                          <a:latin typeface="IBM Plex Sans" pitchFamily="34" charset="0"/>
                          <a:ea typeface="IBM Plex Sans" pitchFamily="34" charset="-122"/>
                          <a:cs typeface="IBM Plex Sans" pitchFamily="34" charset="-120"/>
                        </a:rPr>
                        <a:t>8.485</a:t>
                      </a:r>
                      <a:endParaRPr lang="en-US" sz="1600" dirty="0">
                        <a:latin typeface="IBM Plex Sans" charset="0"/>
                        <a:ea typeface="IBM Plex Sans" charset="0"/>
                        <a:cs typeface="IBM Plex Sans" charset="0"/>
                      </a:endParaRPr>
                    </a:p>
                  </a:txBody>
                  <a:tcPr marL="127000" marR="127000" marT="88900" marB="8890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BAB9B7"/>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r>
              <a:tr h="472440">
                <a:tc>
                  <a:txBody>
                    <a:bodyPr/>
                    <a:lstStyle/>
                    <a:p>
                      <a:pPr indent="0" marL="0">
                        <a:lnSpc>
                          <a:spcPts val="2240"/>
                        </a:lnSpc>
                        <a:buNone/>
                      </a:pPr>
                      <a:r>
                        <a:rPr lang="en-US" sz="1600" dirty="0">
                          <a:solidFill>
                            <a:srgbClr val="111823"/>
                          </a:solidFill>
                          <a:latin typeface="IBM Plex Sans" pitchFamily="34" charset="0"/>
                          <a:ea typeface="IBM Plex Sans" pitchFamily="34" charset="-122"/>
                          <a:cs typeface="IBM Plex Sans" pitchFamily="34" charset="-120"/>
                        </a:rPr>
                        <a:t>Silah gun</a:t>
                      </a:r>
                      <a:endParaRPr lang="en-US" sz="1600" dirty="0">
                        <a:latin typeface="IBM Plex Sans" charset="0"/>
                        <a:ea typeface="IBM Plex Sans" charset="0"/>
                        <a:cs typeface="IBM Plex Sans" charset="0"/>
                      </a:endParaRPr>
                    </a:p>
                  </a:txBody>
                  <a:tcPr marL="127000" marR="127000" marT="88900" marB="8890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indent="0" marL="0">
                        <a:lnSpc>
                          <a:spcPts val="2240"/>
                        </a:lnSpc>
                        <a:buNone/>
                      </a:pPr>
                      <a:r>
                        <a:rPr lang="en-US" sz="1600" dirty="0">
                          <a:solidFill>
                            <a:srgbClr val="111823"/>
                          </a:solidFill>
                          <a:latin typeface="IBM Plex Sans" pitchFamily="34" charset="0"/>
                          <a:ea typeface="IBM Plex Sans" pitchFamily="34" charset="-122"/>
                          <a:cs typeface="IBM Plex Sans" pitchFamily="34" charset="-120"/>
                        </a:rPr>
                        <a:t>Tehdit: alarm</a:t>
                      </a:r>
                      <a:endParaRPr lang="en-US" sz="1600" dirty="0">
                        <a:latin typeface="IBM Plex Sans" charset="0"/>
                        <a:ea typeface="IBM Plex Sans" charset="0"/>
                        <a:cs typeface="IBM Plex Sans" charset="0"/>
                      </a:endParaRPr>
                    </a:p>
                  </a:txBody>
                  <a:tcPr marL="127000" marR="127000" marT="88900" marB="8890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algn="r" indent="0" marL="0">
                        <a:lnSpc>
                          <a:spcPts val="2240"/>
                        </a:lnSpc>
                        <a:buNone/>
                      </a:pPr>
                      <a:r>
                        <a:rPr lang="en-US" sz="1600" dirty="0">
                          <a:solidFill>
                            <a:srgbClr val="111823"/>
                          </a:solidFill>
                          <a:latin typeface="IBM Plex Sans" pitchFamily="34" charset="0"/>
                          <a:ea typeface="IBM Plex Sans" pitchFamily="34" charset="-122"/>
                          <a:cs typeface="IBM Plex Sans" pitchFamily="34" charset="-120"/>
                        </a:rPr>
                        <a:t>9.844</a:t>
                      </a:r>
                      <a:endParaRPr lang="en-US" sz="1600" dirty="0">
                        <a:latin typeface="IBM Plex Sans" charset="0"/>
                        <a:ea typeface="IBM Plex Sans" charset="0"/>
                        <a:cs typeface="IBM Plex Sans" charset="0"/>
                      </a:endParaRPr>
                    </a:p>
                  </a:txBody>
                  <a:tcPr marL="127000" marR="127000" marT="88900" marB="8890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r>
              <a:tr h="472440">
                <a:tc>
                  <a:txBody>
                    <a:bodyPr/>
                    <a:lstStyle/>
                    <a:p>
                      <a:pPr indent="0" marL="0">
                        <a:lnSpc>
                          <a:spcPts val="2240"/>
                        </a:lnSpc>
                        <a:buNone/>
                      </a:pPr>
                      <a:r>
                        <a:rPr lang="en-US" sz="1600" dirty="0">
                          <a:solidFill>
                            <a:srgbClr val="111823"/>
                          </a:solidFill>
                          <a:latin typeface="IBM Plex Sans" pitchFamily="34" charset="0"/>
                          <a:ea typeface="IBM Plex Sans" pitchFamily="34" charset="-122"/>
                          <a:cs typeface="IBM Plex Sans" pitchFamily="34" charset="-120"/>
                        </a:rPr>
                        <a:t>Bıçak knife</a:t>
                      </a:r>
                      <a:endParaRPr lang="en-US" sz="1600" dirty="0">
                        <a:latin typeface="IBM Plex Sans" charset="0"/>
                        <a:ea typeface="IBM Plex Sans" charset="0"/>
                        <a:cs typeface="IBM Plex Sans" charset="0"/>
                      </a:endParaRPr>
                    </a:p>
                  </a:txBody>
                  <a:tcPr marL="127000" marR="127000" marT="88900" marB="8890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indent="0" marL="0">
                        <a:lnSpc>
                          <a:spcPts val="2240"/>
                        </a:lnSpc>
                        <a:buNone/>
                      </a:pPr>
                      <a:r>
                        <a:rPr lang="en-US" sz="1600" dirty="0">
                          <a:solidFill>
                            <a:srgbClr val="111823"/>
                          </a:solidFill>
                          <a:latin typeface="IBM Plex Sans" pitchFamily="34" charset="0"/>
                          <a:ea typeface="IBM Plex Sans" pitchFamily="34" charset="-122"/>
                          <a:cs typeface="IBM Plex Sans" pitchFamily="34" charset="-120"/>
                        </a:rPr>
                        <a:t>Tehdit: alarm</a:t>
                      </a:r>
                      <a:endParaRPr lang="en-US" sz="1600" dirty="0">
                        <a:latin typeface="IBM Plex Sans" charset="0"/>
                        <a:ea typeface="IBM Plex Sans" charset="0"/>
                        <a:cs typeface="IBM Plex Sans" charset="0"/>
                      </a:endParaRPr>
                    </a:p>
                  </a:txBody>
                  <a:tcPr marL="127000" marR="127000" marT="88900" marB="8890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algn="r" indent="0" marL="0">
                        <a:lnSpc>
                          <a:spcPts val="2240"/>
                        </a:lnSpc>
                        <a:buNone/>
                      </a:pPr>
                      <a:r>
                        <a:rPr lang="en-US" sz="1600" dirty="0">
                          <a:solidFill>
                            <a:srgbClr val="111823"/>
                          </a:solidFill>
                          <a:latin typeface="IBM Plex Sans" pitchFamily="34" charset="0"/>
                          <a:ea typeface="IBM Plex Sans" pitchFamily="34" charset="-122"/>
                          <a:cs typeface="IBM Plex Sans" pitchFamily="34" charset="-120"/>
                        </a:rPr>
                        <a:t>9.000</a:t>
                      </a:r>
                      <a:endParaRPr lang="en-US" sz="1600" dirty="0">
                        <a:latin typeface="IBM Plex Sans" charset="0"/>
                        <a:ea typeface="IBM Plex Sans" charset="0"/>
                        <a:cs typeface="IBM Plex Sans" charset="0"/>
                      </a:endParaRPr>
                    </a:p>
                  </a:txBody>
                  <a:tcPr marL="127000" marR="127000" marT="88900" marB="8890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r>
              <a:tr h="472440">
                <a:tc>
                  <a:txBody>
                    <a:bodyPr/>
                    <a:lstStyle/>
                    <a:p>
                      <a:pPr indent="0" marL="0">
                        <a:lnSpc>
                          <a:spcPts val="2240"/>
                        </a:lnSpc>
                        <a:buNone/>
                      </a:pPr>
                      <a:r>
                        <a:rPr lang="en-US" sz="1600" dirty="0">
                          <a:solidFill>
                            <a:srgbClr val="4A5563"/>
                          </a:solidFill>
                          <a:latin typeface="IBM Plex Sans" pitchFamily="34" charset="0"/>
                          <a:ea typeface="IBM Plex Sans" pitchFamily="34" charset="-122"/>
                          <a:cs typeface="IBM Plex Sans" pitchFamily="34" charset="-120"/>
                        </a:rPr>
                        <a:t>Telefon phone</a:t>
                      </a:r>
                      <a:endParaRPr lang="en-US" sz="1600" dirty="0">
                        <a:latin typeface="IBM Plex Sans" charset="0"/>
                        <a:ea typeface="IBM Plex Sans" charset="0"/>
                        <a:cs typeface="IBM Plex Sans" charset="0"/>
                      </a:endParaRPr>
                    </a:p>
                  </a:txBody>
                  <a:tcPr marL="127000" marR="127000" marT="88900" marB="8890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indent="0" marL="0">
                        <a:lnSpc>
                          <a:spcPts val="2240"/>
                        </a:lnSpc>
                        <a:buNone/>
                      </a:pPr>
                      <a:r>
                        <a:rPr lang="en-US" sz="1600" dirty="0">
                          <a:solidFill>
                            <a:srgbClr val="4A5563"/>
                          </a:solidFill>
                          <a:latin typeface="IBM Plex Sans" pitchFamily="34" charset="0"/>
                          <a:ea typeface="IBM Plex Sans" pitchFamily="34" charset="-122"/>
                          <a:cs typeface="IBM Plex Sans" pitchFamily="34" charset="-120"/>
                        </a:rPr>
                        <a:t>Tuzak: alarm yok</a:t>
                      </a:r>
                      <a:endParaRPr lang="en-US" sz="1600" dirty="0">
                        <a:latin typeface="IBM Plex Sans" charset="0"/>
                        <a:ea typeface="IBM Plex Sans" charset="0"/>
                        <a:cs typeface="IBM Plex Sans" charset="0"/>
                      </a:endParaRPr>
                    </a:p>
                  </a:txBody>
                  <a:tcPr marL="127000" marR="127000" marT="88900" marB="8890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algn="r" indent="0" marL="0">
                        <a:lnSpc>
                          <a:spcPts val="2240"/>
                        </a:lnSpc>
                        <a:buNone/>
                      </a:pPr>
                      <a:r>
                        <a:rPr lang="en-US" sz="1600" dirty="0">
                          <a:solidFill>
                            <a:srgbClr val="4A5563"/>
                          </a:solidFill>
                          <a:latin typeface="IBM Plex Sans" pitchFamily="34" charset="0"/>
                          <a:ea typeface="IBM Plex Sans" pitchFamily="34" charset="-122"/>
                          <a:cs typeface="IBM Plex Sans" pitchFamily="34" charset="-120"/>
                        </a:rPr>
                        <a:t>9.870</a:t>
                      </a:r>
                      <a:endParaRPr lang="en-US" sz="1600" dirty="0">
                        <a:latin typeface="IBM Plex Sans" charset="0"/>
                        <a:ea typeface="IBM Plex Sans" charset="0"/>
                        <a:cs typeface="IBM Plex Sans" charset="0"/>
                      </a:endParaRPr>
                    </a:p>
                  </a:txBody>
                  <a:tcPr marL="127000" marR="127000" marT="88900" marB="8890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r>
              <a:tr h="472440">
                <a:tc>
                  <a:txBody>
                    <a:bodyPr/>
                    <a:lstStyle/>
                    <a:p>
                      <a:pPr indent="0" marL="0">
                        <a:lnSpc>
                          <a:spcPts val="2240"/>
                        </a:lnSpc>
                        <a:buNone/>
                      </a:pPr>
                      <a:r>
                        <a:rPr lang="en-US" sz="1600" dirty="0">
                          <a:solidFill>
                            <a:srgbClr val="4A5563"/>
                          </a:solidFill>
                          <a:latin typeface="IBM Plex Sans" pitchFamily="34" charset="0"/>
                          <a:ea typeface="IBM Plex Sans" pitchFamily="34" charset="-122"/>
                          <a:cs typeface="IBM Plex Sans" pitchFamily="34" charset="-120"/>
                        </a:rPr>
                        <a:t>Kumanda remote</a:t>
                      </a:r>
                      <a:endParaRPr lang="en-US" sz="1600" dirty="0">
                        <a:latin typeface="IBM Plex Sans" charset="0"/>
                        <a:ea typeface="IBM Plex Sans" charset="0"/>
                        <a:cs typeface="IBM Plex Sans" charset="0"/>
                      </a:endParaRPr>
                    </a:p>
                  </a:txBody>
                  <a:tcPr marL="127000" marR="127000" marT="88900" marB="8890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indent="0" marL="0">
                        <a:lnSpc>
                          <a:spcPts val="2240"/>
                        </a:lnSpc>
                        <a:buNone/>
                      </a:pPr>
                      <a:r>
                        <a:rPr lang="en-US" sz="1600" dirty="0">
                          <a:solidFill>
                            <a:srgbClr val="4A5563"/>
                          </a:solidFill>
                          <a:latin typeface="IBM Plex Sans" pitchFamily="34" charset="0"/>
                          <a:ea typeface="IBM Plex Sans" pitchFamily="34" charset="-122"/>
                          <a:cs typeface="IBM Plex Sans" pitchFamily="34" charset="-120"/>
                        </a:rPr>
                        <a:t>Tuzak: alarm yok</a:t>
                      </a:r>
                      <a:endParaRPr lang="en-US" sz="1600" dirty="0">
                        <a:latin typeface="IBM Plex Sans" charset="0"/>
                        <a:ea typeface="IBM Plex Sans" charset="0"/>
                        <a:cs typeface="IBM Plex Sans" charset="0"/>
                      </a:endParaRPr>
                    </a:p>
                  </a:txBody>
                  <a:tcPr marL="127000" marR="127000" marT="88900" marB="8890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c>
                  <a:txBody>
                    <a:bodyPr/>
                    <a:lstStyle/>
                    <a:p>
                      <a:pPr algn="r" indent="0" marL="0">
                        <a:lnSpc>
                          <a:spcPts val="2240"/>
                        </a:lnSpc>
                        <a:buNone/>
                      </a:pPr>
                      <a:r>
                        <a:rPr lang="en-US" sz="1600" dirty="0">
                          <a:solidFill>
                            <a:srgbClr val="4A5563"/>
                          </a:solidFill>
                          <a:latin typeface="IBM Plex Sans" pitchFamily="34" charset="0"/>
                          <a:ea typeface="IBM Plex Sans" pitchFamily="34" charset="-122"/>
                          <a:cs typeface="IBM Plex Sans" pitchFamily="34" charset="-120"/>
                        </a:rPr>
                        <a:t>5.066</a:t>
                      </a:r>
                      <a:endParaRPr lang="en-US" sz="1600" dirty="0">
                        <a:latin typeface="IBM Plex Sans" charset="0"/>
                        <a:ea typeface="IBM Plex Sans" charset="0"/>
                        <a:cs typeface="IBM Plex Sans" charset="0"/>
                      </a:endParaRPr>
                    </a:p>
                  </a:txBody>
                  <a:tcPr marL="127000" marR="127000" marT="88900" marB="88900" anchor="t">
                    <a:lnL w="12700" cap="flat" cmpd="sng" algn="ctr">
                      <a:solidFill>
                        <a:srgbClr val="C8C7C5"/>
                      </a:solidFill>
                      <a:prstDash val="solid"/>
                      <a:round/>
                      <a:headEnd type="none" w="med" len="med"/>
                      <a:tailEnd type="none" w="med" len="med"/>
                    </a:lnL>
                    <a:lnR w="12700" cap="flat" cmpd="sng" algn="ctr">
                      <a:solidFill>
                        <a:srgbClr val="C8C7C5"/>
                      </a:solidFill>
                      <a:prstDash val="solid"/>
                      <a:round/>
                      <a:headEnd type="none" w="med" len="med"/>
                      <a:tailEnd type="none" w="med" len="med"/>
                    </a:lnR>
                    <a:lnT w="12700" cap="flat" cmpd="sng" algn="ctr">
                      <a:solidFill>
                        <a:srgbClr val="C8C7C5"/>
                      </a:solidFill>
                      <a:prstDash val="solid"/>
                      <a:round/>
                      <a:headEnd type="none" w="med" len="med"/>
                      <a:tailEnd type="none" w="med" len="med"/>
                    </a:lnT>
                    <a:lnB w="12700" cap="flat" cmpd="sng" algn="ctr">
                      <a:solidFill>
                        <a:srgbClr val="C8C7C5"/>
                      </a:solidFill>
                      <a:prstDash val="solid"/>
                      <a:round/>
                      <a:headEnd type="none" w="med" len="med"/>
                      <a:tailEnd type="none" w="med" len="med"/>
                    </a:lnB>
                  </a:tcPr>
                </a:tc>
              </a:tr>
            </a:tbl>
          </a:graphicData>
        </a:graphic>
      </p:graphicFrame>
      <p:sp>
        <p:nvSpPr>
          <p:cNvPr id="7" name="Text 4"/>
          <p:cNvSpPr/>
          <p:nvPr/>
        </p:nvSpPr>
        <p:spPr>
          <a:xfrm>
            <a:off x="1021080" y="5395832"/>
            <a:ext cx="5902147"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Kaggle ve Roboflow'dan hazır etiketli veriler birleştirildi. Kaynak: DefBoss dokümantasyonu.</a:t>
            </a:r>
            <a:endParaRPr lang="en-US" sz="1200" dirty="0"/>
          </a:p>
        </p:txBody>
      </p:sp>
      <p:sp>
        <p:nvSpPr>
          <p:cNvPr id="8" name="Shape 5"/>
          <p:cNvSpPr/>
          <p:nvPr/>
        </p:nvSpPr>
        <p:spPr>
          <a:xfrm>
            <a:off x="7315200" y="1895717"/>
            <a:ext cx="4064000" cy="3779520"/>
          </a:xfrm>
          <a:prstGeom prst="roundRect">
            <a:avLst>
              <a:gd name="adj" fmla="val 3360"/>
            </a:avLst>
          </a:prstGeom>
          <a:solidFill>
            <a:srgbClr val="0B1118"/>
          </a:solidFill>
          <a:ln/>
        </p:spPr>
      </p:sp>
      <p:sp>
        <p:nvSpPr>
          <p:cNvPr id="9" name="Text 6"/>
          <p:cNvSpPr/>
          <p:nvPr/>
        </p:nvSpPr>
        <p:spPr>
          <a:xfrm>
            <a:off x="7620000" y="2200517"/>
            <a:ext cx="3558032"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E8EDF2"/>
                </a:solidFill>
                <a:latin typeface="Space Grotesk" pitchFamily="34" charset="0"/>
                <a:ea typeface="Space Grotesk" pitchFamily="34" charset="-122"/>
                <a:cs typeface="Space Grotesk" pitchFamily="34" charset="-120"/>
              </a:rPr>
              <a:t>Nasıl yapıldı?</a:t>
            </a:r>
            <a:endParaRPr lang="en-US" sz="1600" dirty="0"/>
          </a:p>
        </p:txBody>
      </p:sp>
      <p:sp>
        <p:nvSpPr>
          <p:cNvPr id="10" name="Text 7"/>
          <p:cNvSpPr/>
          <p:nvPr/>
        </p:nvSpPr>
        <p:spPr>
          <a:xfrm>
            <a:off x="7620000" y="2571353"/>
            <a:ext cx="3558032"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8EDF2"/>
                </a:solidFill>
                <a:latin typeface="IBM Plex Sans" pitchFamily="34" charset="0"/>
                <a:ea typeface="IBM Plex Sans" pitchFamily="34" charset="-122"/>
                <a:cs typeface="IBM Plex Sans" pitchFamily="34" charset="-120"/>
              </a:rPr>
              <a:t>YOLOv8'e Kaggle ve Roboflow verileriyle ince ayar. 100 epoch, yaklaşık 4 saat eğitim.</a:t>
            </a:r>
            <a:endParaRPr lang="en-US" sz="1200" dirty="0"/>
          </a:p>
        </p:txBody>
      </p:sp>
      <p:sp>
        <p:nvSpPr>
          <p:cNvPr id="11" name="Text 8"/>
          <p:cNvSpPr/>
          <p:nvPr/>
        </p:nvSpPr>
        <p:spPr>
          <a:xfrm>
            <a:off x="7620000" y="3125074"/>
            <a:ext cx="1261904" cy="558800"/>
          </a:xfrm>
          <a:prstGeom prst="rect">
            <a:avLst/>
          </a:prstGeom>
          <a:noFill/>
          <a:ln/>
        </p:spPr>
        <p:txBody>
          <a:bodyPr wrap="square" lIns="0" tIns="0" rIns="0" bIns="0" rtlCol="0" anchor="t">
            <a:normAutofit/>
          </a:bodyPr>
          <a:lstStyle/>
          <a:p>
            <a:pPr algn="l" indent="0" marL="0">
              <a:lnSpc>
                <a:spcPts val="4200"/>
              </a:lnSpc>
              <a:buNone/>
            </a:pPr>
            <a:r>
              <a:rPr lang="en-US" sz="4000" b="1" dirty="0">
                <a:solidFill>
                  <a:srgbClr val="8D99A8"/>
                </a:solidFill>
                <a:latin typeface="Space Grotesk" pitchFamily="34" charset="0"/>
                <a:ea typeface="Space Grotesk" pitchFamily="34" charset="-122"/>
                <a:cs typeface="Space Grotesk" pitchFamily="34" charset="-120"/>
              </a:rPr>
              <a:t>0,49</a:t>
            </a:r>
            <a:endParaRPr lang="en-US" sz="4000" dirty="0"/>
          </a:p>
        </p:txBody>
      </p:sp>
      <p:sp>
        <p:nvSpPr>
          <p:cNvPr id="12" name="Text 9"/>
          <p:cNvSpPr/>
          <p:nvPr/>
        </p:nvSpPr>
        <p:spPr>
          <a:xfrm>
            <a:off x="8881904" y="3302874"/>
            <a:ext cx="365760" cy="345440"/>
          </a:xfrm>
          <a:prstGeom prst="rect">
            <a:avLst/>
          </a:prstGeom>
          <a:noFill/>
          <a:ln/>
        </p:spPr>
        <p:txBody>
          <a:bodyPr wrap="square" lIns="0" tIns="0" rIns="0" bIns="0" rtlCol="0" anchor="t">
            <a:normAutofit/>
          </a:bodyPr>
          <a:lstStyle/>
          <a:p>
            <a:pPr algn="l" indent="0" marL="0">
              <a:lnSpc>
                <a:spcPts val="2520"/>
              </a:lnSpc>
              <a:buNone/>
            </a:pPr>
            <a:r>
              <a:rPr lang="en-US" sz="2400" b="1" dirty="0">
                <a:solidFill>
                  <a:srgbClr val="8D99A8"/>
                </a:solidFill>
                <a:latin typeface="Space Grotesk" pitchFamily="34" charset="0"/>
                <a:ea typeface="Space Grotesk" pitchFamily="34" charset="-122"/>
                <a:cs typeface="Space Grotesk" pitchFamily="34" charset="-120"/>
              </a:rPr>
              <a:t>→</a:t>
            </a:r>
            <a:endParaRPr lang="en-US" sz="2400" dirty="0"/>
          </a:p>
        </p:txBody>
      </p:sp>
      <p:sp>
        <p:nvSpPr>
          <p:cNvPr id="13" name="Text 10"/>
          <p:cNvSpPr/>
          <p:nvPr/>
        </p:nvSpPr>
        <p:spPr>
          <a:xfrm>
            <a:off x="9339104" y="3125074"/>
            <a:ext cx="1298448" cy="558800"/>
          </a:xfrm>
          <a:prstGeom prst="rect">
            <a:avLst/>
          </a:prstGeom>
          <a:noFill/>
          <a:ln/>
        </p:spPr>
        <p:txBody>
          <a:bodyPr wrap="square" lIns="0" tIns="0" rIns="0" bIns="0" rtlCol="0" anchor="t">
            <a:normAutofit/>
          </a:bodyPr>
          <a:lstStyle/>
          <a:p>
            <a:pPr algn="l" indent="0" marL="0">
              <a:lnSpc>
                <a:spcPts val="4200"/>
              </a:lnSpc>
              <a:buNone/>
            </a:pPr>
            <a:r>
              <a:rPr lang="en-US" sz="4000" b="1" dirty="0">
                <a:solidFill>
                  <a:srgbClr val="FFB020"/>
                </a:solidFill>
                <a:latin typeface="Space Grotesk" pitchFamily="34" charset="0"/>
                <a:ea typeface="Space Grotesk" pitchFamily="34" charset="-122"/>
                <a:cs typeface="Space Grotesk" pitchFamily="34" charset="-120"/>
              </a:rPr>
              <a:t>0,88</a:t>
            </a:r>
            <a:endParaRPr lang="en-US" sz="4000" dirty="0"/>
          </a:p>
        </p:txBody>
      </p:sp>
      <p:sp>
        <p:nvSpPr>
          <p:cNvPr id="14" name="Text 11"/>
          <p:cNvSpPr/>
          <p:nvPr/>
        </p:nvSpPr>
        <p:spPr>
          <a:xfrm>
            <a:off x="7620000" y="3785474"/>
            <a:ext cx="3558032"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4C2"/>
                </a:solidFill>
                <a:latin typeface="IBM Plex Sans" pitchFamily="34" charset="0"/>
                <a:ea typeface="IBM Plex Sans" pitchFamily="34" charset="-122"/>
                <a:cs typeface="IBM Plex Sans" pitchFamily="34" charset="-120"/>
              </a:rPr>
              <a:t>mAP50, 1. epoch → 100. epoch · kesinlik 0,87 · duyarlılık 0,82</a:t>
            </a:r>
            <a:endParaRPr lang="en-US" sz="1200" dirty="0"/>
          </a:p>
        </p:txBody>
      </p:sp>
      <p:sp>
        <p:nvSpPr>
          <p:cNvPr id="15" name="Text 12"/>
          <p:cNvSpPr/>
          <p:nvPr/>
        </p:nvSpPr>
        <p:spPr>
          <a:xfrm>
            <a:off x="7620000" y="4339196"/>
            <a:ext cx="3454400" cy="1031240"/>
          </a:xfrm>
          <a:prstGeom prst="roundRect">
            <a:avLst>
              <a:gd name="adj" fmla="val 7389"/>
            </a:avLst>
          </a:prstGeom>
          <a:solidFill>
            <a:srgbClr val="121B26"/>
          </a:solidFill>
          <a:ln/>
        </p:spPr>
        <p:txBody>
          <a:bodyPr wrap="square" lIns="104682" tIns="66582" rIns="8670" bIns="41182" rtlCol="0" anchor="t">
            <a:normAutofit/>
          </a:bodyPr>
          <a:lstStyle/>
          <a:p>
            <a:pPr algn="l" indent="0" marL="0">
              <a:lnSpc>
                <a:spcPts val="1680"/>
              </a:lnSpc>
              <a:buNone/>
            </a:pPr>
            <a:r>
              <a:rPr lang="en-US" sz="1200" b="1" dirty="0">
                <a:solidFill>
                  <a:srgbClr val="E8EDF2"/>
                </a:solidFill>
                <a:latin typeface="IBM Plex Sans" pitchFamily="34" charset="0"/>
                <a:ea typeface="IBM Plex Sans" pitchFamily="34" charset="-122"/>
                <a:cs typeface="IBM Plex Sans" pitchFamily="34" charset="-120"/>
              </a:rPr>
              <a:t>Tuzak sınıflar:</a:t>
            </a:r>
            <a:r>
              <a:rPr lang="en-US" sz="1200" dirty="0">
                <a:solidFill>
                  <a:srgbClr val="E8EDF2"/>
                </a:solidFill>
                <a:latin typeface="IBM Plex Sans" pitchFamily="34" charset="0"/>
                <a:ea typeface="IBM Plex Sans" pitchFamily="34" charset="-122"/>
                <a:cs typeface="IBM Plex Sans" pitchFamily="34" charset="-120"/>
              </a:rPr>
              <a:t> telefon ve kumanda da öğretildi. Model silahı telefonla, bıçağı kumandayla karıştırmasın; bunları görünce alarm vermez.</a:t>
            </a:r>
            <a:endParaRPr lang="en-US" sz="1200" dirty="0"/>
          </a:p>
        </p:txBody>
      </p:sp>
      <p:pic>
        <p:nvPicPr>
          <p:cNvPr id="16" name="Image 0" descr="DefBoss modelinin Kaggle sayfasına giden QR kod: kaggle.com/models/skylab-airlab/deffboss-model">    </p:cNvPr>
          <p:cNvPicPr>
            <a:picLocks noChangeAspect="1"/>
          </p:cNvPicPr>
          <p:nvPr/>
        </p:nvPicPr>
        <p:blipFill>
          <a:blip r:embed="rId1"/>
          <a:srcRect l="0" r="0" t="0" b="0"/>
          <a:stretch/>
        </p:blipFill>
        <p:spPr>
          <a:xfrm>
            <a:off x="10172700" y="558800"/>
            <a:ext cx="1206500" cy="1206500"/>
          </a:xfrm>
          <a:prstGeom prst="roundRect">
            <a:avLst>
              <a:gd name="adj" fmla="val 6316"/>
            </a:avLst>
          </a:prstGeom>
        </p:spPr>
      </p:pic>
      <p:sp>
        <p:nvSpPr>
          <p:cNvPr id="17" name="Text 13"/>
          <p:cNvSpPr/>
          <p:nvPr/>
        </p:nvSpPr>
        <p:spPr>
          <a:xfrm>
            <a:off x="812800" y="6238242"/>
            <a:ext cx="71945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IBM Plex Sans" pitchFamily="34" charset="0"/>
                <a:ea typeface="IBM Plex Sans" pitchFamily="34" charset="-122"/>
                <a:cs typeface="IBM Plex Sans" pitchFamily="34" charset="-120"/>
              </a:rPr>
              <a:t>Gökyüzünden nesne bulmak · SKY LAB Akademi</a:t>
            </a:r>
            <a:endParaRPr lang="en-US" sz="1200" dirty="0"/>
          </a:p>
        </p:txBody>
      </p:sp>
      <p:sp>
        <p:nvSpPr>
          <p:cNvPr id="18" name="Text 14"/>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2"/>
                </a:solidFill>
                <a:latin typeface="IBM Plex Mono" pitchFamily="49" charset="0"/>
                <a:ea typeface="IBM Plex Mono" pitchFamily="49" charset="-122"/>
                <a:cs typeface="IBM Plex Mono" pitchFamily="49"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3F1E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111823"/>
                </a:solidFill>
                <a:latin typeface="Space Grotesk" pitchFamily="34" charset="0"/>
                <a:ea typeface="Space Grotesk" pitchFamily="34" charset="-122"/>
                <a:cs typeface="Space Grotesk" pitchFamily="34" charset="-120"/>
              </a:rPr>
              <a:t>VEGA: kör bir modele termal kamerayı öğretmek</a:t>
            </a:r>
            <a:endParaRPr lang="en-US" sz="3200" dirty="0"/>
          </a:p>
        </p:txBody>
      </p:sp>
      <p:sp>
        <p:nvSpPr>
          <p:cNvPr id="3" name="Text 1"/>
          <p:cNvSpPr/>
          <p:nvPr/>
        </p:nvSpPr>
        <p:spPr>
          <a:xfrm>
            <a:off x="812800" y="1564642"/>
            <a:ext cx="6331204"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11823"/>
                </a:solidFill>
                <a:latin typeface="IBM Plex Sans" pitchFamily="34" charset="0"/>
                <a:ea typeface="IBM Plex Sans" pitchFamily="34" charset="-122"/>
                <a:cs typeface="IBM Plex Sans" pitchFamily="34" charset="-120"/>
              </a:rPr>
              <a:t>TEKNOFEST 2026 Havacılıkta Yapay Zekâ yarışması. Görev: drone görüntüsünde insanları, araçları ve iniş alanlarını bulmak. Hem renkli hem termal kamerayla.</a:t>
            </a:r>
            <a:endParaRPr lang="en-US" sz="1500" dirty="0"/>
          </a:p>
        </p:txBody>
      </p:sp>
      <p:pic>
        <p:nvPicPr>
          <p:cNvPr id="4" name="Image 0" descr="Termal kameradan basketbol sahası; insanlar beyaz lekeler, etrafları turuncu kutularla işaretli">    </p:cNvPr>
          <p:cNvPicPr>
            <a:picLocks noChangeAspect="1"/>
          </p:cNvPicPr>
          <p:nvPr/>
        </p:nvPicPr>
        <p:blipFill>
          <a:blip r:embed="rId1"/>
          <a:srcRect l="0" r="0" t="0" b="0"/>
          <a:stretch/>
        </p:blipFill>
        <p:spPr>
          <a:xfrm>
            <a:off x="812800" y="2491742"/>
            <a:ext cx="2921000" cy="2336800"/>
          </a:xfrm>
          <a:prstGeom prst="roundRect">
            <a:avLst>
              <a:gd name="adj" fmla="val 3261"/>
            </a:avLst>
          </a:prstGeom>
        </p:spPr>
      </p:pic>
      <p:sp>
        <p:nvSpPr>
          <p:cNvPr id="5" name="Text 2"/>
          <p:cNvSpPr/>
          <p:nvPr/>
        </p:nvSpPr>
        <p:spPr>
          <a:xfrm>
            <a:off x="812800" y="4879342"/>
            <a:ext cx="300863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Etiket: 13 insan</a:t>
            </a:r>
            <a:endParaRPr lang="en-US" sz="1200" dirty="0"/>
          </a:p>
        </p:txBody>
      </p:sp>
      <p:pic>
        <p:nvPicPr>
          <p:cNvPr id="6" name="Image 1" descr="Aynı termal kare, hiçbir kutu yok: hazır model tek bir insan bile bulamadı">    </p:cNvPr>
          <p:cNvPicPr>
            <a:picLocks noChangeAspect="1"/>
          </p:cNvPicPr>
          <p:nvPr/>
        </p:nvPicPr>
        <p:blipFill>
          <a:blip r:embed="rId2"/>
          <a:srcRect l="0" r="0" t="0" b="0"/>
          <a:stretch/>
        </p:blipFill>
        <p:spPr>
          <a:xfrm>
            <a:off x="3886200" y="2491742"/>
            <a:ext cx="2921000" cy="2336800"/>
          </a:xfrm>
          <a:prstGeom prst="roundRect">
            <a:avLst>
              <a:gd name="adj" fmla="val 3261"/>
            </a:avLst>
          </a:prstGeom>
        </p:spPr>
      </p:pic>
      <p:sp>
        <p:nvSpPr>
          <p:cNvPr id="7" name="Text 3"/>
          <p:cNvSpPr/>
          <p:nvPr/>
        </p:nvSpPr>
        <p:spPr>
          <a:xfrm>
            <a:off x="3886200" y="4879342"/>
            <a:ext cx="300863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9A5800"/>
                </a:solidFill>
                <a:latin typeface="IBM Plex Sans" pitchFamily="34" charset="0"/>
                <a:ea typeface="IBM Plex Sans" pitchFamily="34" charset="-122"/>
                <a:cs typeface="IBM Plex Sans" pitchFamily="34" charset="-120"/>
              </a:rPr>
              <a:t>Hazır model (YOLO-World): 0 insan</a:t>
            </a:r>
            <a:endParaRPr lang="en-US" sz="1200" dirty="0"/>
          </a:p>
        </p:txBody>
      </p:sp>
      <p:sp>
        <p:nvSpPr>
          <p:cNvPr id="8" name="Shape 4"/>
          <p:cNvSpPr/>
          <p:nvPr/>
        </p:nvSpPr>
        <p:spPr>
          <a:xfrm>
            <a:off x="7315200" y="1564642"/>
            <a:ext cx="4064000" cy="3995420"/>
          </a:xfrm>
          <a:prstGeom prst="roundRect">
            <a:avLst>
              <a:gd name="adj" fmla="val 3179"/>
            </a:avLst>
          </a:prstGeom>
          <a:solidFill>
            <a:srgbClr val="0B1118"/>
          </a:solidFill>
          <a:ln/>
        </p:spPr>
      </p:sp>
      <p:sp>
        <p:nvSpPr>
          <p:cNvPr id="9" name="Text 5"/>
          <p:cNvSpPr/>
          <p:nvPr/>
        </p:nvSpPr>
        <p:spPr>
          <a:xfrm>
            <a:off x="7620000" y="1869442"/>
            <a:ext cx="3558032"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E8EDF2"/>
                </a:solidFill>
                <a:latin typeface="Space Grotesk" pitchFamily="34" charset="0"/>
                <a:ea typeface="Space Grotesk" pitchFamily="34" charset="-122"/>
                <a:cs typeface="Space Grotesk" pitchFamily="34" charset="-120"/>
              </a:rPr>
              <a:t>AP50'yi nasıl artırdık?</a:t>
            </a:r>
            <a:endParaRPr lang="en-US" sz="1600" dirty="0"/>
          </a:p>
        </p:txBody>
      </p:sp>
      <p:sp>
        <p:nvSpPr>
          <p:cNvPr id="10" name="Text 6"/>
          <p:cNvSpPr/>
          <p:nvPr/>
        </p:nvSpPr>
        <p:spPr>
          <a:xfrm>
            <a:off x="7620000" y="2240279"/>
            <a:ext cx="355803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8EDF2"/>
                </a:solidFill>
                <a:latin typeface="IBM Plex Sans" pitchFamily="34" charset="0"/>
                <a:ea typeface="IBM Plex Sans" pitchFamily="34" charset="-122"/>
                <a:cs typeface="IBM Plex Sans" pitchFamily="34" charset="-120"/>
              </a:rPr>
              <a:t>Termalde Grounding DINO'yu kendi verimizle eğittik.</a:t>
            </a:r>
            <a:endParaRPr lang="en-US" sz="1500" dirty="0"/>
          </a:p>
        </p:txBody>
      </p:sp>
      <p:sp>
        <p:nvSpPr>
          <p:cNvPr id="11" name="Text 7"/>
          <p:cNvSpPr/>
          <p:nvPr/>
        </p:nvSpPr>
        <p:spPr>
          <a:xfrm>
            <a:off x="7620000" y="2900679"/>
            <a:ext cx="1373188" cy="718820"/>
          </a:xfrm>
          <a:prstGeom prst="rect">
            <a:avLst/>
          </a:prstGeom>
          <a:noFill/>
          <a:ln/>
        </p:spPr>
        <p:txBody>
          <a:bodyPr wrap="square" lIns="0" tIns="0" rIns="0" bIns="0" rtlCol="0" anchor="t">
            <a:normAutofit/>
          </a:bodyPr>
          <a:lstStyle/>
          <a:p>
            <a:pPr algn="l" indent="0" marL="0">
              <a:lnSpc>
                <a:spcPts val="5460"/>
              </a:lnSpc>
              <a:buNone/>
            </a:pPr>
            <a:r>
              <a:rPr lang="en-US" sz="5200" b="1" dirty="0">
                <a:solidFill>
                  <a:srgbClr val="8D99A8"/>
                </a:solidFill>
                <a:latin typeface="Space Grotesk" pitchFamily="34" charset="0"/>
                <a:ea typeface="Space Grotesk" pitchFamily="34" charset="-122"/>
                <a:cs typeface="Space Grotesk" pitchFamily="34" charset="-120"/>
              </a:rPr>
              <a:t>%15</a:t>
            </a:r>
            <a:endParaRPr lang="en-US" sz="5200" dirty="0"/>
          </a:p>
        </p:txBody>
      </p:sp>
      <p:sp>
        <p:nvSpPr>
          <p:cNvPr id="12" name="Text 8"/>
          <p:cNvSpPr/>
          <p:nvPr/>
        </p:nvSpPr>
        <p:spPr>
          <a:xfrm>
            <a:off x="8993188" y="3119121"/>
            <a:ext cx="487680" cy="452120"/>
          </a:xfrm>
          <a:prstGeom prst="rect">
            <a:avLst/>
          </a:prstGeom>
          <a:noFill/>
          <a:ln/>
        </p:spPr>
        <p:txBody>
          <a:bodyPr wrap="square" lIns="0" tIns="0" rIns="0" bIns="0" rtlCol="0" anchor="t">
            <a:normAutofit/>
          </a:bodyPr>
          <a:lstStyle/>
          <a:p>
            <a:pPr algn="l" indent="0" marL="0">
              <a:lnSpc>
                <a:spcPts val="3360"/>
              </a:lnSpc>
              <a:buNone/>
            </a:pPr>
            <a:r>
              <a:rPr lang="en-US" sz="3200" b="1" dirty="0">
                <a:solidFill>
                  <a:srgbClr val="8D99A8"/>
                </a:solidFill>
                <a:latin typeface="Space Grotesk" pitchFamily="34" charset="0"/>
                <a:ea typeface="Space Grotesk" pitchFamily="34" charset="-122"/>
                <a:cs typeface="Space Grotesk" pitchFamily="34" charset="-120"/>
              </a:rPr>
              <a:t>→</a:t>
            </a:r>
            <a:endParaRPr lang="en-US" sz="3200" dirty="0"/>
          </a:p>
        </p:txBody>
      </p:sp>
      <p:sp>
        <p:nvSpPr>
          <p:cNvPr id="13" name="Text 9"/>
          <p:cNvSpPr/>
          <p:nvPr/>
        </p:nvSpPr>
        <p:spPr>
          <a:xfrm>
            <a:off x="9577388" y="2900679"/>
            <a:ext cx="1589723" cy="718820"/>
          </a:xfrm>
          <a:prstGeom prst="rect">
            <a:avLst/>
          </a:prstGeom>
          <a:noFill/>
          <a:ln/>
        </p:spPr>
        <p:txBody>
          <a:bodyPr wrap="square" lIns="0" tIns="0" rIns="0" bIns="0" rtlCol="0" anchor="t">
            <a:normAutofit/>
          </a:bodyPr>
          <a:lstStyle/>
          <a:p>
            <a:pPr algn="l" indent="0" marL="0">
              <a:lnSpc>
                <a:spcPts val="5460"/>
              </a:lnSpc>
              <a:buNone/>
            </a:pPr>
            <a:r>
              <a:rPr lang="en-US" sz="5200" b="1" dirty="0">
                <a:solidFill>
                  <a:srgbClr val="FFB020"/>
                </a:solidFill>
                <a:latin typeface="Space Grotesk" pitchFamily="34" charset="0"/>
                <a:ea typeface="Space Grotesk" pitchFamily="34" charset="-122"/>
                <a:cs typeface="Space Grotesk" pitchFamily="34" charset="-120"/>
              </a:rPr>
              <a:t>%50</a:t>
            </a:r>
            <a:endParaRPr lang="en-US" sz="5200" dirty="0"/>
          </a:p>
        </p:txBody>
      </p:sp>
      <p:sp>
        <p:nvSpPr>
          <p:cNvPr id="14" name="Text 10"/>
          <p:cNvSpPr/>
          <p:nvPr/>
        </p:nvSpPr>
        <p:spPr>
          <a:xfrm>
            <a:off x="7620000" y="3721100"/>
            <a:ext cx="3558032"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4C2"/>
                </a:solidFill>
                <a:latin typeface="IBM Plex Sans" pitchFamily="34" charset="0"/>
                <a:ea typeface="IBM Plex Sans" pitchFamily="34" charset="-122"/>
                <a:cs typeface="IBM Plex Sans" pitchFamily="34" charset="-120"/>
              </a:rPr>
              <a:t>Termal · ince ayar · HIT-UAV ve TEKNOFEST'ten 9.041 görüntü</a:t>
            </a:r>
            <a:endParaRPr lang="en-US" sz="1200" dirty="0"/>
          </a:p>
        </p:txBody>
      </p:sp>
      <p:sp>
        <p:nvSpPr>
          <p:cNvPr id="15" name="Text 11"/>
          <p:cNvSpPr/>
          <p:nvPr/>
        </p:nvSpPr>
        <p:spPr>
          <a:xfrm>
            <a:off x="7620000" y="4274821"/>
            <a:ext cx="1296035" cy="452120"/>
          </a:xfrm>
          <a:prstGeom prst="rect">
            <a:avLst/>
          </a:prstGeom>
          <a:noFill/>
          <a:ln/>
        </p:spPr>
        <p:txBody>
          <a:bodyPr wrap="square" lIns="0" tIns="0" rIns="0" bIns="0" rtlCol="0" anchor="t">
            <a:normAutofit/>
          </a:bodyPr>
          <a:lstStyle/>
          <a:p>
            <a:pPr algn="l" indent="0" marL="0">
              <a:lnSpc>
                <a:spcPts val="3360"/>
              </a:lnSpc>
              <a:buNone/>
            </a:pPr>
            <a:r>
              <a:rPr lang="en-US" sz="3200" b="1" dirty="0">
                <a:solidFill>
                  <a:srgbClr val="8D99A8"/>
                </a:solidFill>
                <a:latin typeface="Space Grotesk" pitchFamily="34" charset="0"/>
                <a:ea typeface="Space Grotesk" pitchFamily="34" charset="-122"/>
                <a:cs typeface="Space Grotesk" pitchFamily="34" charset="-120"/>
              </a:rPr>
              <a:t>%75,3</a:t>
            </a:r>
            <a:endParaRPr lang="en-US" sz="3200" dirty="0"/>
          </a:p>
        </p:txBody>
      </p:sp>
      <p:sp>
        <p:nvSpPr>
          <p:cNvPr id="16" name="Text 12"/>
          <p:cNvSpPr/>
          <p:nvPr/>
        </p:nvSpPr>
        <p:spPr>
          <a:xfrm>
            <a:off x="8916035" y="4411979"/>
            <a:ext cx="304800" cy="292100"/>
          </a:xfrm>
          <a:prstGeom prst="rect">
            <a:avLst/>
          </a:prstGeom>
          <a:noFill/>
          <a:ln/>
        </p:spPr>
        <p:txBody>
          <a:bodyPr wrap="square" lIns="0" tIns="0" rIns="0" bIns="0" rtlCol="0" anchor="t">
            <a:normAutofit/>
          </a:bodyPr>
          <a:lstStyle/>
          <a:p>
            <a:pPr algn="l" indent="0" marL="0">
              <a:lnSpc>
                <a:spcPts val="2100"/>
              </a:lnSpc>
              <a:buNone/>
            </a:pPr>
            <a:r>
              <a:rPr lang="en-US" sz="2000" b="1" dirty="0">
                <a:solidFill>
                  <a:srgbClr val="8D99A8"/>
                </a:solidFill>
                <a:latin typeface="Space Grotesk" pitchFamily="34" charset="0"/>
                <a:ea typeface="Space Grotesk" pitchFamily="34" charset="-122"/>
                <a:cs typeface="Space Grotesk" pitchFamily="34" charset="-120"/>
              </a:rPr>
              <a:t>→</a:t>
            </a:r>
            <a:endParaRPr lang="en-US" sz="2000" dirty="0"/>
          </a:p>
        </p:txBody>
      </p:sp>
      <p:sp>
        <p:nvSpPr>
          <p:cNvPr id="17" name="Text 13"/>
          <p:cNvSpPr/>
          <p:nvPr/>
        </p:nvSpPr>
        <p:spPr>
          <a:xfrm>
            <a:off x="9322435" y="4274821"/>
            <a:ext cx="1380173" cy="452120"/>
          </a:xfrm>
          <a:prstGeom prst="rect">
            <a:avLst/>
          </a:prstGeom>
          <a:noFill/>
          <a:ln/>
        </p:spPr>
        <p:txBody>
          <a:bodyPr wrap="square" lIns="0" tIns="0" rIns="0" bIns="0" rtlCol="0" anchor="t">
            <a:normAutofit/>
          </a:bodyPr>
          <a:lstStyle/>
          <a:p>
            <a:pPr algn="l" indent="0" marL="0">
              <a:lnSpc>
                <a:spcPts val="3360"/>
              </a:lnSpc>
              <a:buNone/>
            </a:pPr>
            <a:r>
              <a:rPr lang="en-US" sz="3200" b="1" dirty="0">
                <a:solidFill>
                  <a:srgbClr val="FFB020"/>
                </a:solidFill>
                <a:latin typeface="Space Grotesk" pitchFamily="34" charset="0"/>
                <a:ea typeface="Space Grotesk" pitchFamily="34" charset="-122"/>
                <a:cs typeface="Space Grotesk" pitchFamily="34" charset="-120"/>
              </a:rPr>
              <a:t>%79,9</a:t>
            </a:r>
            <a:endParaRPr lang="en-US" sz="3200" dirty="0"/>
          </a:p>
        </p:txBody>
      </p:sp>
      <p:sp>
        <p:nvSpPr>
          <p:cNvPr id="18" name="Text 14"/>
          <p:cNvSpPr/>
          <p:nvPr/>
        </p:nvSpPr>
        <p:spPr>
          <a:xfrm>
            <a:off x="7620000" y="4828542"/>
            <a:ext cx="3558032"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4C2"/>
                </a:solidFill>
                <a:latin typeface="IBM Plex Sans" pitchFamily="34" charset="0"/>
                <a:ea typeface="IBM Plex Sans" pitchFamily="34" charset="-122"/>
                <a:cs typeface="IBM Plex Sans" pitchFamily="34" charset="-120"/>
              </a:rPr>
              <a:t>Renkli · model eğitilmedi; kareyi bölme ve kutu birleştirme ayarlarıyla</a:t>
            </a:r>
            <a:endParaRPr lang="en-US" sz="1200" dirty="0"/>
          </a:p>
        </p:txBody>
      </p:sp>
      <p:sp>
        <p:nvSpPr>
          <p:cNvPr id="19" name="Text 15"/>
          <p:cNvSpPr/>
          <p:nvPr/>
        </p:nvSpPr>
        <p:spPr>
          <a:xfrm>
            <a:off x="812800" y="6238242"/>
            <a:ext cx="71945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IBM Plex Sans" pitchFamily="34" charset="0"/>
                <a:ea typeface="IBM Plex Sans" pitchFamily="34" charset="-122"/>
                <a:cs typeface="IBM Plex Sans" pitchFamily="34" charset="-120"/>
              </a:rPr>
              <a:t>Gökyüzünden nesne bulmak · SKY LAB Akademi</a:t>
            </a:r>
            <a:endParaRPr lang="en-US" sz="1200" dirty="0"/>
          </a:p>
        </p:txBody>
      </p:sp>
      <p:sp>
        <p:nvSpPr>
          <p:cNvPr id="20" name="Text 16"/>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2"/>
                </a:solidFill>
                <a:latin typeface="IBM Plex Mono" pitchFamily="49" charset="0"/>
                <a:ea typeface="IBM Plex Mono" pitchFamily="49" charset="-122"/>
                <a:cs typeface="IBM Plex Mono" pitchFamily="49"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1118"/>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E8EDF2"/>
                </a:solidFill>
                <a:latin typeface="Space Grotesk" pitchFamily="34" charset="0"/>
                <a:ea typeface="Space Grotesk" pitchFamily="34" charset="-122"/>
                <a:cs typeface="Space Grotesk" pitchFamily="34" charset="-120"/>
              </a:rPr>
              <a:t>SAHI: dilimlere böl, her parçaya ayrı bak</a:t>
            </a:r>
            <a:endParaRPr lang="en-US" sz="3200" dirty="0"/>
          </a:p>
        </p:txBody>
      </p:sp>
      <p:sp>
        <p:nvSpPr>
          <p:cNvPr id="3" name="Text 1"/>
          <p:cNvSpPr/>
          <p:nvPr/>
        </p:nvSpPr>
        <p:spPr>
          <a:xfrm>
            <a:off x="812800" y="1564642"/>
            <a:ext cx="3401060"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8EDF2"/>
                </a:solidFill>
                <a:latin typeface="IBM Plex Sans" pitchFamily="34" charset="0"/>
                <a:ea typeface="IBM Plex Sans" pitchFamily="34" charset="-122"/>
                <a:cs typeface="IBM Plex Sans" pitchFamily="34" charset="-120"/>
              </a:rPr>
              <a:t>Model her görüntüyü 640 piksele küçültür. 4K karede 60 piksellik insan 10 piksele iner; model onu göremez.</a:t>
            </a:r>
            <a:endParaRPr lang="en-US" sz="1500" dirty="0"/>
          </a:p>
        </p:txBody>
      </p:sp>
      <p:sp>
        <p:nvSpPr>
          <p:cNvPr id="4" name="Text 2"/>
          <p:cNvSpPr/>
          <p:nvPr/>
        </p:nvSpPr>
        <p:spPr>
          <a:xfrm>
            <a:off x="812800" y="2542542"/>
            <a:ext cx="3401060" cy="8788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4C2"/>
                </a:solidFill>
                <a:latin typeface="IBM Plex Sans" pitchFamily="34" charset="0"/>
                <a:ea typeface="IBM Plex Sans" pitchFamily="34" charset="-122"/>
                <a:cs typeface="IBM Plex Sans" pitchFamily="34" charset="-120"/>
              </a:rPr>
              <a:t>SAHI kareyi üst üste binen dilimlere böler, her dilimi tam çözünürlükte tarar, kutuları NMS ile birleştirir. 2022'de Türk araştırmacılar Akyon, Altınuç ve Temizel yayımladı.</a:t>
            </a:r>
            <a:endParaRPr lang="en-US" sz="1200" dirty="0"/>
          </a:p>
        </p:txBody>
      </p:sp>
      <p:sp>
        <p:nvSpPr>
          <p:cNvPr id="5" name="Shape 3"/>
          <p:cNvSpPr/>
          <p:nvPr/>
        </p:nvSpPr>
        <p:spPr>
          <a:xfrm>
            <a:off x="812800" y="3573785"/>
            <a:ext cx="3302000" cy="1625600"/>
          </a:xfrm>
          <a:prstGeom prst="roundRect">
            <a:avLst>
              <a:gd name="adj" fmla="val 6250"/>
            </a:avLst>
          </a:prstGeom>
          <a:solidFill>
            <a:srgbClr val="121B26"/>
          </a:solidFill>
          <a:ln/>
        </p:spPr>
      </p:sp>
      <p:sp>
        <p:nvSpPr>
          <p:cNvPr id="6" name="Text 4"/>
          <p:cNvSpPr/>
          <p:nvPr/>
        </p:nvSpPr>
        <p:spPr>
          <a:xfrm>
            <a:off x="990600" y="3751585"/>
            <a:ext cx="3034792"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E8EDF2"/>
                </a:solidFill>
                <a:latin typeface="Space Grotesk" pitchFamily="34" charset="0"/>
                <a:ea typeface="Space Grotesk" pitchFamily="34" charset="-122"/>
                <a:cs typeface="Space Grotesk" pitchFamily="34" charset="-120"/>
              </a:rPr>
              <a:t>VEGA'da</a:t>
            </a:r>
            <a:endParaRPr lang="en-US" sz="1400" dirty="0"/>
          </a:p>
        </p:txBody>
      </p:sp>
      <p:sp>
        <p:nvSpPr>
          <p:cNvPr id="7" name="Text 5"/>
          <p:cNvSpPr/>
          <p:nvPr/>
        </p:nvSpPr>
        <p:spPr>
          <a:xfrm>
            <a:off x="990600" y="4015742"/>
            <a:ext cx="30347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8EDF2"/>
                </a:solidFill>
                <a:latin typeface="IBM Plex Sans" pitchFamily="34" charset="0"/>
                <a:ea typeface="IBM Plex Sans" pitchFamily="34" charset="-122"/>
                <a:cs typeface="IBM Plex Sans" pitchFamily="34" charset="-120"/>
              </a:rPr>
              <a:t>4K kare: 32 dilim ve tam kare</a:t>
            </a:r>
            <a:endParaRPr lang="en-US" sz="1200" dirty="0"/>
          </a:p>
        </p:txBody>
      </p:sp>
      <p:sp>
        <p:nvSpPr>
          <p:cNvPr id="8" name="Text 6"/>
          <p:cNvSpPr/>
          <p:nvPr/>
        </p:nvSpPr>
        <p:spPr>
          <a:xfrm>
            <a:off x="990600" y="4279900"/>
            <a:ext cx="30347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4C2"/>
                </a:solidFill>
                <a:latin typeface="IBM Plex Sans" pitchFamily="34" charset="0"/>
                <a:ea typeface="IBM Plex Sans" pitchFamily="34" charset="-122"/>
                <a:cs typeface="IBM Plex Sans" pitchFamily="34" charset="-120"/>
              </a:rPr>
              <a:t>AP50: %67,4 → %72,3</a:t>
            </a:r>
            <a:endParaRPr lang="en-US" sz="1200" dirty="0"/>
          </a:p>
        </p:txBody>
      </p:sp>
      <p:sp>
        <p:nvSpPr>
          <p:cNvPr id="9" name="Text 7"/>
          <p:cNvSpPr/>
          <p:nvPr/>
        </p:nvSpPr>
        <p:spPr>
          <a:xfrm>
            <a:off x="990600" y="4544058"/>
            <a:ext cx="30347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4C2"/>
                </a:solidFill>
                <a:latin typeface="IBM Plex Sans" pitchFamily="34" charset="0"/>
                <a:ea typeface="IBM Plex Sans" pitchFamily="34" charset="-122"/>
                <a:cs typeface="IBM Plex Sans" pitchFamily="34" charset="-120"/>
              </a:rPr>
              <a:t>Kare başına süre: 0,54 sn → 6,89 sn</a:t>
            </a:r>
            <a:endParaRPr lang="en-US" sz="1200" dirty="0"/>
          </a:p>
        </p:txBody>
      </p:sp>
      <p:sp>
        <p:nvSpPr>
          <p:cNvPr id="10" name="Text 8"/>
          <p:cNvSpPr/>
          <p:nvPr/>
        </p:nvSpPr>
        <p:spPr>
          <a:xfrm>
            <a:off x="990600" y="4808227"/>
            <a:ext cx="30347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4C2"/>
                </a:solidFill>
                <a:latin typeface="IBM Plex Sans" pitchFamily="34" charset="0"/>
                <a:ea typeface="IBM Plex Sans" pitchFamily="34" charset="-122"/>
                <a:cs typeface="IBM Plex Sans" pitchFamily="34" charset="-120"/>
              </a:rPr>
              <a:t>Hassasiyeti düşürüp 4'lü paketle: 4,16 sn</a:t>
            </a:r>
            <a:endParaRPr lang="en-US" sz="1200" dirty="0"/>
          </a:p>
        </p:txBody>
      </p:sp>
      <p:pic>
        <p:nvPicPr>
          <p:cNvPr id="11" name="Image 0" descr="Demo programının karşılaştırma ekranı: basketbol sahası karesinde tam kare taraması 3 insan, SAHI 21 insan buluyor; altta bir oyuncunun yakından görüntüsü">    </p:cNvPr>
          <p:cNvPicPr>
            <a:picLocks noChangeAspect="1"/>
          </p:cNvPicPr>
          <p:nvPr/>
        </p:nvPicPr>
        <p:blipFill>
          <a:blip r:embed="rId1"/>
          <a:srcRect l="0" r="0" t="0" b="0"/>
          <a:stretch/>
        </p:blipFill>
        <p:spPr>
          <a:xfrm>
            <a:off x="4470400" y="1564642"/>
            <a:ext cx="6908800" cy="3886200"/>
          </a:xfrm>
          <a:prstGeom prst="roundRect">
            <a:avLst>
              <a:gd name="adj" fmla="val 1961"/>
            </a:avLst>
          </a:prstGeom>
        </p:spPr>
      </p:pic>
      <p:sp>
        <p:nvSpPr>
          <p:cNvPr id="12" name="Text 9"/>
          <p:cNvSpPr/>
          <p:nvPr/>
        </p:nvSpPr>
        <p:spPr>
          <a:xfrm>
            <a:off x="812800" y="6238242"/>
            <a:ext cx="71945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D99A8"/>
                </a:solidFill>
                <a:latin typeface="IBM Plex Sans" pitchFamily="34" charset="0"/>
                <a:ea typeface="IBM Plex Sans" pitchFamily="34" charset="-122"/>
                <a:cs typeface="IBM Plex Sans" pitchFamily="34" charset="-120"/>
              </a:rPr>
              <a:t>Gökyüzünden nesne bulmak · SKY LAB Akademi</a:t>
            </a:r>
            <a:endParaRPr lang="en-US" sz="1200" dirty="0"/>
          </a:p>
        </p:txBody>
      </p:sp>
      <p:sp>
        <p:nvSpPr>
          <p:cNvPr id="13" name="Text 10"/>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D99A8"/>
                </a:solidFill>
                <a:latin typeface="IBM Plex Mono" pitchFamily="49" charset="0"/>
                <a:ea typeface="IBM Plex Mono" pitchFamily="49" charset="-122"/>
                <a:cs typeface="IBM Plex Mono" pitchFamily="49"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3F1E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111823"/>
                </a:solidFill>
                <a:latin typeface="Space Grotesk" pitchFamily="34" charset="0"/>
                <a:ea typeface="Space Grotesk" pitchFamily="34" charset="-122"/>
                <a:cs typeface="Space Grotesk" pitchFamily="34" charset="-120"/>
              </a:rPr>
              <a:t>Sınıf listesi yerine kelimeyle aramak</a:t>
            </a:r>
            <a:endParaRPr lang="en-US" sz="3200" dirty="0"/>
          </a:p>
        </p:txBody>
      </p:sp>
      <p:sp>
        <p:nvSpPr>
          <p:cNvPr id="3" name="Shape 1"/>
          <p:cNvSpPr/>
          <p:nvPr/>
        </p:nvSpPr>
        <p:spPr>
          <a:xfrm>
            <a:off x="815975" y="1567817"/>
            <a:ext cx="5149850" cy="2579370"/>
          </a:xfrm>
          <a:prstGeom prst="roundRect">
            <a:avLst>
              <a:gd name="adj" fmla="val 3816"/>
            </a:avLst>
          </a:prstGeom>
          <a:solidFill>
            <a:srgbClr val="FBFAF7"/>
          </a:solidFill>
          <a:ln w="6350">
            <a:solidFill>
              <a:srgbClr val="E2DED5"/>
            </a:solidFill>
            <a:prstDash val="solid"/>
          </a:ln>
        </p:spPr>
      </p:sp>
      <p:sp>
        <p:nvSpPr>
          <p:cNvPr id="4" name="Text 2"/>
          <p:cNvSpPr/>
          <p:nvPr/>
        </p:nvSpPr>
        <p:spPr>
          <a:xfrm>
            <a:off x="1071880" y="1823727"/>
            <a:ext cx="4777181" cy="22352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5B6472"/>
                </a:solidFill>
                <a:latin typeface="IBM Plex Sans" pitchFamily="34" charset="0"/>
                <a:ea typeface="IBM Plex Sans" pitchFamily="34" charset="-122"/>
                <a:cs typeface="IBM Plex Sans" pitchFamily="34" charset="-120"/>
              </a:rPr>
              <a:t>Klasik dedektör</a:t>
            </a:r>
            <a:endParaRPr lang="en-US" sz="1200" dirty="0"/>
          </a:p>
        </p:txBody>
      </p:sp>
      <p:sp>
        <p:nvSpPr>
          <p:cNvPr id="5" name="Text 3"/>
          <p:cNvSpPr/>
          <p:nvPr/>
        </p:nvSpPr>
        <p:spPr>
          <a:xfrm>
            <a:off x="1071880" y="2123442"/>
            <a:ext cx="4777181"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11823"/>
                </a:solidFill>
                <a:latin typeface="Space Grotesk" pitchFamily="34" charset="0"/>
                <a:ea typeface="Space Grotesk" pitchFamily="34" charset="-122"/>
                <a:cs typeface="Space Grotesk" pitchFamily="34" charset="-120"/>
              </a:rPr>
              <a:t>Sabit bir liste</a:t>
            </a:r>
            <a:endParaRPr lang="en-US" sz="2000" dirty="0"/>
          </a:p>
        </p:txBody>
      </p:sp>
      <p:sp>
        <p:nvSpPr>
          <p:cNvPr id="6" name="Text 4"/>
          <p:cNvSpPr/>
          <p:nvPr/>
        </p:nvSpPr>
        <p:spPr>
          <a:xfrm>
            <a:off x="1071880" y="2529842"/>
            <a:ext cx="4777181"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3"/>
                </a:solidFill>
                <a:latin typeface="IBM Plex Sans" pitchFamily="34" charset="0"/>
                <a:ea typeface="IBM Plex Sans" pitchFamily="34" charset="-122"/>
                <a:cs typeface="IBM Plex Sans" pitchFamily="34" charset="-120"/>
              </a:rPr>
              <a:t>Eğitildiği sınıfları bilir. COCO veri setiyle eğitilmiş bir YOLO 80 sınıf tanır. Listede biçerdöver yoksa onu bulamaz.</a:t>
            </a:r>
            <a:endParaRPr lang="en-US" sz="1500" dirty="0"/>
          </a:p>
        </p:txBody>
      </p:sp>
      <p:sp>
        <p:nvSpPr>
          <p:cNvPr id="7" name="Text 5"/>
          <p:cNvSpPr/>
          <p:nvPr/>
        </p:nvSpPr>
        <p:spPr>
          <a:xfrm>
            <a:off x="1071880" y="3431542"/>
            <a:ext cx="4638040" cy="416560"/>
          </a:xfrm>
          <a:prstGeom prst="roundRect">
            <a:avLst>
              <a:gd name="adj" fmla="val 15244"/>
            </a:avLst>
          </a:prstGeom>
          <a:solidFill>
            <a:srgbClr val="ECE8E0"/>
          </a:solidFill>
          <a:ln/>
        </p:spPr>
        <p:txBody>
          <a:bodyPr wrap="square" lIns="108401" tIns="83001" rIns="0" bIns="57601" rtlCol="0" anchor="t">
            <a:normAutofit/>
          </a:bodyPr>
          <a:lstStyle/>
          <a:p>
            <a:pPr algn="l" indent="0" marL="0">
              <a:lnSpc>
                <a:spcPts val="1680"/>
              </a:lnSpc>
              <a:buNone/>
            </a:pPr>
            <a:r>
              <a:rPr lang="en-US" sz="1200" dirty="0">
                <a:solidFill>
                  <a:srgbClr val="111823"/>
                </a:solidFill>
                <a:latin typeface="IBM Plex Mono" pitchFamily="49" charset="0"/>
                <a:ea typeface="IBM Plex Mono" pitchFamily="49" charset="-122"/>
                <a:cs typeface="IBM Plex Mono" pitchFamily="49" charset="-120"/>
              </a:rPr>
              <a:t>person, car, dog, bottle … (80 sınıf)</a:t>
            </a:r>
            <a:endParaRPr lang="en-US" sz="1200" dirty="0"/>
          </a:p>
        </p:txBody>
      </p:sp>
      <p:sp>
        <p:nvSpPr>
          <p:cNvPr id="8" name="Shape 6"/>
          <p:cNvSpPr/>
          <p:nvPr/>
        </p:nvSpPr>
        <p:spPr>
          <a:xfrm>
            <a:off x="6232525" y="1574167"/>
            <a:ext cx="5137150" cy="2566670"/>
          </a:xfrm>
          <a:prstGeom prst="roundRect">
            <a:avLst>
              <a:gd name="adj" fmla="val 3587"/>
            </a:avLst>
          </a:prstGeom>
          <a:solidFill>
            <a:srgbClr val="FBFAF7"/>
          </a:solidFill>
          <a:ln w="19050">
            <a:solidFill>
              <a:srgbClr val="FFB020"/>
            </a:solidFill>
            <a:prstDash val="solid"/>
          </a:ln>
        </p:spPr>
      </p:sp>
      <p:sp>
        <p:nvSpPr>
          <p:cNvPr id="9" name="Text 7"/>
          <p:cNvSpPr/>
          <p:nvPr/>
        </p:nvSpPr>
        <p:spPr>
          <a:xfrm>
            <a:off x="6479540" y="1821185"/>
            <a:ext cx="4782414" cy="22352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5B6472"/>
                </a:solidFill>
                <a:latin typeface="IBM Plex Sans" pitchFamily="34" charset="0"/>
                <a:ea typeface="IBM Plex Sans" pitchFamily="34" charset="-122"/>
                <a:cs typeface="IBM Plex Sans" pitchFamily="34" charset="-120"/>
              </a:rPr>
              <a:t>Açık sözlüklü</a:t>
            </a:r>
            <a:endParaRPr lang="en-US" sz="1200" dirty="0"/>
          </a:p>
        </p:txBody>
      </p:sp>
      <p:sp>
        <p:nvSpPr>
          <p:cNvPr id="10" name="Text 8"/>
          <p:cNvSpPr/>
          <p:nvPr/>
        </p:nvSpPr>
        <p:spPr>
          <a:xfrm>
            <a:off x="6479540" y="2120900"/>
            <a:ext cx="4782414"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11823"/>
                </a:solidFill>
                <a:latin typeface="Space Grotesk" pitchFamily="34" charset="0"/>
                <a:ea typeface="Space Grotesk" pitchFamily="34" charset="-122"/>
                <a:cs typeface="Space Grotesk" pitchFamily="34" charset="-120"/>
              </a:rPr>
              <a:t>Ne arayacağını yazarsın</a:t>
            </a:r>
            <a:endParaRPr lang="en-US" sz="2000" dirty="0"/>
          </a:p>
        </p:txBody>
      </p:sp>
      <p:sp>
        <p:nvSpPr>
          <p:cNvPr id="11" name="Text 9"/>
          <p:cNvSpPr/>
          <p:nvPr/>
        </p:nvSpPr>
        <p:spPr>
          <a:xfrm>
            <a:off x="6479540" y="2527300"/>
            <a:ext cx="4782414"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3"/>
                </a:solidFill>
                <a:latin typeface="IBM Plex Sans" pitchFamily="34" charset="0"/>
                <a:ea typeface="IBM Plex Sans" pitchFamily="34" charset="-122"/>
                <a:cs typeface="IBM Plex Sans" pitchFamily="34" charset="-120"/>
              </a:rPr>
              <a:t>Model metni ve görüntüyü birlikte okur. Grounding DINO ve YOLO-World bu türden.</a:t>
            </a:r>
            <a:endParaRPr lang="en-US" sz="1500" dirty="0"/>
          </a:p>
        </p:txBody>
      </p:sp>
      <p:sp>
        <p:nvSpPr>
          <p:cNvPr id="12" name="Text 10"/>
          <p:cNvSpPr/>
          <p:nvPr/>
        </p:nvSpPr>
        <p:spPr>
          <a:xfrm>
            <a:off x="6479540" y="3162300"/>
            <a:ext cx="4643120" cy="416560"/>
          </a:xfrm>
          <a:prstGeom prst="roundRect">
            <a:avLst>
              <a:gd name="adj" fmla="val 15244"/>
            </a:avLst>
          </a:prstGeom>
          <a:solidFill>
            <a:srgbClr val="F3E3C5"/>
          </a:solidFill>
          <a:ln/>
        </p:spPr>
        <p:txBody>
          <a:bodyPr wrap="square" lIns="108401" tIns="83001" rIns="0" bIns="57601" rtlCol="0" anchor="t">
            <a:normAutofit/>
          </a:bodyPr>
          <a:lstStyle/>
          <a:p>
            <a:pPr algn="l" indent="0" marL="0">
              <a:lnSpc>
                <a:spcPts val="1680"/>
              </a:lnSpc>
              <a:buNone/>
            </a:pPr>
            <a:r>
              <a:rPr lang="en-US" sz="1200" dirty="0">
                <a:solidFill>
                  <a:srgbClr val="111823"/>
                </a:solidFill>
                <a:latin typeface="IBM Plex Mono" pitchFamily="49" charset="0"/>
                <a:ea typeface="IBM Plex Mono" pitchFamily="49" charset="-122"/>
                <a:cs typeface="IBM Plex Mono" pitchFamily="49" charset="-120"/>
              </a:rPr>
              <a:t>"person . vehicle ."</a:t>
            </a:r>
            <a:endParaRPr lang="en-US" sz="1200" dirty="0"/>
          </a:p>
        </p:txBody>
      </p:sp>
      <p:sp>
        <p:nvSpPr>
          <p:cNvPr id="13" name="Text 11"/>
          <p:cNvSpPr/>
          <p:nvPr/>
        </p:nvSpPr>
        <p:spPr>
          <a:xfrm>
            <a:off x="6479540" y="3680458"/>
            <a:ext cx="478241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VEGA'da Grounding DINO'ya verdiğimiz istem</a:t>
            </a:r>
            <a:endParaRPr lang="en-US" sz="1200" dirty="0"/>
          </a:p>
        </p:txBody>
      </p:sp>
      <p:sp>
        <p:nvSpPr>
          <p:cNvPr id="14" name="Text 12"/>
          <p:cNvSpPr/>
          <p:nvPr/>
        </p:nvSpPr>
        <p:spPr>
          <a:xfrm>
            <a:off x="812800" y="4455158"/>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11823"/>
                </a:solidFill>
                <a:latin typeface="IBM Plex Sans" pitchFamily="34" charset="0"/>
                <a:ea typeface="IBM Plex Sans" pitchFamily="34" charset="-122"/>
                <a:cs typeface="IBM Plex Sans" pitchFamily="34" charset="-120"/>
              </a:rPr>
              <a:t>Canlı demoda aynı fikri, dizüstü bilgisayarda gerçek zamanlı çalışan YOLO-World ile göreceğiz.</a:t>
            </a:r>
            <a:endParaRPr lang="en-US" sz="1500" dirty="0"/>
          </a:p>
        </p:txBody>
      </p:sp>
      <p:sp>
        <p:nvSpPr>
          <p:cNvPr id="15" name="Text 13"/>
          <p:cNvSpPr/>
          <p:nvPr/>
        </p:nvSpPr>
        <p:spPr>
          <a:xfrm>
            <a:off x="812800" y="6238242"/>
            <a:ext cx="71945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IBM Plex Sans" pitchFamily="34" charset="0"/>
                <a:ea typeface="IBM Plex Sans" pitchFamily="34" charset="-122"/>
                <a:cs typeface="IBM Plex Sans" pitchFamily="34" charset="-120"/>
              </a:rPr>
              <a:t>Gökyüzünden nesne bulmak · SKY LAB Akademi</a:t>
            </a:r>
            <a:endParaRPr lang="en-US" sz="1200" dirty="0"/>
          </a:p>
        </p:txBody>
      </p:sp>
      <p:sp>
        <p:nvSpPr>
          <p:cNvPr id="16" name="Text 14"/>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2"/>
                </a:solidFill>
                <a:latin typeface="IBM Plex Mono" pitchFamily="49" charset="0"/>
                <a:ea typeface="IBM Plex Mono" pitchFamily="49" charset="-122"/>
                <a:cs typeface="IBM Plex Mono" pitchFamily="49" charset="-120"/>
              </a:rPr>
              <a:t>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B020"/>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9156700" cy="1372553"/>
          </a:xfrm>
          <a:prstGeom prst="rect">
            <a:avLst/>
          </a:prstGeom>
          <a:noFill/>
          <a:ln/>
        </p:spPr>
        <p:txBody>
          <a:bodyPr wrap="square" lIns="0" tIns="0" rIns="0" bIns="0" rtlCol="0" anchor="t">
            <a:normAutofit/>
          </a:bodyPr>
          <a:lstStyle/>
          <a:p>
            <a:pPr algn="l" indent="0" marL="0">
              <a:lnSpc>
                <a:spcPts val="5304"/>
              </a:lnSpc>
              <a:buNone/>
            </a:pPr>
            <a:r>
              <a:rPr lang="en-US" sz="5200" b="1" i="0" spc="-100" kern="0" dirty="0">
                <a:solidFill>
                  <a:srgbClr val="0B1118"/>
                </a:solidFill>
                <a:latin typeface="Space Grotesk" pitchFamily="34" charset="0"/>
                <a:ea typeface="Space Grotesk" pitchFamily="34" charset="-122"/>
                <a:cs typeface="Space Grotesk" pitchFamily="34" charset="-120"/>
              </a:rPr>
              <a:t>Sıra sizde: bir nesne söyleyin.</a:t>
            </a:r>
            <a:endParaRPr lang="en-US" sz="5200" dirty="0"/>
          </a:p>
        </p:txBody>
      </p:sp>
      <p:sp>
        <p:nvSpPr>
          <p:cNvPr id="3" name="Shape 1"/>
          <p:cNvSpPr/>
          <p:nvPr/>
        </p:nvSpPr>
        <p:spPr>
          <a:xfrm>
            <a:off x="812800" y="5048250"/>
            <a:ext cx="3352800" cy="0"/>
          </a:xfrm>
          <a:prstGeom prst="line">
            <a:avLst/>
          </a:prstGeom>
          <a:noFill/>
          <a:ln w="25400">
            <a:solidFill>
              <a:srgbClr val="0B1118"/>
            </a:solidFill>
            <a:prstDash val="solid"/>
          </a:ln>
        </p:spPr>
      </p:sp>
      <p:sp>
        <p:nvSpPr>
          <p:cNvPr id="4" name="Text 2"/>
          <p:cNvSpPr/>
          <p:nvPr/>
        </p:nvSpPr>
        <p:spPr>
          <a:xfrm>
            <a:off x="812800" y="5213350"/>
            <a:ext cx="3453384"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B1118"/>
                </a:solidFill>
                <a:latin typeface="IBM Plex Mono" pitchFamily="49" charset="0"/>
                <a:ea typeface="IBM Plex Mono" pitchFamily="49" charset="-122"/>
                <a:cs typeface="IBM Plex Mono" pitchFamily="49" charset="-120"/>
              </a:rPr>
              <a:t>1</a:t>
            </a:r>
            <a:endParaRPr lang="en-US" sz="1500" dirty="0"/>
          </a:p>
        </p:txBody>
      </p:sp>
      <p:sp>
        <p:nvSpPr>
          <p:cNvPr id="5" name="Text 3"/>
          <p:cNvSpPr/>
          <p:nvPr/>
        </p:nvSpPr>
        <p:spPr>
          <a:xfrm>
            <a:off x="812800" y="5530850"/>
            <a:ext cx="3453384" cy="539750"/>
          </a:xfrm>
          <a:prstGeom prst="rect">
            <a:avLst/>
          </a:prstGeom>
          <a:noFill/>
          <a:ln/>
        </p:spPr>
        <p:txBody>
          <a:bodyPr wrap="square" lIns="0" tIns="0" rIns="0" bIns="0" rtlCol="0" anchor="t">
            <a:normAutofit/>
          </a:bodyPr>
          <a:lstStyle/>
          <a:p>
            <a:pPr algn="l" indent="0" marL="0">
              <a:lnSpc>
                <a:spcPts val="2025"/>
              </a:lnSpc>
              <a:buNone/>
            </a:pPr>
            <a:r>
              <a:rPr lang="en-US" sz="1500" b="1" dirty="0">
                <a:solidFill>
                  <a:srgbClr val="0B1118"/>
                </a:solidFill>
                <a:latin typeface="IBM Plex Sans" pitchFamily="34" charset="0"/>
                <a:ea typeface="IBM Plex Sans" pitchFamily="34" charset="-122"/>
                <a:cs typeface="IBM Plex Sans" pitchFamily="34" charset="-120"/>
              </a:rPr>
              <a:t>Kamerada söylediğiniz nesneleri arıyoruz</a:t>
            </a:r>
            <a:endParaRPr lang="en-US" sz="1500" dirty="0"/>
          </a:p>
        </p:txBody>
      </p:sp>
      <p:sp>
        <p:nvSpPr>
          <p:cNvPr id="6" name="Shape 4"/>
          <p:cNvSpPr/>
          <p:nvPr/>
        </p:nvSpPr>
        <p:spPr>
          <a:xfrm>
            <a:off x="4419600" y="5048250"/>
            <a:ext cx="3352800" cy="0"/>
          </a:xfrm>
          <a:prstGeom prst="line">
            <a:avLst/>
          </a:prstGeom>
          <a:noFill/>
          <a:ln w="25400">
            <a:solidFill>
              <a:srgbClr val="0B1118"/>
            </a:solidFill>
            <a:prstDash val="solid"/>
          </a:ln>
        </p:spPr>
      </p:sp>
      <p:sp>
        <p:nvSpPr>
          <p:cNvPr id="7" name="Text 5"/>
          <p:cNvSpPr/>
          <p:nvPr/>
        </p:nvSpPr>
        <p:spPr>
          <a:xfrm>
            <a:off x="4419600" y="5213350"/>
            <a:ext cx="3453384"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B1118"/>
                </a:solidFill>
                <a:latin typeface="IBM Plex Mono" pitchFamily="49" charset="0"/>
                <a:ea typeface="IBM Plex Mono" pitchFamily="49" charset="-122"/>
                <a:cs typeface="IBM Plex Mono" pitchFamily="49" charset="-120"/>
              </a:rPr>
              <a:t>2</a:t>
            </a:r>
            <a:endParaRPr lang="en-US" sz="1500" dirty="0"/>
          </a:p>
        </p:txBody>
      </p:sp>
      <p:sp>
        <p:nvSpPr>
          <p:cNvPr id="8" name="Text 6"/>
          <p:cNvSpPr/>
          <p:nvPr/>
        </p:nvSpPr>
        <p:spPr>
          <a:xfrm>
            <a:off x="4419600" y="5530850"/>
            <a:ext cx="3453384" cy="282575"/>
          </a:xfrm>
          <a:prstGeom prst="rect">
            <a:avLst/>
          </a:prstGeom>
          <a:noFill/>
          <a:ln/>
        </p:spPr>
        <p:txBody>
          <a:bodyPr wrap="square" lIns="0" tIns="0" rIns="0" bIns="0" rtlCol="0" anchor="t">
            <a:normAutofit/>
          </a:bodyPr>
          <a:lstStyle/>
          <a:p>
            <a:pPr algn="l" indent="0" marL="0">
              <a:lnSpc>
                <a:spcPts val="2025"/>
              </a:lnSpc>
              <a:buNone/>
            </a:pPr>
            <a:r>
              <a:rPr lang="en-US" sz="1500" b="1" dirty="0">
                <a:solidFill>
                  <a:srgbClr val="0B1118"/>
                </a:solidFill>
                <a:latin typeface="IBM Plex Sans" pitchFamily="34" charset="0"/>
                <a:ea typeface="IBM Plex Sans" pitchFamily="34" charset="-122"/>
                <a:cs typeface="IBM Plex Sans" pitchFamily="34" charset="-120"/>
              </a:rPr>
              <a:t>Güven eşiği ve NMS ile oynuyoruz</a:t>
            </a:r>
            <a:endParaRPr lang="en-US" sz="1500" dirty="0"/>
          </a:p>
        </p:txBody>
      </p:sp>
      <p:sp>
        <p:nvSpPr>
          <p:cNvPr id="9" name="Shape 7"/>
          <p:cNvSpPr/>
          <p:nvPr/>
        </p:nvSpPr>
        <p:spPr>
          <a:xfrm>
            <a:off x="8026400" y="5048250"/>
            <a:ext cx="3352800" cy="0"/>
          </a:xfrm>
          <a:prstGeom prst="line">
            <a:avLst/>
          </a:prstGeom>
          <a:noFill/>
          <a:ln w="25400">
            <a:solidFill>
              <a:srgbClr val="0B1118"/>
            </a:solidFill>
            <a:prstDash val="solid"/>
          </a:ln>
        </p:spPr>
      </p:sp>
      <p:sp>
        <p:nvSpPr>
          <p:cNvPr id="10" name="Text 8"/>
          <p:cNvSpPr/>
          <p:nvPr/>
        </p:nvSpPr>
        <p:spPr>
          <a:xfrm>
            <a:off x="8026400" y="5213350"/>
            <a:ext cx="3453384"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B1118"/>
                </a:solidFill>
                <a:latin typeface="IBM Plex Mono" pitchFamily="49" charset="0"/>
                <a:ea typeface="IBM Plex Mono" pitchFamily="49" charset="-122"/>
                <a:cs typeface="IBM Plex Mono" pitchFamily="49" charset="-120"/>
              </a:rPr>
              <a:t>3</a:t>
            </a:r>
            <a:endParaRPr lang="en-US" sz="1500" dirty="0"/>
          </a:p>
        </p:txBody>
      </p:sp>
      <p:sp>
        <p:nvSpPr>
          <p:cNvPr id="11" name="Text 9"/>
          <p:cNvSpPr/>
          <p:nvPr/>
        </p:nvSpPr>
        <p:spPr>
          <a:xfrm>
            <a:off x="8026400" y="5530850"/>
            <a:ext cx="3453384" cy="539750"/>
          </a:xfrm>
          <a:prstGeom prst="rect">
            <a:avLst/>
          </a:prstGeom>
          <a:noFill/>
          <a:ln/>
        </p:spPr>
        <p:txBody>
          <a:bodyPr wrap="square" lIns="0" tIns="0" rIns="0" bIns="0" rtlCol="0" anchor="t">
            <a:normAutofit/>
          </a:bodyPr>
          <a:lstStyle/>
          <a:p>
            <a:pPr algn="l" indent="0" marL="0">
              <a:lnSpc>
                <a:spcPts val="2025"/>
              </a:lnSpc>
              <a:buNone/>
            </a:pPr>
            <a:r>
              <a:rPr lang="en-US" sz="1500" b="1" dirty="0">
                <a:solidFill>
                  <a:srgbClr val="0B1118"/>
                </a:solidFill>
                <a:latin typeface="IBM Plex Sans" pitchFamily="34" charset="0"/>
                <a:ea typeface="IBM Plex Sans" pitchFamily="34" charset="-122"/>
                <a:cs typeface="IBM Plex Sans" pitchFamily="34" charset="-120"/>
              </a:rPr>
              <a:t>Drone videosunda SAHI'yi açıp kapatıyoruz</a:t>
            </a:r>
            <a:endParaRPr lang="en-US" sz="1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B1118"/>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E8EDF2"/>
                </a:solidFill>
                <a:latin typeface="Space Grotesk" pitchFamily="34" charset="0"/>
                <a:ea typeface="Space Grotesk" pitchFamily="34" charset="-122"/>
                <a:cs typeface="Space Grotesk" pitchFamily="34" charset="-120"/>
              </a:rPr>
              <a:t>TEKNOFEST'ten üç ders</a:t>
            </a:r>
            <a:endParaRPr lang="en-US" sz="3200" dirty="0"/>
          </a:p>
        </p:txBody>
      </p:sp>
      <p:sp>
        <p:nvSpPr>
          <p:cNvPr id="3" name="Shape 1"/>
          <p:cNvSpPr/>
          <p:nvPr/>
        </p:nvSpPr>
        <p:spPr>
          <a:xfrm>
            <a:off x="812800" y="1564642"/>
            <a:ext cx="3386614" cy="3187700"/>
          </a:xfrm>
          <a:prstGeom prst="roundRect">
            <a:avLst>
              <a:gd name="adj" fmla="val 3187"/>
            </a:avLst>
          </a:prstGeom>
          <a:solidFill>
            <a:srgbClr val="121B26"/>
          </a:solidFill>
          <a:ln/>
        </p:spPr>
      </p:sp>
      <p:sp>
        <p:nvSpPr>
          <p:cNvPr id="4" name="Text 2"/>
          <p:cNvSpPr/>
          <p:nvPr/>
        </p:nvSpPr>
        <p:spPr>
          <a:xfrm>
            <a:off x="1066800" y="1818642"/>
            <a:ext cx="296497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FB020"/>
                </a:solidFill>
                <a:latin typeface="IBM Plex Mono" pitchFamily="49" charset="0"/>
                <a:ea typeface="IBM Plex Mono" pitchFamily="49" charset="-122"/>
                <a:cs typeface="IBM Plex Mono" pitchFamily="49" charset="-120"/>
              </a:rPr>
              <a:t>01</a:t>
            </a:r>
            <a:endParaRPr lang="en-US" sz="1500" dirty="0"/>
          </a:p>
        </p:txBody>
      </p:sp>
      <p:sp>
        <p:nvSpPr>
          <p:cNvPr id="5" name="Text 3"/>
          <p:cNvSpPr/>
          <p:nvPr/>
        </p:nvSpPr>
        <p:spPr>
          <a:xfrm>
            <a:off x="1066800" y="2186942"/>
            <a:ext cx="2964972" cy="6350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E8EDF2"/>
                </a:solidFill>
                <a:latin typeface="Space Grotesk" pitchFamily="34" charset="0"/>
                <a:ea typeface="Space Grotesk" pitchFamily="34" charset="-122"/>
                <a:cs typeface="Space Grotesk" pitchFamily="34" charset="-120"/>
              </a:rPr>
              <a:t>Veri, modelden önce gelir</a:t>
            </a:r>
            <a:endParaRPr lang="en-US" sz="2000" dirty="0"/>
          </a:p>
        </p:txBody>
      </p:sp>
      <p:sp>
        <p:nvSpPr>
          <p:cNvPr id="6" name="Text 4"/>
          <p:cNvSpPr/>
          <p:nvPr/>
        </p:nvSpPr>
        <p:spPr>
          <a:xfrm>
            <a:off x="1066800" y="2898142"/>
            <a:ext cx="2964972" cy="10922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A9B4C2"/>
                </a:solidFill>
                <a:latin typeface="IBM Plex Sans" pitchFamily="34" charset="0"/>
                <a:ea typeface="IBM Plex Sans" pitchFamily="34" charset="-122"/>
                <a:cs typeface="IBM Plex Sans" pitchFamily="34" charset="-120"/>
              </a:rPr>
              <a:t>Termalde hazır model AP50 %15'teydi. Kendi verimizle yaptığımız ince ayar %50'ye çıkardı.</a:t>
            </a:r>
            <a:endParaRPr lang="en-US" sz="1500" dirty="0"/>
          </a:p>
        </p:txBody>
      </p:sp>
      <p:sp>
        <p:nvSpPr>
          <p:cNvPr id="7" name="Shape 5"/>
          <p:cNvSpPr/>
          <p:nvPr/>
        </p:nvSpPr>
        <p:spPr>
          <a:xfrm>
            <a:off x="4402614" y="1564642"/>
            <a:ext cx="3386693" cy="3187700"/>
          </a:xfrm>
          <a:prstGeom prst="roundRect">
            <a:avLst>
              <a:gd name="adj" fmla="val 3187"/>
            </a:avLst>
          </a:prstGeom>
          <a:solidFill>
            <a:srgbClr val="121B26"/>
          </a:solidFill>
          <a:ln/>
        </p:spPr>
      </p:sp>
      <p:sp>
        <p:nvSpPr>
          <p:cNvPr id="8" name="Text 6"/>
          <p:cNvSpPr/>
          <p:nvPr/>
        </p:nvSpPr>
        <p:spPr>
          <a:xfrm>
            <a:off x="4656614" y="1818642"/>
            <a:ext cx="2965054"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FB020"/>
                </a:solidFill>
                <a:latin typeface="IBM Plex Mono" pitchFamily="49" charset="0"/>
                <a:ea typeface="IBM Plex Mono" pitchFamily="49" charset="-122"/>
                <a:cs typeface="IBM Plex Mono" pitchFamily="49" charset="-120"/>
              </a:rPr>
              <a:t>02</a:t>
            </a:r>
            <a:endParaRPr lang="en-US" sz="1500" dirty="0"/>
          </a:p>
        </p:txBody>
      </p:sp>
      <p:sp>
        <p:nvSpPr>
          <p:cNvPr id="9" name="Text 7"/>
          <p:cNvSpPr/>
          <p:nvPr/>
        </p:nvSpPr>
        <p:spPr>
          <a:xfrm>
            <a:off x="4656614" y="2186942"/>
            <a:ext cx="2965054" cy="6350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E8EDF2"/>
                </a:solidFill>
                <a:latin typeface="Space Grotesk" pitchFamily="34" charset="0"/>
                <a:ea typeface="Space Grotesk" pitchFamily="34" charset="-122"/>
                <a:cs typeface="Space Grotesk" pitchFamily="34" charset="-120"/>
              </a:rPr>
              <a:t>Doğruluğun bir bedeli var</a:t>
            </a:r>
            <a:endParaRPr lang="en-US" sz="2000" dirty="0"/>
          </a:p>
        </p:txBody>
      </p:sp>
      <p:sp>
        <p:nvSpPr>
          <p:cNvPr id="10" name="Text 8"/>
          <p:cNvSpPr/>
          <p:nvPr/>
        </p:nvSpPr>
        <p:spPr>
          <a:xfrm>
            <a:off x="4656614" y="2898142"/>
            <a:ext cx="2965054"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A9B4C2"/>
                </a:solidFill>
                <a:latin typeface="IBM Plex Sans" pitchFamily="34" charset="0"/>
                <a:ea typeface="IBM Plex Sans" pitchFamily="34" charset="-122"/>
                <a:cs typeface="IBM Plex Sans" pitchFamily="34" charset="-120"/>
              </a:rPr>
              <a:t>Dilimleme küçük insanları buldu, AP50 yaklaşık 5 puan arttı. Kare başına süre ise kat kat uzadı.</a:t>
            </a:r>
            <a:endParaRPr lang="en-US" sz="1500" dirty="0"/>
          </a:p>
        </p:txBody>
      </p:sp>
      <p:sp>
        <p:nvSpPr>
          <p:cNvPr id="11" name="Shape 9"/>
          <p:cNvSpPr/>
          <p:nvPr/>
        </p:nvSpPr>
        <p:spPr>
          <a:xfrm>
            <a:off x="7992507" y="1564642"/>
            <a:ext cx="3386693" cy="3187700"/>
          </a:xfrm>
          <a:prstGeom prst="roundRect">
            <a:avLst>
              <a:gd name="adj" fmla="val 3187"/>
            </a:avLst>
          </a:prstGeom>
          <a:solidFill>
            <a:srgbClr val="121B26"/>
          </a:solidFill>
          <a:ln/>
        </p:spPr>
      </p:sp>
      <p:sp>
        <p:nvSpPr>
          <p:cNvPr id="12" name="Text 10"/>
          <p:cNvSpPr/>
          <p:nvPr/>
        </p:nvSpPr>
        <p:spPr>
          <a:xfrm>
            <a:off x="8246507" y="1818642"/>
            <a:ext cx="2965054"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FB020"/>
                </a:solidFill>
                <a:latin typeface="IBM Plex Mono" pitchFamily="49" charset="0"/>
                <a:ea typeface="IBM Plex Mono" pitchFamily="49" charset="-122"/>
                <a:cs typeface="IBM Plex Mono" pitchFamily="49" charset="-120"/>
              </a:rPr>
              <a:t>03</a:t>
            </a:r>
            <a:endParaRPr lang="en-US" sz="1500" dirty="0"/>
          </a:p>
        </p:txBody>
      </p:sp>
      <p:sp>
        <p:nvSpPr>
          <p:cNvPr id="13" name="Text 11"/>
          <p:cNvSpPr/>
          <p:nvPr/>
        </p:nvSpPr>
        <p:spPr>
          <a:xfrm>
            <a:off x="8246507" y="2186942"/>
            <a:ext cx="2965054" cy="6350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E8EDF2"/>
                </a:solidFill>
                <a:latin typeface="Space Grotesk" pitchFamily="34" charset="0"/>
                <a:ea typeface="Space Grotesk" pitchFamily="34" charset="-122"/>
                <a:cs typeface="Space Grotesk" pitchFamily="34" charset="-120"/>
              </a:rPr>
              <a:t>Doğrulamada iyi</a:t>
            </a:r>
            <a:endParaRPr lang="en-US" sz="2000" dirty="0"/>
          </a:p>
          <a:p>
            <a:pPr algn="l" indent="0" marL="0">
              <a:lnSpc>
                <a:spcPts val="2400"/>
              </a:lnSpc>
              <a:buNone/>
            </a:pPr>
            <a:r>
              <a:rPr lang="en-US" sz="2000" b="1" dirty="0">
                <a:solidFill>
                  <a:srgbClr val="E8EDF2"/>
                </a:solidFill>
                <a:latin typeface="Space Grotesk" pitchFamily="34" charset="0"/>
                <a:ea typeface="Space Grotesk" pitchFamily="34" charset="-122"/>
                <a:cs typeface="Space Grotesk" pitchFamily="34" charset="-120"/>
              </a:rPr>
              <a:t>görünmek yetmez</a:t>
            </a:r>
            <a:endParaRPr lang="en-US" sz="2000" dirty="0"/>
          </a:p>
        </p:txBody>
      </p:sp>
      <p:sp>
        <p:nvSpPr>
          <p:cNvPr id="14" name="Text 12"/>
          <p:cNvSpPr/>
          <p:nvPr/>
        </p:nvSpPr>
        <p:spPr>
          <a:xfrm>
            <a:off x="8246507" y="2898142"/>
            <a:ext cx="2965054" cy="16256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A9B4C2"/>
                </a:solidFill>
                <a:latin typeface="IBM Plex Sans" pitchFamily="34" charset="0"/>
                <a:ea typeface="IBM Plex Sans" pitchFamily="34" charset="-122"/>
                <a:cs typeface="IBM Plex Sans" pitchFamily="34" charset="-120"/>
              </a:rPr>
              <a:t>Yeni bir model doğrulamada insan AP50'yi %23,5'ten %26,5'e çıkardı. Eğitimde hiç görmediği başka bir uçuşun 2.240 karesinde ise geriledi. Eski modeli tuttuk.</a:t>
            </a:r>
            <a:endParaRPr lang="en-US" sz="1500" dirty="0"/>
          </a:p>
        </p:txBody>
      </p:sp>
      <p:sp>
        <p:nvSpPr>
          <p:cNvPr id="15" name="Text 13"/>
          <p:cNvSpPr/>
          <p:nvPr/>
        </p:nvSpPr>
        <p:spPr>
          <a:xfrm>
            <a:off x="812800" y="6238242"/>
            <a:ext cx="71945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D99A8"/>
                </a:solidFill>
                <a:latin typeface="IBM Plex Sans" pitchFamily="34" charset="0"/>
                <a:ea typeface="IBM Plex Sans" pitchFamily="34" charset="-122"/>
                <a:cs typeface="IBM Plex Sans" pitchFamily="34" charset="-120"/>
              </a:rPr>
              <a:t>Gökyüzünden nesne bulmak · SKY LAB Akademi</a:t>
            </a:r>
            <a:endParaRPr lang="en-US" sz="1200" dirty="0"/>
          </a:p>
        </p:txBody>
      </p:sp>
      <p:sp>
        <p:nvSpPr>
          <p:cNvPr id="16" name="Text 14"/>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D99A8"/>
                </a:solidFill>
                <a:latin typeface="IBM Plex Mono" pitchFamily="49" charset="0"/>
                <a:ea typeface="IBM Plex Mono" pitchFamily="49" charset="-122"/>
                <a:cs typeface="IBM Plex Mono" pitchFamily="49" charset="-120"/>
              </a:rPr>
              <a:t>19</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3F1EC"/>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spc="-50" kern="0" dirty="0">
                <a:solidFill>
                  <a:srgbClr val="111823"/>
                </a:solidFill>
                <a:latin typeface="Space Grotesk" pitchFamily="34" charset="0"/>
                <a:ea typeface="Space Grotesk" pitchFamily="34" charset="-122"/>
                <a:cs typeface="Space Grotesk" pitchFamily="34" charset="-120"/>
              </a:rPr>
              <a:t>İlk dedektörünü bu hafta çalıştırabilirsin</a:t>
            </a:r>
            <a:endParaRPr lang="en-US" sz="3200" dirty="0"/>
          </a:p>
        </p:txBody>
      </p:sp>
      <p:sp>
        <p:nvSpPr>
          <p:cNvPr id="3" name="Shape 1"/>
          <p:cNvSpPr/>
          <p:nvPr/>
        </p:nvSpPr>
        <p:spPr>
          <a:xfrm>
            <a:off x="815975" y="1567817"/>
            <a:ext cx="3380264" cy="2086610"/>
          </a:xfrm>
          <a:prstGeom prst="roundRect">
            <a:avLst>
              <a:gd name="adj" fmla="val 4717"/>
            </a:avLst>
          </a:prstGeom>
          <a:solidFill>
            <a:srgbClr val="FBFAF7"/>
          </a:solidFill>
          <a:ln w="6350">
            <a:solidFill>
              <a:srgbClr val="E2DED5"/>
            </a:solidFill>
            <a:prstDash val="solid"/>
          </a:ln>
        </p:spPr>
      </p:sp>
      <p:sp>
        <p:nvSpPr>
          <p:cNvPr id="4" name="Text 2"/>
          <p:cNvSpPr/>
          <p:nvPr/>
        </p:nvSpPr>
        <p:spPr>
          <a:xfrm>
            <a:off x="1071880" y="1823727"/>
            <a:ext cx="2954507"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9A5800"/>
                </a:solidFill>
                <a:latin typeface="IBM Plex Mono" pitchFamily="49" charset="0"/>
                <a:ea typeface="IBM Plex Mono" pitchFamily="49" charset="-122"/>
                <a:cs typeface="IBM Plex Mono" pitchFamily="49" charset="-120"/>
              </a:rPr>
              <a:t>1</a:t>
            </a:r>
            <a:endParaRPr lang="en-US" sz="1500" dirty="0"/>
          </a:p>
        </p:txBody>
      </p:sp>
      <p:sp>
        <p:nvSpPr>
          <p:cNvPr id="5" name="Text 3"/>
          <p:cNvSpPr/>
          <p:nvPr/>
        </p:nvSpPr>
        <p:spPr>
          <a:xfrm>
            <a:off x="1071880" y="2192027"/>
            <a:ext cx="295450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11823"/>
                </a:solidFill>
                <a:latin typeface="Space Grotesk" pitchFamily="34" charset="0"/>
                <a:ea typeface="Space Grotesk" pitchFamily="34" charset="-122"/>
                <a:cs typeface="Space Grotesk" pitchFamily="34" charset="-120"/>
              </a:rPr>
              <a:t>Hazır modeli dene</a:t>
            </a:r>
            <a:endParaRPr lang="en-US" sz="2000" dirty="0"/>
          </a:p>
        </p:txBody>
      </p:sp>
      <p:sp>
        <p:nvSpPr>
          <p:cNvPr id="6" name="Text 4"/>
          <p:cNvSpPr/>
          <p:nvPr/>
        </p:nvSpPr>
        <p:spPr>
          <a:xfrm>
            <a:off x="1071880" y="2598427"/>
            <a:ext cx="2954507"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3"/>
                </a:solidFill>
                <a:latin typeface="IBM Plex Sans" pitchFamily="34" charset="0"/>
                <a:ea typeface="IBM Plex Sans" pitchFamily="34" charset="-122"/>
                <a:cs typeface="IBM Plex Sans" pitchFamily="34" charset="-120"/>
              </a:rPr>
              <a:t>Google Colab'da Ultralytics YOLO ile birkaç satırda kendi fotoğrafında tespit yap.</a:t>
            </a:r>
            <a:endParaRPr lang="en-US" sz="1500" dirty="0"/>
          </a:p>
        </p:txBody>
      </p:sp>
      <p:sp>
        <p:nvSpPr>
          <p:cNvPr id="7" name="Shape 5"/>
          <p:cNvSpPr/>
          <p:nvPr/>
        </p:nvSpPr>
        <p:spPr>
          <a:xfrm>
            <a:off x="4405789" y="1567817"/>
            <a:ext cx="3380343" cy="2086610"/>
          </a:xfrm>
          <a:prstGeom prst="roundRect">
            <a:avLst>
              <a:gd name="adj" fmla="val 4717"/>
            </a:avLst>
          </a:prstGeom>
          <a:solidFill>
            <a:srgbClr val="FBFAF7"/>
          </a:solidFill>
          <a:ln w="6350">
            <a:solidFill>
              <a:srgbClr val="E2DED5"/>
            </a:solidFill>
            <a:prstDash val="solid"/>
          </a:ln>
        </p:spPr>
      </p:sp>
      <p:sp>
        <p:nvSpPr>
          <p:cNvPr id="8" name="Text 6"/>
          <p:cNvSpPr/>
          <p:nvPr/>
        </p:nvSpPr>
        <p:spPr>
          <a:xfrm>
            <a:off x="4661694" y="1823727"/>
            <a:ext cx="2954589"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9A5800"/>
                </a:solidFill>
                <a:latin typeface="IBM Plex Mono" pitchFamily="49" charset="0"/>
                <a:ea typeface="IBM Plex Mono" pitchFamily="49" charset="-122"/>
                <a:cs typeface="IBM Plex Mono" pitchFamily="49" charset="-120"/>
              </a:rPr>
              <a:t>2</a:t>
            </a:r>
            <a:endParaRPr lang="en-US" sz="1500" dirty="0"/>
          </a:p>
        </p:txBody>
      </p:sp>
      <p:sp>
        <p:nvSpPr>
          <p:cNvPr id="9" name="Text 7"/>
          <p:cNvSpPr/>
          <p:nvPr/>
        </p:nvSpPr>
        <p:spPr>
          <a:xfrm>
            <a:off x="4661694" y="2192027"/>
            <a:ext cx="2954589"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11823"/>
                </a:solidFill>
                <a:latin typeface="Space Grotesk" pitchFamily="34" charset="0"/>
                <a:ea typeface="Space Grotesk" pitchFamily="34" charset="-122"/>
                <a:cs typeface="Space Grotesk" pitchFamily="34" charset="-120"/>
              </a:rPr>
              <a:t>Hazır veriyle ince ayar</a:t>
            </a:r>
            <a:endParaRPr lang="en-US" sz="2000" dirty="0"/>
          </a:p>
        </p:txBody>
      </p:sp>
      <p:sp>
        <p:nvSpPr>
          <p:cNvPr id="10" name="Text 8"/>
          <p:cNvSpPr/>
          <p:nvPr/>
        </p:nvSpPr>
        <p:spPr>
          <a:xfrm>
            <a:off x="4661694" y="2598427"/>
            <a:ext cx="2954589"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3"/>
                </a:solidFill>
                <a:latin typeface="IBM Plex Sans" pitchFamily="34" charset="0"/>
                <a:ea typeface="IBM Plex Sans" pitchFamily="34" charset="-122"/>
                <a:cs typeface="IBM Plex Sans" pitchFamily="34" charset="-120"/>
              </a:rPr>
              <a:t>Roboflow Universe'ten bir veri seti seç, modeli onunla eğit, AP50'ye bak.</a:t>
            </a:r>
            <a:endParaRPr lang="en-US" sz="1500" dirty="0"/>
          </a:p>
        </p:txBody>
      </p:sp>
      <p:sp>
        <p:nvSpPr>
          <p:cNvPr id="11" name="Shape 9"/>
          <p:cNvSpPr/>
          <p:nvPr/>
        </p:nvSpPr>
        <p:spPr>
          <a:xfrm>
            <a:off x="7995682" y="1567817"/>
            <a:ext cx="3380343" cy="2086610"/>
          </a:xfrm>
          <a:prstGeom prst="roundRect">
            <a:avLst>
              <a:gd name="adj" fmla="val 4717"/>
            </a:avLst>
          </a:prstGeom>
          <a:solidFill>
            <a:srgbClr val="FBFAF7"/>
          </a:solidFill>
          <a:ln w="6350">
            <a:solidFill>
              <a:srgbClr val="E2DED5"/>
            </a:solidFill>
            <a:prstDash val="solid"/>
          </a:ln>
        </p:spPr>
      </p:sp>
      <p:sp>
        <p:nvSpPr>
          <p:cNvPr id="12" name="Text 10"/>
          <p:cNvSpPr/>
          <p:nvPr/>
        </p:nvSpPr>
        <p:spPr>
          <a:xfrm>
            <a:off x="8251587" y="1823727"/>
            <a:ext cx="2954589"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9A5800"/>
                </a:solidFill>
                <a:latin typeface="IBM Plex Mono" pitchFamily="49" charset="0"/>
                <a:ea typeface="IBM Plex Mono" pitchFamily="49" charset="-122"/>
                <a:cs typeface="IBM Plex Mono" pitchFamily="49" charset="-120"/>
              </a:rPr>
              <a:t>3</a:t>
            </a:r>
            <a:endParaRPr lang="en-US" sz="1500" dirty="0"/>
          </a:p>
        </p:txBody>
      </p:sp>
      <p:sp>
        <p:nvSpPr>
          <p:cNvPr id="13" name="Text 11"/>
          <p:cNvSpPr/>
          <p:nvPr/>
        </p:nvSpPr>
        <p:spPr>
          <a:xfrm>
            <a:off x="8251587" y="2192027"/>
            <a:ext cx="2954589"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11823"/>
                </a:solidFill>
                <a:latin typeface="Space Grotesk" pitchFamily="34" charset="0"/>
                <a:ea typeface="Space Grotesk" pitchFamily="34" charset="-122"/>
                <a:cs typeface="Space Grotesk" pitchFamily="34" charset="-120"/>
              </a:rPr>
              <a:t>Kendi verini etiketle</a:t>
            </a:r>
            <a:endParaRPr lang="en-US" sz="2000" dirty="0"/>
          </a:p>
        </p:txBody>
      </p:sp>
      <p:sp>
        <p:nvSpPr>
          <p:cNvPr id="14" name="Text 12"/>
          <p:cNvSpPr/>
          <p:nvPr/>
        </p:nvSpPr>
        <p:spPr>
          <a:xfrm>
            <a:off x="8251587" y="2598427"/>
            <a:ext cx="2954589"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63"/>
                </a:solidFill>
                <a:latin typeface="IBM Plex Sans" pitchFamily="34" charset="0"/>
                <a:ea typeface="IBM Plex Sans" pitchFamily="34" charset="-122"/>
                <a:cs typeface="IBM Plex Sans" pitchFamily="34" charset="-120"/>
              </a:rPr>
              <a:t>Kampüsten küçük bir set topla, ör. bisikletler. CVAT ya da Roboflow ile kutularını çiz.</a:t>
            </a:r>
            <a:endParaRPr lang="en-US" sz="1500" dirty="0"/>
          </a:p>
        </p:txBody>
      </p:sp>
      <p:sp>
        <p:nvSpPr>
          <p:cNvPr id="15" name="Text 13"/>
          <p:cNvSpPr/>
          <p:nvPr/>
        </p:nvSpPr>
        <p:spPr>
          <a:xfrm>
            <a:off x="812800" y="4368800"/>
            <a:ext cx="5035296"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11823"/>
                </a:solidFill>
                <a:latin typeface="Space Grotesk" pitchFamily="34" charset="0"/>
                <a:ea typeface="Space Grotesk" pitchFamily="34" charset="-122"/>
                <a:cs typeface="Space Grotesk" pitchFamily="34" charset="-120"/>
              </a:rPr>
              <a:t>Teşekkürler · Sorular?</a:t>
            </a:r>
            <a:endParaRPr lang="en-US" sz="3200" dirty="0"/>
          </a:p>
        </p:txBody>
      </p:sp>
      <p:sp>
        <p:nvSpPr>
          <p:cNvPr id="16" name="Text 14"/>
          <p:cNvSpPr/>
          <p:nvPr/>
        </p:nvSpPr>
        <p:spPr>
          <a:xfrm>
            <a:off x="812800" y="4892042"/>
            <a:ext cx="432196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sayinibrahimenes@gmail.com</a:t>
            </a:r>
            <a:endParaRPr lang="en-US" sz="1200" dirty="0"/>
          </a:p>
        </p:txBody>
      </p:sp>
      <p:sp>
        <p:nvSpPr>
          <p:cNvPr id="17" name="Text 15"/>
          <p:cNvSpPr/>
          <p:nvPr/>
        </p:nvSpPr>
        <p:spPr>
          <a:xfrm>
            <a:off x="7598410" y="4653285"/>
            <a:ext cx="2485390" cy="23876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111823"/>
                </a:solidFill>
                <a:latin typeface="IBM Plex Sans" pitchFamily="34" charset="0"/>
                <a:ea typeface="IBM Plex Sans" pitchFamily="34" charset="-122"/>
                <a:cs typeface="IBM Plex Sans" pitchFamily="34" charset="-120"/>
              </a:rPr>
              <a:t>Demo kodu GitHub'da</a:t>
            </a:r>
            <a:endParaRPr lang="en-US" sz="1200" dirty="0"/>
          </a:p>
        </p:txBody>
      </p:sp>
      <p:sp>
        <p:nvSpPr>
          <p:cNvPr id="18" name="Text 16"/>
          <p:cNvSpPr/>
          <p:nvPr/>
        </p:nvSpPr>
        <p:spPr>
          <a:xfrm>
            <a:off x="7598410" y="4892042"/>
            <a:ext cx="248539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563"/>
                </a:solidFill>
                <a:latin typeface="IBM Plex Sans" pitchFamily="34" charset="0"/>
                <a:ea typeface="IBM Plex Sans" pitchFamily="34" charset="-122"/>
                <a:cs typeface="IBM Plex Sans" pitchFamily="34" charset="-120"/>
              </a:rPr>
              <a:t>github.com/sayinyazilimci</a:t>
            </a:r>
            <a:endParaRPr lang="en-US" sz="1200" dirty="0"/>
          </a:p>
        </p:txBody>
      </p:sp>
      <p:pic>
        <p:nvPicPr>
          <p:cNvPr id="19" name="Image 0" descr="GitHub profilime giden QR kod: github.com/sayinyazilimci">    </p:cNvPr>
          <p:cNvPicPr>
            <a:picLocks noChangeAspect="1"/>
          </p:cNvPicPr>
          <p:nvPr/>
        </p:nvPicPr>
        <p:blipFill>
          <a:blip r:embed="rId1"/>
          <a:srcRect l="0" r="0" t="0" b="0"/>
          <a:stretch/>
        </p:blipFill>
        <p:spPr>
          <a:xfrm>
            <a:off x="10236200" y="3962400"/>
            <a:ext cx="1143000" cy="1143000"/>
          </a:xfrm>
          <a:prstGeom prst="roundRect">
            <a:avLst>
              <a:gd name="adj" fmla="val 4444"/>
            </a:avLst>
          </a:prstGeom>
        </p:spPr>
      </p:pic>
      <p:sp>
        <p:nvSpPr>
          <p:cNvPr id="20" name="Text 17"/>
          <p:cNvSpPr/>
          <p:nvPr/>
        </p:nvSpPr>
        <p:spPr>
          <a:xfrm>
            <a:off x="812800" y="6238242"/>
            <a:ext cx="71945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IBM Plex Sans" pitchFamily="34" charset="0"/>
                <a:ea typeface="IBM Plex Sans" pitchFamily="34" charset="-122"/>
                <a:cs typeface="IBM Plex Sans" pitchFamily="34" charset="-120"/>
              </a:rPr>
              <a:t>Gökyüzünden nesne bulmak · SKY LAB Akademi</a:t>
            </a:r>
            <a:endParaRPr lang="en-US" sz="1200" dirty="0"/>
          </a:p>
        </p:txBody>
      </p:sp>
      <p:sp>
        <p:nvSpPr>
          <p:cNvPr id="21" name="Text 18"/>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2"/>
                </a:solidFill>
                <a:latin typeface="IBM Plex Mono" pitchFamily="49" charset="0"/>
                <a:ea typeface="IBM Plex Mono" pitchFamily="49" charset="-122"/>
                <a:cs typeface="IBM Plex Mono" pitchFamily="49" charset="-120"/>
              </a:rPr>
              <a:t>20</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B1118"/>
        </a:solidFill>
      </p:bgPr>
    </p:bg>
    <p:spTree>
      <p:nvGrpSpPr>
        <p:cNvPr id="1" name=""/>
        <p:cNvGrpSpPr/>
        <p:nvPr/>
      </p:nvGrpSpPr>
      <p:grpSpPr>
        <a:xfrm>
          <a:off x="0" y="0"/>
          <a:ext cx="0" cy="0"/>
          <a:chOff x="0" y="0"/>
          <a:chExt cx="0" cy="0"/>
        </a:xfrm>
      </p:grpSpPr>
      <p:sp>
        <p:nvSpPr>
          <p:cNvPr id="2" name="Text 0"/>
          <p:cNvSpPr/>
          <p:nvPr/>
        </p:nvSpPr>
        <p:spPr>
          <a:xfrm>
            <a:off x="812800" y="1944774"/>
            <a:ext cx="5807964" cy="223520"/>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A9B4C2"/>
                </a:solidFill>
                <a:latin typeface="IBM Plex Sans" pitchFamily="34" charset="0"/>
                <a:ea typeface="IBM Plex Sans" pitchFamily="34" charset="-122"/>
                <a:cs typeface="IBM Plex Sans" pitchFamily="34" charset="-120"/>
              </a:rPr>
              <a:t>SKY LAB AirLab · 2026 ekip üye alımı</a:t>
            </a:r>
            <a:endParaRPr lang="en-US" sz="1200" dirty="0"/>
          </a:p>
        </p:txBody>
      </p:sp>
      <p:sp>
        <p:nvSpPr>
          <p:cNvPr id="3" name="Text 1"/>
          <p:cNvSpPr/>
          <p:nvPr>
            <p:ph type="title"/>
          </p:nvPr>
        </p:nvSpPr>
        <p:spPr>
          <a:xfrm>
            <a:off x="812800" y="2346089"/>
            <a:ext cx="5807964" cy="698976"/>
          </a:xfrm>
          <a:prstGeom prst="rect">
            <a:avLst/>
          </a:prstGeom>
          <a:noFill/>
          <a:ln/>
        </p:spPr>
        <p:txBody>
          <a:bodyPr wrap="square" lIns="0" tIns="0" rIns="0" bIns="0" rtlCol="0" anchor="t">
            <a:normAutofit/>
          </a:bodyPr>
          <a:lstStyle/>
          <a:p>
            <a:pPr algn="l" indent="0" marL="0">
              <a:lnSpc>
                <a:spcPts val="5304"/>
              </a:lnSpc>
              <a:buNone/>
            </a:pPr>
            <a:r>
              <a:rPr lang="en-US" sz="5200" b="1" i="0" spc="-100" kern="0" dirty="0">
                <a:solidFill>
                  <a:srgbClr val="E8EDF2"/>
                </a:solidFill>
                <a:latin typeface="Space Grotesk" pitchFamily="34" charset="0"/>
                <a:ea typeface="Space Grotesk" pitchFamily="34" charset="-122"/>
                <a:cs typeface="Space Grotesk" pitchFamily="34" charset="-120"/>
              </a:rPr>
              <a:t>AirLab'e katıl</a:t>
            </a:r>
            <a:endParaRPr lang="en-US" sz="5200" dirty="0"/>
          </a:p>
        </p:txBody>
      </p:sp>
      <p:sp>
        <p:nvSpPr>
          <p:cNvPr id="4" name="Text 2"/>
          <p:cNvSpPr/>
          <p:nvPr/>
        </p:nvSpPr>
        <p:spPr>
          <a:xfrm>
            <a:off x="812800" y="3222861"/>
            <a:ext cx="5807964" cy="57785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A9B4C2"/>
                </a:solidFill>
                <a:latin typeface="IBM Plex Sans" pitchFamily="34" charset="0"/>
                <a:ea typeface="IBM Plex Sans" pitchFamily="34" charset="-122"/>
                <a:cs typeface="IBM Plex Sans" pitchFamily="34" charset="-120"/>
              </a:rPr>
              <a:t>Bugün gördüğün projeler, VEGA da DefBoss da, takım işi. Yeni başlayanlara da yer var.</a:t>
            </a:r>
            <a:endParaRPr lang="en-US" sz="1500" dirty="0"/>
          </a:p>
        </p:txBody>
      </p:sp>
      <p:sp>
        <p:nvSpPr>
          <p:cNvPr id="5" name="Text 3"/>
          <p:cNvSpPr/>
          <p:nvPr/>
        </p:nvSpPr>
        <p:spPr>
          <a:xfrm>
            <a:off x="812800" y="3978511"/>
            <a:ext cx="5807964"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FB020"/>
                </a:solidFill>
                <a:latin typeface="IBM Plex Sans" pitchFamily="34" charset="0"/>
                <a:ea typeface="IBM Plex Sans" pitchFamily="34" charset="-122"/>
                <a:cs typeface="IBM Plex Sans" pitchFamily="34" charset="-120"/>
              </a:rPr>
              <a:t>Başvuru formu için QR'ı okut</a:t>
            </a:r>
            <a:endParaRPr lang="en-US" sz="1500" dirty="0"/>
          </a:p>
        </p:txBody>
      </p:sp>
      <p:sp>
        <p:nvSpPr>
          <p:cNvPr id="6" name="Text 4"/>
          <p:cNvSpPr/>
          <p:nvPr/>
        </p:nvSpPr>
        <p:spPr>
          <a:xfrm>
            <a:off x="812800" y="4448411"/>
            <a:ext cx="580796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D99A8"/>
                </a:solidFill>
                <a:latin typeface="IBM Plex Sans" pitchFamily="34" charset="0"/>
                <a:ea typeface="IBM Plex Sans" pitchFamily="34" charset="-122"/>
                <a:cs typeface="IBM Plex Sans" pitchFamily="34" charset="-120"/>
              </a:rPr>
              <a:t>skyl.app/airlab-ekip-uye-alim-formu-2026</a:t>
            </a:r>
            <a:endParaRPr lang="en-US" sz="1200" dirty="0"/>
          </a:p>
        </p:txBody>
      </p:sp>
      <p:sp>
        <p:nvSpPr>
          <p:cNvPr id="7" name="Text 5"/>
          <p:cNvSpPr/>
          <p:nvPr/>
        </p:nvSpPr>
        <p:spPr>
          <a:xfrm>
            <a:off x="812800" y="4699881"/>
            <a:ext cx="580796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D99A8"/>
                </a:solidFill>
                <a:latin typeface="IBM Plex Sans" pitchFamily="34" charset="0"/>
                <a:ea typeface="IBM Plex Sans" pitchFamily="34" charset="-122"/>
                <a:cs typeface="IBM Plex Sans" pitchFamily="34" charset="-120"/>
              </a:rPr>
              <a:t>Demo kodu: github.com/sayinyazilimci</a:t>
            </a:r>
            <a:endParaRPr lang="en-US" sz="1200" dirty="0"/>
          </a:p>
        </p:txBody>
      </p:sp>
      <p:pic>
        <p:nvPicPr>
          <p:cNvPr id="8" name="Image 0" descr="SKY LAB AirLab 2026 ekip üye alım formuna giden QR kod, ortasında AirLab logosu">    </p:cNvPr>
          <p:cNvPicPr>
            <a:picLocks noChangeAspect="1"/>
          </p:cNvPicPr>
          <p:nvPr/>
        </p:nvPicPr>
        <p:blipFill>
          <a:blip r:embed="rId1"/>
          <a:srcRect l="0" r="0" t="0" b="0"/>
          <a:stretch/>
        </p:blipFill>
        <p:spPr>
          <a:xfrm>
            <a:off x="7061200" y="1270000"/>
            <a:ext cx="4318000" cy="4318000"/>
          </a:xfrm>
          <a:prstGeom prst="roundRect">
            <a:avLst>
              <a:gd name="adj" fmla="val 3529"/>
            </a:avLst>
          </a:prstGeom>
        </p:spPr>
      </p:pic>
    </p:spTree>
  </p:cSld>
  <p:clrMapOvr>
    <a:masterClrMapping/>
  </p:clrMapOvr>
</p:sld>
</file>

<file path=ppt/theme/theme1.xml><?xml version="1.0" encoding="utf-8"?>
<a:theme xmlns:a="http://schemas.openxmlformats.org/drawingml/2006/main" name="Gökyüzünden Nesne Bulmak">
  <a:themeElements>
    <a:clrScheme name="Gökyüzünden Nesne Bulmak">
      <a:dk1>
        <a:srgbClr val="111823"/>
      </a:dk1>
      <a:lt1>
        <a:srgbClr val="F3F1EC"/>
      </a:lt1>
      <a:dk2>
        <a:srgbClr val="4A4E55"/>
      </a:dk2>
      <a:lt2>
        <a:srgbClr val="DCDBD8"/>
      </a:lt2>
      <a:accent1>
        <a:srgbClr val="9A5800"/>
      </a:accent1>
      <a:accent2>
        <a:srgbClr val="FFB020"/>
      </a:accent2>
      <a:accent3>
        <a:srgbClr val="F3E3C5"/>
      </a:accent3>
      <a:accent4>
        <a:srgbClr val="5B6472"/>
      </a:accent4>
      <a:accent5>
        <a:srgbClr val="4A5563"/>
      </a:accent5>
      <a:accent6>
        <a:srgbClr val="A9B4C2"/>
      </a:accent6>
      <a:hlink>
        <a:srgbClr val="0563C1"/>
      </a:hlink>
      <a:folHlink>
        <a:srgbClr val="954F72"/>
      </a:folHlink>
    </a:clrScheme>
    <a:fontScheme name="Gökyüzünden Nesne Bulmak">
      <a:majorFont>
        <a:latin typeface="Space Grotes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Gökyüzünden Nesne Bulmak</dc:title>
  <dc:subject/>
  <dc:creator/>
  <cp:lastModifiedBy/>
  <cp:revision>1</cp:revision>
  <dcterms:created xsi:type="dcterms:W3CDTF">2026-10-12T07:36:20Z</dcterms:created>
  <dcterms:modified xsi:type="dcterms:W3CDTF">2026-10-12T07:36:20Z</dcterms:modified>
</cp:coreProperties>
</file>